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handoutMasterIdLst>
    <p:handoutMasterId r:id="rId26"/>
  </p:handoutMasterIdLst>
  <p:sldIdLst>
    <p:sldId id="256" r:id="rId2"/>
    <p:sldId id="272" r:id="rId3"/>
    <p:sldId id="273" r:id="rId4"/>
    <p:sldId id="306" r:id="rId5"/>
    <p:sldId id="285" r:id="rId6"/>
    <p:sldId id="286" r:id="rId7"/>
    <p:sldId id="287" r:id="rId8"/>
    <p:sldId id="304" r:id="rId9"/>
    <p:sldId id="305" r:id="rId10"/>
    <p:sldId id="290" r:id="rId11"/>
    <p:sldId id="296" r:id="rId12"/>
    <p:sldId id="293" r:id="rId13"/>
    <p:sldId id="294" r:id="rId14"/>
    <p:sldId id="257" r:id="rId15"/>
    <p:sldId id="292" r:id="rId16"/>
    <p:sldId id="295" r:id="rId17"/>
    <p:sldId id="298" r:id="rId18"/>
    <p:sldId id="301" r:id="rId19"/>
    <p:sldId id="309" r:id="rId20"/>
    <p:sldId id="299" r:id="rId21"/>
    <p:sldId id="289" r:id="rId22"/>
    <p:sldId id="297" r:id="rId23"/>
    <p:sldId id="307" r:id="rId24"/>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1E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570" autoAdjust="0"/>
    <p:restoredTop sz="66828" autoAdjust="0"/>
  </p:normalViewPr>
  <p:slideViewPr>
    <p:cSldViewPr>
      <p:cViewPr varScale="1">
        <p:scale>
          <a:sx n="74" d="100"/>
          <a:sy n="74" d="100"/>
        </p:scale>
        <p:origin x="2322" y="60"/>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6412"/>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50444" y="0"/>
            <a:ext cx="2945659" cy="496412"/>
          </a:xfrm>
          <a:prstGeom prst="rect">
            <a:avLst/>
          </a:prstGeom>
        </p:spPr>
        <p:txBody>
          <a:bodyPr vert="horz" lIns="91440" tIns="45720" rIns="91440" bIns="45720" rtlCol="0"/>
          <a:lstStyle>
            <a:lvl1pPr algn="r">
              <a:defRPr sz="1200"/>
            </a:lvl1pPr>
          </a:lstStyle>
          <a:p>
            <a:r>
              <a:rPr lang="en-US"/>
              <a:t>Annex III</a:t>
            </a:r>
            <a:endParaRPr lang="en-US" dirty="0"/>
          </a:p>
        </p:txBody>
      </p:sp>
      <p:sp>
        <p:nvSpPr>
          <p:cNvPr id="4" name="Footer Placeholder 3"/>
          <p:cNvSpPr>
            <a:spLocks noGrp="1"/>
          </p:cNvSpPr>
          <p:nvPr>
            <p:ph type="ftr" sz="quarter" idx="2"/>
          </p:nvPr>
        </p:nvSpPr>
        <p:spPr>
          <a:xfrm>
            <a:off x="1" y="9430091"/>
            <a:ext cx="2945659" cy="496412"/>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4" y="9430091"/>
            <a:ext cx="2945659" cy="496412"/>
          </a:xfrm>
          <a:prstGeom prst="rect">
            <a:avLst/>
          </a:prstGeom>
        </p:spPr>
        <p:txBody>
          <a:bodyPr vert="horz" lIns="91440" tIns="45720" rIns="91440" bIns="45720" rtlCol="0" anchor="b"/>
          <a:lstStyle>
            <a:lvl1pPr algn="r">
              <a:defRPr sz="1200"/>
            </a:lvl1pPr>
          </a:lstStyle>
          <a:p>
            <a:fld id="{BF7917D7-5F16-409E-92A0-9CC023462B10}" type="slidenum">
              <a:rPr lang="en-US" smtClean="0"/>
              <a:t>‹#›</a:t>
            </a:fld>
            <a:endParaRPr lang="en-US" dirty="0"/>
          </a:p>
        </p:txBody>
      </p:sp>
    </p:spTree>
    <p:extLst>
      <p:ext uri="{BB962C8B-B14F-4D97-AF65-F5344CB8AC3E}">
        <p14:creationId xmlns:p14="http://schemas.microsoft.com/office/powerpoint/2010/main" val="3267184293"/>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6412"/>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50444" y="0"/>
            <a:ext cx="2945659" cy="496412"/>
          </a:xfrm>
          <a:prstGeom prst="rect">
            <a:avLst/>
          </a:prstGeom>
        </p:spPr>
        <p:txBody>
          <a:bodyPr vert="horz" lIns="91440" tIns="45720" rIns="91440" bIns="45720" rtlCol="0"/>
          <a:lstStyle>
            <a:lvl1pPr algn="r">
              <a:defRPr sz="1200"/>
            </a:lvl1pPr>
          </a:lstStyle>
          <a:p>
            <a:r>
              <a:rPr lang="en-US"/>
              <a:t>Annex III</a:t>
            </a:r>
            <a:endParaRPr lang="en-US" dirty="0"/>
          </a:p>
        </p:txBody>
      </p:sp>
      <p:sp>
        <p:nvSpPr>
          <p:cNvPr id="4" name="Slide Image Placeholder 3"/>
          <p:cNvSpPr>
            <a:spLocks noGrp="1" noRot="1" noChangeAspect="1"/>
          </p:cNvSpPr>
          <p:nvPr>
            <p:ph type="sldImg" idx="2"/>
          </p:nvPr>
        </p:nvSpPr>
        <p:spPr>
          <a:xfrm>
            <a:off x="919163" y="746125"/>
            <a:ext cx="4959350" cy="3721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768" y="4715908"/>
            <a:ext cx="5438140" cy="446770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430091"/>
            <a:ext cx="2945659" cy="496412"/>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0444" y="9430091"/>
            <a:ext cx="2945659" cy="496412"/>
          </a:xfrm>
          <a:prstGeom prst="rect">
            <a:avLst/>
          </a:prstGeom>
        </p:spPr>
        <p:txBody>
          <a:bodyPr vert="horz" lIns="91440" tIns="45720" rIns="91440" bIns="45720" rtlCol="0" anchor="b"/>
          <a:lstStyle>
            <a:lvl1pPr algn="r">
              <a:defRPr sz="1200"/>
            </a:lvl1pPr>
          </a:lstStyle>
          <a:p>
            <a:fld id="{68D0A7C4-819B-4A42-9B2E-0804DC468CF8}" type="slidenum">
              <a:rPr lang="en-US" smtClean="0"/>
              <a:t>‹#›</a:t>
            </a:fld>
            <a:endParaRPr lang="en-US" dirty="0"/>
          </a:p>
        </p:txBody>
      </p:sp>
    </p:spTree>
    <p:extLst>
      <p:ext uri="{BB962C8B-B14F-4D97-AF65-F5344CB8AC3E}">
        <p14:creationId xmlns:p14="http://schemas.microsoft.com/office/powerpoint/2010/main" val="3815103894"/>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D0A7C4-819B-4A42-9B2E-0804DC468CF8}" type="slidenum">
              <a:rPr lang="en-US" smtClean="0"/>
              <a:t>1</a:t>
            </a:fld>
            <a:endParaRPr lang="en-US" dirty="0"/>
          </a:p>
        </p:txBody>
      </p:sp>
      <p:sp>
        <p:nvSpPr>
          <p:cNvPr id="6" name="Date Placeholder 5"/>
          <p:cNvSpPr>
            <a:spLocks noGrp="1"/>
          </p:cNvSpPr>
          <p:nvPr>
            <p:ph type="dt" idx="12"/>
          </p:nvPr>
        </p:nvSpPr>
        <p:spPr/>
        <p:txBody>
          <a:bodyPr/>
          <a:lstStyle/>
          <a:p>
            <a:r>
              <a:rPr lang="en-US"/>
              <a:t>Annex III</a:t>
            </a:r>
            <a:endParaRPr lang="en-US" dirty="0"/>
          </a:p>
        </p:txBody>
      </p:sp>
    </p:spTree>
    <p:extLst>
      <p:ext uri="{BB962C8B-B14F-4D97-AF65-F5344CB8AC3E}">
        <p14:creationId xmlns:p14="http://schemas.microsoft.com/office/powerpoint/2010/main" val="139881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b="1" dirty="0"/>
          </a:p>
        </p:txBody>
      </p:sp>
      <p:sp>
        <p:nvSpPr>
          <p:cNvPr id="4" name="Slide Number Placeholder 3"/>
          <p:cNvSpPr>
            <a:spLocks noGrp="1"/>
          </p:cNvSpPr>
          <p:nvPr>
            <p:ph type="sldNum" sz="quarter" idx="5"/>
          </p:nvPr>
        </p:nvSpPr>
        <p:spPr/>
        <p:txBody>
          <a:bodyPr/>
          <a:lstStyle/>
          <a:p>
            <a:fld id="{4A27CA90-03CD-45A6-B9D5-CD13E5706E38}" type="slidenum">
              <a:rPr lang="en-HK" smtClean="0"/>
              <a:t>2</a:t>
            </a:fld>
            <a:endParaRPr lang="en-HK"/>
          </a:p>
        </p:txBody>
      </p:sp>
    </p:spTree>
    <p:extLst>
      <p:ext uri="{BB962C8B-B14F-4D97-AF65-F5344CB8AC3E}">
        <p14:creationId xmlns:p14="http://schemas.microsoft.com/office/powerpoint/2010/main" val="313223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4A27CA90-03CD-45A6-B9D5-CD13E5706E38}" type="slidenum">
              <a:rPr lang="en-HK" smtClean="0"/>
              <a:t>3</a:t>
            </a:fld>
            <a:endParaRPr lang="en-HK"/>
          </a:p>
        </p:txBody>
      </p:sp>
    </p:spTree>
    <p:extLst>
      <p:ext uri="{BB962C8B-B14F-4D97-AF65-F5344CB8AC3E}">
        <p14:creationId xmlns:p14="http://schemas.microsoft.com/office/powerpoint/2010/main" val="54719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Date Placeholder 3"/>
          <p:cNvSpPr>
            <a:spLocks noGrp="1"/>
          </p:cNvSpPr>
          <p:nvPr>
            <p:ph type="dt" idx="1"/>
          </p:nvPr>
        </p:nvSpPr>
        <p:spPr/>
        <p:txBody>
          <a:bodyPr/>
          <a:lstStyle/>
          <a:p>
            <a:r>
              <a:rPr lang="en-US"/>
              <a:t>Annex III</a:t>
            </a:r>
            <a:endParaRPr lang="en-US" dirty="0"/>
          </a:p>
        </p:txBody>
      </p:sp>
      <p:sp>
        <p:nvSpPr>
          <p:cNvPr id="5" name="Slide Number Placeholder 4"/>
          <p:cNvSpPr>
            <a:spLocks noGrp="1"/>
          </p:cNvSpPr>
          <p:nvPr>
            <p:ph type="sldNum" sz="quarter" idx="5"/>
          </p:nvPr>
        </p:nvSpPr>
        <p:spPr/>
        <p:txBody>
          <a:bodyPr/>
          <a:lstStyle/>
          <a:p>
            <a:fld id="{68D0A7C4-819B-4A42-9B2E-0804DC468CF8}" type="slidenum">
              <a:rPr lang="en-US" smtClean="0"/>
              <a:t>4</a:t>
            </a:fld>
            <a:endParaRPr lang="en-US" dirty="0"/>
          </a:p>
        </p:txBody>
      </p:sp>
    </p:spTree>
    <p:extLst>
      <p:ext uri="{BB962C8B-B14F-4D97-AF65-F5344CB8AC3E}">
        <p14:creationId xmlns:p14="http://schemas.microsoft.com/office/powerpoint/2010/main" val="2927890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27CA90-03CD-45A6-B9D5-CD13E5706E38}" type="slidenum">
              <a:rPr lang="en-HK" smtClean="0"/>
              <a:t>5</a:t>
            </a:fld>
            <a:endParaRPr lang="en-HK"/>
          </a:p>
        </p:txBody>
      </p:sp>
    </p:spTree>
    <p:extLst>
      <p:ext uri="{BB962C8B-B14F-4D97-AF65-F5344CB8AC3E}">
        <p14:creationId xmlns:p14="http://schemas.microsoft.com/office/powerpoint/2010/main" val="240241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altLang="zh-CN" dirty="0"/>
          </a:p>
        </p:txBody>
      </p:sp>
      <p:sp>
        <p:nvSpPr>
          <p:cNvPr id="4" name="Date Placeholder 3"/>
          <p:cNvSpPr>
            <a:spLocks noGrp="1"/>
          </p:cNvSpPr>
          <p:nvPr>
            <p:ph type="dt" idx="1"/>
          </p:nvPr>
        </p:nvSpPr>
        <p:spPr/>
        <p:txBody>
          <a:bodyPr/>
          <a:lstStyle/>
          <a:p>
            <a:r>
              <a:rPr lang="en-US"/>
              <a:t>Annex III</a:t>
            </a:r>
            <a:endParaRPr lang="en-US" dirty="0"/>
          </a:p>
        </p:txBody>
      </p:sp>
      <p:sp>
        <p:nvSpPr>
          <p:cNvPr id="5" name="Slide Number Placeholder 4"/>
          <p:cNvSpPr>
            <a:spLocks noGrp="1"/>
          </p:cNvSpPr>
          <p:nvPr>
            <p:ph type="sldNum" sz="quarter" idx="5"/>
          </p:nvPr>
        </p:nvSpPr>
        <p:spPr/>
        <p:txBody>
          <a:bodyPr/>
          <a:lstStyle/>
          <a:p>
            <a:fld id="{68D0A7C4-819B-4A42-9B2E-0804DC468CF8}" type="slidenum">
              <a:rPr lang="en-US" smtClean="0"/>
              <a:t>6</a:t>
            </a:fld>
            <a:endParaRPr lang="en-US" dirty="0"/>
          </a:p>
        </p:txBody>
      </p:sp>
    </p:spTree>
    <p:extLst>
      <p:ext uri="{BB962C8B-B14F-4D97-AF65-F5344CB8AC3E}">
        <p14:creationId xmlns:p14="http://schemas.microsoft.com/office/powerpoint/2010/main" val="1100386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Date Placeholder 3"/>
          <p:cNvSpPr>
            <a:spLocks noGrp="1"/>
          </p:cNvSpPr>
          <p:nvPr>
            <p:ph type="dt" idx="1"/>
          </p:nvPr>
        </p:nvSpPr>
        <p:spPr/>
        <p:txBody>
          <a:bodyPr/>
          <a:lstStyle/>
          <a:p>
            <a:r>
              <a:rPr lang="en-US"/>
              <a:t>Annex III</a:t>
            </a:r>
            <a:endParaRPr lang="en-US" dirty="0"/>
          </a:p>
        </p:txBody>
      </p:sp>
      <p:sp>
        <p:nvSpPr>
          <p:cNvPr id="5" name="Slide Number Placeholder 4"/>
          <p:cNvSpPr>
            <a:spLocks noGrp="1"/>
          </p:cNvSpPr>
          <p:nvPr>
            <p:ph type="sldNum" sz="quarter" idx="5"/>
          </p:nvPr>
        </p:nvSpPr>
        <p:spPr/>
        <p:txBody>
          <a:bodyPr/>
          <a:lstStyle/>
          <a:p>
            <a:fld id="{68D0A7C4-819B-4A42-9B2E-0804DC468CF8}" type="slidenum">
              <a:rPr lang="en-US" smtClean="0"/>
              <a:t>7</a:t>
            </a:fld>
            <a:endParaRPr lang="en-US" dirty="0"/>
          </a:p>
        </p:txBody>
      </p:sp>
    </p:spTree>
    <p:extLst>
      <p:ext uri="{BB962C8B-B14F-4D97-AF65-F5344CB8AC3E}">
        <p14:creationId xmlns:p14="http://schemas.microsoft.com/office/powerpoint/2010/main" val="1789041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Date Placeholder 3"/>
          <p:cNvSpPr>
            <a:spLocks noGrp="1"/>
          </p:cNvSpPr>
          <p:nvPr>
            <p:ph type="dt" idx="1"/>
          </p:nvPr>
        </p:nvSpPr>
        <p:spPr/>
        <p:txBody>
          <a:bodyPr/>
          <a:lstStyle/>
          <a:p>
            <a:r>
              <a:rPr lang="en-US"/>
              <a:t>Annex III</a:t>
            </a:r>
            <a:endParaRPr lang="en-US" dirty="0"/>
          </a:p>
        </p:txBody>
      </p:sp>
      <p:sp>
        <p:nvSpPr>
          <p:cNvPr id="5" name="Slide Number Placeholder 4"/>
          <p:cNvSpPr>
            <a:spLocks noGrp="1"/>
          </p:cNvSpPr>
          <p:nvPr>
            <p:ph type="sldNum" sz="quarter" idx="5"/>
          </p:nvPr>
        </p:nvSpPr>
        <p:spPr/>
        <p:txBody>
          <a:bodyPr/>
          <a:lstStyle/>
          <a:p>
            <a:fld id="{68D0A7C4-819B-4A42-9B2E-0804DC468CF8}" type="slidenum">
              <a:rPr lang="en-US" smtClean="0"/>
              <a:t>8</a:t>
            </a:fld>
            <a:endParaRPr lang="en-US" dirty="0"/>
          </a:p>
        </p:txBody>
      </p:sp>
    </p:spTree>
    <p:extLst>
      <p:ext uri="{BB962C8B-B14F-4D97-AF65-F5344CB8AC3E}">
        <p14:creationId xmlns:p14="http://schemas.microsoft.com/office/powerpoint/2010/main" val="1048399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Date Placeholder 3"/>
          <p:cNvSpPr>
            <a:spLocks noGrp="1"/>
          </p:cNvSpPr>
          <p:nvPr>
            <p:ph type="dt" idx="1"/>
          </p:nvPr>
        </p:nvSpPr>
        <p:spPr/>
        <p:txBody>
          <a:bodyPr/>
          <a:lstStyle/>
          <a:p>
            <a:r>
              <a:rPr lang="en-US"/>
              <a:t>Annex III</a:t>
            </a:r>
            <a:endParaRPr lang="en-US" dirty="0"/>
          </a:p>
        </p:txBody>
      </p:sp>
      <p:sp>
        <p:nvSpPr>
          <p:cNvPr id="5" name="Slide Number Placeholder 4"/>
          <p:cNvSpPr>
            <a:spLocks noGrp="1"/>
          </p:cNvSpPr>
          <p:nvPr>
            <p:ph type="sldNum" sz="quarter" idx="5"/>
          </p:nvPr>
        </p:nvSpPr>
        <p:spPr/>
        <p:txBody>
          <a:bodyPr/>
          <a:lstStyle/>
          <a:p>
            <a:fld id="{68D0A7C4-819B-4A42-9B2E-0804DC468CF8}" type="slidenum">
              <a:rPr lang="en-US" smtClean="0"/>
              <a:t>9</a:t>
            </a:fld>
            <a:endParaRPr lang="en-US" dirty="0"/>
          </a:p>
        </p:txBody>
      </p:sp>
    </p:spTree>
    <p:extLst>
      <p:ext uri="{BB962C8B-B14F-4D97-AF65-F5344CB8AC3E}">
        <p14:creationId xmlns:p14="http://schemas.microsoft.com/office/powerpoint/2010/main" val="1772112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Date Placeholder 3"/>
          <p:cNvSpPr>
            <a:spLocks noGrp="1"/>
          </p:cNvSpPr>
          <p:nvPr>
            <p:ph type="dt" idx="1"/>
          </p:nvPr>
        </p:nvSpPr>
        <p:spPr/>
        <p:txBody>
          <a:bodyPr/>
          <a:lstStyle/>
          <a:p>
            <a:r>
              <a:rPr lang="en-US"/>
              <a:t>Annex III</a:t>
            </a:r>
            <a:endParaRPr lang="en-US" dirty="0"/>
          </a:p>
        </p:txBody>
      </p:sp>
      <p:sp>
        <p:nvSpPr>
          <p:cNvPr id="5" name="Slide Number Placeholder 4"/>
          <p:cNvSpPr>
            <a:spLocks noGrp="1"/>
          </p:cNvSpPr>
          <p:nvPr>
            <p:ph type="sldNum" sz="quarter" idx="5"/>
          </p:nvPr>
        </p:nvSpPr>
        <p:spPr/>
        <p:txBody>
          <a:bodyPr/>
          <a:lstStyle/>
          <a:p>
            <a:fld id="{68D0A7C4-819B-4A42-9B2E-0804DC468CF8}" type="slidenum">
              <a:rPr lang="en-US" smtClean="0"/>
              <a:t>10</a:t>
            </a:fld>
            <a:endParaRPr lang="en-US" dirty="0"/>
          </a:p>
        </p:txBody>
      </p:sp>
    </p:spTree>
    <p:extLst>
      <p:ext uri="{BB962C8B-B14F-4D97-AF65-F5344CB8AC3E}">
        <p14:creationId xmlns:p14="http://schemas.microsoft.com/office/powerpoint/2010/main" val="1788195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Date Placeholder 3"/>
          <p:cNvSpPr>
            <a:spLocks noGrp="1"/>
          </p:cNvSpPr>
          <p:nvPr>
            <p:ph type="dt" idx="1"/>
          </p:nvPr>
        </p:nvSpPr>
        <p:spPr/>
        <p:txBody>
          <a:bodyPr/>
          <a:lstStyle/>
          <a:p>
            <a:r>
              <a:rPr lang="en-US"/>
              <a:t>Annex III</a:t>
            </a:r>
            <a:endParaRPr lang="en-US" dirty="0"/>
          </a:p>
        </p:txBody>
      </p:sp>
      <p:sp>
        <p:nvSpPr>
          <p:cNvPr id="5" name="Slide Number Placeholder 4"/>
          <p:cNvSpPr>
            <a:spLocks noGrp="1"/>
          </p:cNvSpPr>
          <p:nvPr>
            <p:ph type="sldNum" sz="quarter" idx="5"/>
          </p:nvPr>
        </p:nvSpPr>
        <p:spPr/>
        <p:txBody>
          <a:bodyPr/>
          <a:lstStyle/>
          <a:p>
            <a:fld id="{68D0A7C4-819B-4A42-9B2E-0804DC468CF8}" type="slidenum">
              <a:rPr lang="en-US" smtClean="0"/>
              <a:t>11</a:t>
            </a:fld>
            <a:endParaRPr lang="en-US" dirty="0"/>
          </a:p>
        </p:txBody>
      </p:sp>
    </p:spTree>
    <p:extLst>
      <p:ext uri="{BB962C8B-B14F-4D97-AF65-F5344CB8AC3E}">
        <p14:creationId xmlns:p14="http://schemas.microsoft.com/office/powerpoint/2010/main" val="36218540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r>
              <a:rPr lang="en-US"/>
              <a:t>Annex III</a:t>
            </a:r>
            <a:endParaRPr lang="en-US" dirty="0"/>
          </a:p>
        </p:txBody>
      </p:sp>
      <p:sp>
        <p:nvSpPr>
          <p:cNvPr id="5" name="灯片编号占位符 4"/>
          <p:cNvSpPr>
            <a:spLocks noGrp="1"/>
          </p:cNvSpPr>
          <p:nvPr>
            <p:ph type="sldNum" sz="quarter" idx="5"/>
          </p:nvPr>
        </p:nvSpPr>
        <p:spPr/>
        <p:txBody>
          <a:bodyPr/>
          <a:lstStyle/>
          <a:p>
            <a:fld id="{68D0A7C4-819B-4A42-9B2E-0804DC468CF8}" type="slidenum">
              <a:rPr lang="en-US" smtClean="0"/>
              <a:t>12</a:t>
            </a:fld>
            <a:endParaRPr lang="en-US" dirty="0"/>
          </a:p>
        </p:txBody>
      </p:sp>
    </p:spTree>
    <p:extLst>
      <p:ext uri="{BB962C8B-B14F-4D97-AF65-F5344CB8AC3E}">
        <p14:creationId xmlns:p14="http://schemas.microsoft.com/office/powerpoint/2010/main" val="32221359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Date Placeholder 3"/>
          <p:cNvSpPr>
            <a:spLocks noGrp="1"/>
          </p:cNvSpPr>
          <p:nvPr>
            <p:ph type="dt" idx="1"/>
          </p:nvPr>
        </p:nvSpPr>
        <p:spPr/>
        <p:txBody>
          <a:bodyPr/>
          <a:lstStyle/>
          <a:p>
            <a:r>
              <a:rPr lang="en-US"/>
              <a:t>Annex III</a:t>
            </a:r>
            <a:endParaRPr lang="en-US" dirty="0"/>
          </a:p>
        </p:txBody>
      </p:sp>
      <p:sp>
        <p:nvSpPr>
          <p:cNvPr id="5" name="Slide Number Placeholder 4"/>
          <p:cNvSpPr>
            <a:spLocks noGrp="1"/>
          </p:cNvSpPr>
          <p:nvPr>
            <p:ph type="sldNum" sz="quarter" idx="5"/>
          </p:nvPr>
        </p:nvSpPr>
        <p:spPr/>
        <p:txBody>
          <a:bodyPr/>
          <a:lstStyle/>
          <a:p>
            <a:fld id="{68D0A7C4-819B-4A42-9B2E-0804DC468CF8}" type="slidenum">
              <a:rPr lang="en-US" smtClean="0"/>
              <a:t>13</a:t>
            </a:fld>
            <a:endParaRPr lang="en-US" dirty="0"/>
          </a:p>
        </p:txBody>
      </p:sp>
    </p:spTree>
    <p:extLst>
      <p:ext uri="{BB962C8B-B14F-4D97-AF65-F5344CB8AC3E}">
        <p14:creationId xmlns:p14="http://schemas.microsoft.com/office/powerpoint/2010/main" val="1352887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r>
              <a:rPr lang="en-US"/>
              <a:t>Annex III</a:t>
            </a:r>
            <a:endParaRPr lang="en-US" dirty="0"/>
          </a:p>
        </p:txBody>
      </p:sp>
      <p:sp>
        <p:nvSpPr>
          <p:cNvPr id="5" name="灯片编号占位符 4"/>
          <p:cNvSpPr>
            <a:spLocks noGrp="1"/>
          </p:cNvSpPr>
          <p:nvPr>
            <p:ph type="sldNum" sz="quarter" idx="5"/>
          </p:nvPr>
        </p:nvSpPr>
        <p:spPr/>
        <p:txBody>
          <a:bodyPr/>
          <a:lstStyle/>
          <a:p>
            <a:fld id="{68D0A7C4-819B-4A42-9B2E-0804DC468CF8}" type="slidenum">
              <a:rPr lang="en-US" smtClean="0"/>
              <a:t>14</a:t>
            </a:fld>
            <a:endParaRPr lang="en-US" dirty="0"/>
          </a:p>
        </p:txBody>
      </p:sp>
    </p:spTree>
    <p:extLst>
      <p:ext uri="{BB962C8B-B14F-4D97-AF65-F5344CB8AC3E}">
        <p14:creationId xmlns:p14="http://schemas.microsoft.com/office/powerpoint/2010/main" val="4286651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C75A47C-05C3-4512-A052-267C5E17E9F4}" type="datetime1">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1462865-C5DA-4615-B020-DFBD3C2DE77A}" type="slidenum">
              <a:rPr lang="en-US" smtClean="0"/>
              <a:t>‹#›</a:t>
            </a:fld>
            <a:endParaRPr lang="en-US" dirty="0"/>
          </a:p>
        </p:txBody>
      </p:sp>
    </p:spTree>
    <p:extLst>
      <p:ext uri="{BB962C8B-B14F-4D97-AF65-F5344CB8AC3E}">
        <p14:creationId xmlns:p14="http://schemas.microsoft.com/office/powerpoint/2010/main" val="1862501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D39F8C-DCE1-4D26-B0F1-2D23359EC9C9}" type="datetime1">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1462865-C5DA-4615-B020-DFBD3C2DE77A}" type="slidenum">
              <a:rPr lang="en-US" smtClean="0"/>
              <a:t>‹#›</a:t>
            </a:fld>
            <a:endParaRPr lang="en-US" dirty="0"/>
          </a:p>
        </p:txBody>
      </p:sp>
    </p:spTree>
    <p:extLst>
      <p:ext uri="{BB962C8B-B14F-4D97-AF65-F5344CB8AC3E}">
        <p14:creationId xmlns:p14="http://schemas.microsoft.com/office/powerpoint/2010/main" val="2260481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D709B3-F5F4-4438-9A4F-484D0A6DBB0B}" type="datetime1">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1462865-C5DA-4615-B020-DFBD3C2DE77A}" type="slidenum">
              <a:rPr lang="en-US" smtClean="0"/>
              <a:t>‹#›</a:t>
            </a:fld>
            <a:endParaRPr lang="en-US" dirty="0"/>
          </a:p>
        </p:txBody>
      </p:sp>
    </p:spTree>
    <p:extLst>
      <p:ext uri="{BB962C8B-B14F-4D97-AF65-F5344CB8AC3E}">
        <p14:creationId xmlns:p14="http://schemas.microsoft.com/office/powerpoint/2010/main" val="3993748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F76A5AE-0031-4917-A08A-24BDDAB33CBA}" type="datetime1">
              <a:rPr lang="en-US" smtClean="0"/>
              <a:t>12/5/2023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1462865-C5DA-4615-B020-DFBD3C2DE77A}" type="slidenum">
              <a:rPr lang="en-US" smtClean="0"/>
              <a:t>‹#›</a:t>
            </a:fld>
            <a:endParaRPr lang="en-US" dirty="0"/>
          </a:p>
        </p:txBody>
      </p:sp>
    </p:spTree>
    <p:extLst>
      <p:ext uri="{BB962C8B-B14F-4D97-AF65-F5344CB8AC3E}">
        <p14:creationId xmlns:p14="http://schemas.microsoft.com/office/powerpoint/2010/main" val="1245234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84F2267-FCE3-4FE6-B26C-FAF9356F4031}" type="datetime1">
              <a:rPr lang="en-US" smtClean="0"/>
              <a:t>12/5/2023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1462865-C5DA-4615-B020-DFBD3C2DE77A}" type="slidenum">
              <a:rPr lang="en-US" smtClean="0"/>
              <a:t>‹#›</a:t>
            </a:fld>
            <a:endParaRPr lang="en-US" dirty="0"/>
          </a:p>
        </p:txBody>
      </p:sp>
    </p:spTree>
    <p:extLst>
      <p:ext uri="{BB962C8B-B14F-4D97-AF65-F5344CB8AC3E}">
        <p14:creationId xmlns:p14="http://schemas.microsoft.com/office/powerpoint/2010/main" val="616926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04244B7-2D75-4E88-952A-C7796F576A6F}" type="datetime1">
              <a:rPr lang="en-US" smtClean="0"/>
              <a:t>12/5/2023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1462865-C5DA-4615-B020-DFBD3C2DE77A}" type="slidenum">
              <a:rPr lang="en-US" smtClean="0"/>
              <a:t>‹#›</a:t>
            </a:fld>
            <a:endParaRPr lang="en-US" dirty="0"/>
          </a:p>
        </p:txBody>
      </p:sp>
    </p:spTree>
    <p:extLst>
      <p:ext uri="{BB962C8B-B14F-4D97-AF65-F5344CB8AC3E}">
        <p14:creationId xmlns:p14="http://schemas.microsoft.com/office/powerpoint/2010/main" val="2770891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A1EB02-E27A-44E4-883C-A3110C02AB9A}" type="datetime1">
              <a:rPr lang="en-US" smtClean="0"/>
              <a:t>12/5/2023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1462865-C5DA-4615-B020-DFBD3C2DE77A}" type="slidenum">
              <a:rPr lang="en-US" smtClean="0"/>
              <a:t>‹#›</a:t>
            </a:fld>
            <a:endParaRPr lang="en-US" dirty="0"/>
          </a:p>
        </p:txBody>
      </p:sp>
    </p:spTree>
    <p:extLst>
      <p:ext uri="{BB962C8B-B14F-4D97-AF65-F5344CB8AC3E}">
        <p14:creationId xmlns:p14="http://schemas.microsoft.com/office/powerpoint/2010/main" val="1688464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3B7596-C0FB-44C6-A2D6-1918919568C1}" type="datetime1">
              <a:rPr lang="en-US" smtClean="0"/>
              <a:t>12/5/2023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1462865-C5DA-4615-B020-DFBD3C2DE77A}" type="slidenum">
              <a:rPr lang="en-US" smtClean="0"/>
              <a:t>‹#›</a:t>
            </a:fld>
            <a:endParaRPr lang="en-US" dirty="0"/>
          </a:p>
        </p:txBody>
      </p:sp>
    </p:spTree>
    <p:extLst>
      <p:ext uri="{BB962C8B-B14F-4D97-AF65-F5344CB8AC3E}">
        <p14:creationId xmlns:p14="http://schemas.microsoft.com/office/powerpoint/2010/main" val="3635813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C1B6AA-7668-40EE-947D-FD59361BE77B}" type="datetime1">
              <a:rPr lang="en-US" smtClean="0"/>
              <a:t>12/5/2023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1462865-C5DA-4615-B020-DFBD3C2DE77A}" type="slidenum">
              <a:rPr lang="en-US" smtClean="0"/>
              <a:t>‹#›</a:t>
            </a:fld>
            <a:endParaRPr lang="en-US" dirty="0"/>
          </a:p>
        </p:txBody>
      </p:sp>
    </p:spTree>
    <p:extLst>
      <p:ext uri="{BB962C8B-B14F-4D97-AF65-F5344CB8AC3E}">
        <p14:creationId xmlns:p14="http://schemas.microsoft.com/office/powerpoint/2010/main" val="3600785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828A9E-1C6F-4F53-90A7-87B00F03FD81}" type="datetime1">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1462865-C5DA-4615-B020-DFBD3C2DE77A}" type="slidenum">
              <a:rPr lang="en-US" smtClean="0"/>
              <a:t>‹#›</a:t>
            </a:fld>
            <a:endParaRPr lang="en-US" dirty="0"/>
          </a:p>
        </p:txBody>
      </p:sp>
    </p:spTree>
    <p:extLst>
      <p:ext uri="{BB962C8B-B14F-4D97-AF65-F5344CB8AC3E}">
        <p14:creationId xmlns:p14="http://schemas.microsoft.com/office/powerpoint/2010/main" val="796963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8A49DE-C8C8-401F-9A48-002BA4CB9792}" type="datetime1">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1462865-C5DA-4615-B020-DFBD3C2DE77A}" type="slidenum">
              <a:rPr lang="en-US" smtClean="0"/>
              <a:t>‹#›</a:t>
            </a:fld>
            <a:endParaRPr lang="en-US" dirty="0"/>
          </a:p>
        </p:txBody>
      </p:sp>
    </p:spTree>
    <p:extLst>
      <p:ext uri="{BB962C8B-B14F-4D97-AF65-F5344CB8AC3E}">
        <p14:creationId xmlns:p14="http://schemas.microsoft.com/office/powerpoint/2010/main" val="1643152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09CBAD-DB36-47C0-8468-58575A3985D9}" type="datetime1">
              <a:rPr lang="en-US" smtClean="0"/>
              <a:t>12/5/2023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462865-C5DA-4615-B020-DFBD3C2DE77A}" type="slidenum">
              <a:rPr lang="en-US" smtClean="0"/>
              <a:t>‹#›</a:t>
            </a:fld>
            <a:endParaRPr lang="en-US" dirty="0"/>
          </a:p>
        </p:txBody>
      </p:sp>
    </p:spTree>
    <p:extLst>
      <p:ext uri="{BB962C8B-B14F-4D97-AF65-F5344CB8AC3E}">
        <p14:creationId xmlns:p14="http://schemas.microsoft.com/office/powerpoint/2010/main" val="1975068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www.huaweicloud.com/product/tics.html"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844824"/>
            <a:ext cx="9108504" cy="1470025"/>
          </a:xfrm>
        </p:spPr>
        <p:txBody>
          <a:bodyPr>
            <a:noAutofit/>
          </a:bodyPr>
          <a:lstStyle/>
          <a:p>
            <a:r>
              <a:rPr lang="en-US" sz="3600" b="1" dirty="0"/>
              <a:t>UTEE: A Secure, Efficient, and Portable Distributed Bigdata Computing System on Heterogeneous Trusted Execution Devices</a:t>
            </a:r>
          </a:p>
        </p:txBody>
      </p:sp>
      <p:sp>
        <p:nvSpPr>
          <p:cNvPr id="3" name="Subtitle 2"/>
          <p:cNvSpPr>
            <a:spLocks noGrp="1"/>
          </p:cNvSpPr>
          <p:nvPr>
            <p:ph type="subTitle" idx="1"/>
          </p:nvPr>
        </p:nvSpPr>
        <p:spPr>
          <a:xfrm>
            <a:off x="1403648" y="3861048"/>
            <a:ext cx="6400800" cy="2304256"/>
          </a:xfrm>
        </p:spPr>
        <p:txBody>
          <a:bodyPr>
            <a:normAutofit fontScale="92500" lnSpcReduction="20000"/>
          </a:bodyPr>
          <a:lstStyle/>
          <a:p>
            <a:r>
              <a:rPr lang="en-US" dirty="0"/>
              <a:t>Heming Cui</a:t>
            </a:r>
          </a:p>
          <a:p>
            <a:r>
              <a:rPr lang="en-US" dirty="0"/>
              <a:t>Computer Science/HKU</a:t>
            </a:r>
          </a:p>
          <a:p>
            <a:endParaRPr lang="en-US" dirty="0"/>
          </a:p>
          <a:p>
            <a:r>
              <a:rPr lang="en-HK" dirty="0"/>
              <a:t>Midterm Report, </a:t>
            </a:r>
            <a:r>
              <a:rPr lang="en-US" dirty="0"/>
              <a:t>ITF ITSP Platform </a:t>
            </a:r>
          </a:p>
          <a:p>
            <a:r>
              <a:rPr lang="en-US" dirty="0"/>
              <a:t>(Ref: GHP/169/20SZ)</a:t>
            </a:r>
          </a:p>
        </p:txBody>
      </p:sp>
      <p:pic>
        <p:nvPicPr>
          <p:cNvPr id="6" name="Picture 6" descr="hkucrest"/>
          <p:cNvPicPr>
            <a:picLocks noChangeAspect="1" noChangeArrowheads="1"/>
          </p:cNvPicPr>
          <p:nvPr/>
        </p:nvPicPr>
        <p:blipFill>
          <a:blip r:embed="rId3" cstate="print"/>
          <a:srcRect/>
          <a:stretch>
            <a:fillRect/>
          </a:stretch>
        </p:blipFill>
        <p:spPr bwMode="auto">
          <a:xfrm>
            <a:off x="683568" y="332656"/>
            <a:ext cx="1117928" cy="1179418"/>
          </a:xfrm>
          <a:prstGeom prst="rect">
            <a:avLst/>
          </a:prstGeom>
          <a:noFill/>
          <a:ln w="9525">
            <a:noFill/>
            <a:miter lim="800000"/>
            <a:headEnd/>
            <a:tailEnd/>
          </a:ln>
        </p:spPr>
      </p:pic>
    </p:spTree>
    <p:extLst>
      <p:ext uri="{BB962C8B-B14F-4D97-AF65-F5344CB8AC3E}">
        <p14:creationId xmlns:p14="http://schemas.microsoft.com/office/powerpoint/2010/main" val="584142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9DDAD-BFFE-483D-82B7-F9C9A4A57D50}"/>
              </a:ext>
            </a:extLst>
          </p:cNvPr>
          <p:cNvSpPr>
            <a:spLocks noGrp="1"/>
          </p:cNvSpPr>
          <p:nvPr>
            <p:ph type="title"/>
          </p:nvPr>
        </p:nvSpPr>
        <p:spPr/>
        <p:txBody>
          <a:bodyPr>
            <a:normAutofit fontScale="90000"/>
          </a:bodyPr>
          <a:lstStyle/>
          <a:p>
            <a:r>
              <a:rPr lang="en-US" altLang="zh-CN" dirty="0"/>
              <a:t>Trusted Execution Environment (TEE) Become Available in ARM/AMD/Intel CPUs, But Extremely Hard to Use</a:t>
            </a:r>
            <a:endParaRPr lang="en-HK" dirty="0"/>
          </a:p>
        </p:txBody>
      </p:sp>
      <p:sp>
        <p:nvSpPr>
          <p:cNvPr id="3" name="Content Placeholder 2">
            <a:extLst>
              <a:ext uri="{FF2B5EF4-FFF2-40B4-BE49-F238E27FC236}">
                <a16:creationId xmlns:a16="http://schemas.microsoft.com/office/drawing/2014/main" id="{951B3444-7D64-4329-BD93-5069334B928E}"/>
              </a:ext>
            </a:extLst>
          </p:cNvPr>
          <p:cNvSpPr>
            <a:spLocks noGrp="1"/>
          </p:cNvSpPr>
          <p:nvPr>
            <p:ph idx="1"/>
          </p:nvPr>
        </p:nvSpPr>
        <p:spPr>
          <a:xfrm>
            <a:off x="130146" y="2226469"/>
            <a:ext cx="5644066" cy="3671888"/>
          </a:xfrm>
        </p:spPr>
        <p:txBody>
          <a:bodyPr>
            <a:normAutofit fontScale="40000" lnSpcReduction="20000"/>
          </a:bodyPr>
          <a:lstStyle/>
          <a:p>
            <a:r>
              <a:rPr lang="en-HK" dirty="0"/>
              <a:t>Security problems on public clouds (AWS/Huawei clouds) are severe</a:t>
            </a:r>
          </a:p>
          <a:p>
            <a:pPr lvl="1"/>
            <a:r>
              <a:rPr lang="en-HK" dirty="0"/>
              <a:t>Cloud management software (e.g., Virtual Machine, VM) and Operating Systems (OS) have high privileges on tenants’ normal data server threads</a:t>
            </a:r>
          </a:p>
          <a:p>
            <a:pPr lvl="1"/>
            <a:r>
              <a:rPr lang="en-HK" dirty="0"/>
              <a:t>VM and OS are developed by 1K+ diverse organizations worldwide</a:t>
            </a:r>
          </a:p>
          <a:p>
            <a:pPr lvl="2"/>
            <a:r>
              <a:rPr lang="en-HK" dirty="0"/>
              <a:t>Software defects: Minnesota Linux Hypocrite Commits incidents in Apr 2021</a:t>
            </a:r>
          </a:p>
          <a:p>
            <a:pPr lvl="1"/>
            <a:r>
              <a:rPr lang="en-HK" dirty="0"/>
              <a:t>Also, some admins of the clouds may be careless or malicious</a:t>
            </a:r>
          </a:p>
          <a:p>
            <a:pPr lvl="8"/>
            <a:endParaRPr lang="en-HK" dirty="0"/>
          </a:p>
          <a:p>
            <a:r>
              <a:rPr lang="en-HK" dirty="0"/>
              <a:t>TEE’s hardware-level strong isolation </a:t>
            </a:r>
            <a:r>
              <a:rPr lang="en-US" dirty="0"/>
              <a:t>prevents privileged admin/software peeking data being queried by SQL/big-data engines</a:t>
            </a:r>
          </a:p>
          <a:p>
            <a:pPr lvl="1"/>
            <a:r>
              <a:rPr lang="en-US" dirty="0"/>
              <a:t>A thread running outside does complex assembly to transit into a TEE, decrypts sensitive data, processes it, encrypts result, and returns to outside</a:t>
            </a:r>
          </a:p>
          <a:p>
            <a:pPr lvl="8"/>
            <a:endParaRPr lang="en-US" dirty="0"/>
          </a:p>
          <a:p>
            <a:r>
              <a:rPr lang="en-HK" dirty="0"/>
              <a:t>TEE’s hardware nature makes it </a:t>
            </a:r>
            <a:r>
              <a:rPr lang="en-HK" b="1" i="1" dirty="0"/>
              <a:t>extremely</a:t>
            </a:r>
            <a:r>
              <a:rPr lang="en-HK" dirty="0"/>
              <a:t> </a:t>
            </a:r>
            <a:r>
              <a:rPr lang="en-HK" b="1" i="1" dirty="0"/>
              <a:t>hard</a:t>
            </a:r>
            <a:r>
              <a:rPr lang="en-HK" dirty="0"/>
              <a:t> to use</a:t>
            </a:r>
          </a:p>
          <a:p>
            <a:pPr lvl="1"/>
            <a:r>
              <a:rPr lang="en-HK" dirty="0"/>
              <a:t>TEE products in Arm/AMD/Intel supports software are in C/assembly</a:t>
            </a:r>
          </a:p>
          <a:p>
            <a:pPr lvl="1"/>
            <a:r>
              <a:rPr lang="en-HK" dirty="0"/>
              <a:t>But cloud software is often written in Java (e.g., big-data engine, Spark)</a:t>
            </a:r>
          </a:p>
          <a:p>
            <a:pPr lvl="1"/>
            <a:r>
              <a:rPr lang="en-HK" dirty="0"/>
              <a:t>Approaches: (1) </a:t>
            </a:r>
            <a:r>
              <a:rPr lang="en-HK" b="1" dirty="0"/>
              <a:t>shielding</a:t>
            </a:r>
            <a:r>
              <a:rPr lang="en-HK" dirty="0"/>
              <a:t> an entire server in a TEE (including server software defects and occupying too much TEE hardware resources), or (2) </a:t>
            </a:r>
            <a:r>
              <a:rPr lang="en-HK" b="1" dirty="0"/>
              <a:t>rewriting</a:t>
            </a:r>
            <a:r>
              <a:rPr lang="en-HK" dirty="0"/>
              <a:t> Java into C/assembly (error-prone) and run in TEE</a:t>
            </a:r>
          </a:p>
          <a:p>
            <a:pPr lvl="1"/>
            <a:endParaRPr lang="en-HK" dirty="0"/>
          </a:p>
        </p:txBody>
      </p:sp>
      <p:sp>
        <p:nvSpPr>
          <p:cNvPr id="4" name="Rectangle 3">
            <a:extLst>
              <a:ext uri="{FF2B5EF4-FFF2-40B4-BE49-F238E27FC236}">
                <a16:creationId xmlns:a16="http://schemas.microsoft.com/office/drawing/2014/main" id="{25520910-D09F-45CA-B356-1D625ECB4098}"/>
              </a:ext>
            </a:extLst>
          </p:cNvPr>
          <p:cNvSpPr/>
          <p:nvPr/>
        </p:nvSpPr>
        <p:spPr>
          <a:xfrm>
            <a:off x="5780317" y="2473779"/>
            <a:ext cx="3322864" cy="22370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TextBox 5">
            <a:extLst>
              <a:ext uri="{FF2B5EF4-FFF2-40B4-BE49-F238E27FC236}">
                <a16:creationId xmlns:a16="http://schemas.microsoft.com/office/drawing/2014/main" id="{B5DD2D72-BD9D-4DC5-9D49-26DC70C6A34A}"/>
              </a:ext>
            </a:extLst>
          </p:cNvPr>
          <p:cNvSpPr txBox="1"/>
          <p:nvPr/>
        </p:nvSpPr>
        <p:spPr>
          <a:xfrm>
            <a:off x="5880864" y="2153135"/>
            <a:ext cx="3244799" cy="253916"/>
          </a:xfrm>
          <a:prstGeom prst="rect">
            <a:avLst/>
          </a:prstGeom>
          <a:noFill/>
        </p:spPr>
        <p:txBody>
          <a:bodyPr wrap="none" rtlCol="0">
            <a:spAutoFit/>
          </a:bodyPr>
          <a:lstStyle/>
          <a:p>
            <a:r>
              <a:rPr lang="en-US" sz="1050" dirty="0"/>
              <a:t>A computer running OS, VM, and data servers on clouds</a:t>
            </a:r>
          </a:p>
        </p:txBody>
      </p:sp>
      <p:sp>
        <p:nvSpPr>
          <p:cNvPr id="7" name="TextBox 6">
            <a:extLst>
              <a:ext uri="{FF2B5EF4-FFF2-40B4-BE49-F238E27FC236}">
                <a16:creationId xmlns:a16="http://schemas.microsoft.com/office/drawing/2014/main" id="{2CA37F66-A171-4DEC-8329-6CE5E2695F51}"/>
              </a:ext>
            </a:extLst>
          </p:cNvPr>
          <p:cNvSpPr txBox="1"/>
          <p:nvPr/>
        </p:nvSpPr>
        <p:spPr>
          <a:xfrm>
            <a:off x="5826085" y="2473778"/>
            <a:ext cx="541895" cy="253916"/>
          </a:xfrm>
          <a:prstGeom prst="rect">
            <a:avLst/>
          </a:prstGeom>
          <a:noFill/>
        </p:spPr>
        <p:txBody>
          <a:bodyPr wrap="square" rtlCol="0">
            <a:spAutoFit/>
          </a:bodyPr>
          <a:lstStyle/>
          <a:p>
            <a:r>
              <a:rPr lang="en-US" sz="1050" dirty="0"/>
              <a:t>CPU</a:t>
            </a:r>
          </a:p>
        </p:txBody>
      </p:sp>
      <p:sp>
        <p:nvSpPr>
          <p:cNvPr id="10" name="TextBox 9">
            <a:extLst>
              <a:ext uri="{FF2B5EF4-FFF2-40B4-BE49-F238E27FC236}">
                <a16:creationId xmlns:a16="http://schemas.microsoft.com/office/drawing/2014/main" id="{F05ED9F6-C492-469D-B768-4822979D9BC7}"/>
              </a:ext>
            </a:extLst>
          </p:cNvPr>
          <p:cNvSpPr txBox="1"/>
          <p:nvPr/>
        </p:nvSpPr>
        <p:spPr>
          <a:xfrm>
            <a:off x="5767102" y="4702779"/>
            <a:ext cx="652743" cy="253916"/>
          </a:xfrm>
          <a:prstGeom prst="rect">
            <a:avLst/>
          </a:prstGeom>
          <a:noFill/>
        </p:spPr>
        <p:txBody>
          <a:bodyPr wrap="none" rtlCol="0">
            <a:spAutoFit/>
          </a:bodyPr>
          <a:lstStyle/>
          <a:p>
            <a:r>
              <a:rPr lang="en-US" sz="1050" dirty="0"/>
              <a:t>Memory</a:t>
            </a:r>
          </a:p>
        </p:txBody>
      </p:sp>
      <p:cxnSp>
        <p:nvCxnSpPr>
          <p:cNvPr id="15" name="Connector: Curved 14">
            <a:extLst>
              <a:ext uri="{FF2B5EF4-FFF2-40B4-BE49-F238E27FC236}">
                <a16:creationId xmlns:a16="http://schemas.microsoft.com/office/drawing/2014/main" id="{595BC141-956B-48C9-A011-5F3756C89824}"/>
              </a:ext>
            </a:extLst>
          </p:cNvPr>
          <p:cNvCxnSpPr>
            <a:cxnSpLocks/>
          </p:cNvCxnSpPr>
          <p:nvPr/>
        </p:nvCxnSpPr>
        <p:spPr>
          <a:xfrm rot="16200000" flipH="1">
            <a:off x="6322092" y="3758540"/>
            <a:ext cx="1200152" cy="351062"/>
          </a:xfrm>
          <a:prstGeom prst="curvedConnector3">
            <a:avLst>
              <a:gd name="adj1" fmla="val 52041"/>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1347582-6540-4E2E-AC68-DDC7FA0678EC}"/>
              </a:ext>
            </a:extLst>
          </p:cNvPr>
          <p:cNvSpPr txBox="1"/>
          <p:nvPr/>
        </p:nvSpPr>
        <p:spPr>
          <a:xfrm>
            <a:off x="6444232" y="2914402"/>
            <a:ext cx="710451" cy="415498"/>
          </a:xfrm>
          <a:prstGeom prst="rect">
            <a:avLst/>
          </a:prstGeom>
          <a:noFill/>
        </p:spPr>
        <p:txBody>
          <a:bodyPr wrap="none" rtlCol="0">
            <a:spAutoFit/>
          </a:bodyPr>
          <a:lstStyle/>
          <a:p>
            <a:r>
              <a:rPr lang="en-US" sz="1050" dirty="0"/>
              <a:t>OS kernel</a:t>
            </a:r>
          </a:p>
          <a:p>
            <a:r>
              <a:rPr lang="en-US" sz="1050" dirty="0"/>
              <a:t>thread</a:t>
            </a:r>
          </a:p>
        </p:txBody>
      </p:sp>
      <p:cxnSp>
        <p:nvCxnSpPr>
          <p:cNvPr id="21" name="Connector: Curved 20">
            <a:extLst>
              <a:ext uri="{FF2B5EF4-FFF2-40B4-BE49-F238E27FC236}">
                <a16:creationId xmlns:a16="http://schemas.microsoft.com/office/drawing/2014/main" id="{21965274-1A57-46C1-9EBC-65BBE04E3376}"/>
              </a:ext>
            </a:extLst>
          </p:cNvPr>
          <p:cNvCxnSpPr>
            <a:cxnSpLocks/>
          </p:cNvCxnSpPr>
          <p:nvPr/>
        </p:nvCxnSpPr>
        <p:spPr>
          <a:xfrm rot="16200000" flipH="1">
            <a:off x="5693442" y="3758537"/>
            <a:ext cx="1200152" cy="351062"/>
          </a:xfrm>
          <a:prstGeom prst="curvedConnector3">
            <a:avLst>
              <a:gd name="adj1" fmla="val 52041"/>
            </a:avLst>
          </a:prstGeom>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CFE3A71-D0D4-4AED-9F0E-DE7A27B5D30C}"/>
              </a:ext>
            </a:extLst>
          </p:cNvPr>
          <p:cNvSpPr txBox="1"/>
          <p:nvPr/>
        </p:nvSpPr>
        <p:spPr>
          <a:xfrm>
            <a:off x="5815582" y="2914399"/>
            <a:ext cx="721672" cy="415498"/>
          </a:xfrm>
          <a:prstGeom prst="rect">
            <a:avLst/>
          </a:prstGeom>
          <a:noFill/>
        </p:spPr>
        <p:txBody>
          <a:bodyPr wrap="none" rtlCol="0">
            <a:spAutoFit/>
          </a:bodyPr>
          <a:lstStyle/>
          <a:p>
            <a:r>
              <a:rPr lang="en-US" sz="1050" dirty="0"/>
              <a:t>Cloud VM</a:t>
            </a:r>
          </a:p>
          <a:p>
            <a:r>
              <a:rPr lang="en-US" sz="1050" dirty="0"/>
              <a:t>thread</a:t>
            </a:r>
          </a:p>
        </p:txBody>
      </p:sp>
      <p:sp>
        <p:nvSpPr>
          <p:cNvPr id="24" name="Rectangle 23">
            <a:extLst>
              <a:ext uri="{FF2B5EF4-FFF2-40B4-BE49-F238E27FC236}">
                <a16:creationId xmlns:a16="http://schemas.microsoft.com/office/drawing/2014/main" id="{A6834956-6250-430A-A76F-1C16DFA333E0}"/>
              </a:ext>
            </a:extLst>
          </p:cNvPr>
          <p:cNvSpPr/>
          <p:nvPr/>
        </p:nvSpPr>
        <p:spPr>
          <a:xfrm>
            <a:off x="5780317" y="4710793"/>
            <a:ext cx="3322864" cy="3914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5" name="Connector: Curved 24">
            <a:extLst>
              <a:ext uri="{FF2B5EF4-FFF2-40B4-BE49-F238E27FC236}">
                <a16:creationId xmlns:a16="http://schemas.microsoft.com/office/drawing/2014/main" id="{F52C3034-D7D2-43B6-B2A9-AA60C5D818D5}"/>
              </a:ext>
            </a:extLst>
          </p:cNvPr>
          <p:cNvCxnSpPr>
            <a:cxnSpLocks/>
          </p:cNvCxnSpPr>
          <p:nvPr/>
        </p:nvCxnSpPr>
        <p:spPr>
          <a:xfrm rot="16200000" flipH="1">
            <a:off x="7006629" y="3758537"/>
            <a:ext cx="1200152" cy="351062"/>
          </a:xfrm>
          <a:prstGeom prst="curvedConnector3">
            <a:avLst>
              <a:gd name="adj1" fmla="val 52041"/>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EEB5BB3-D969-40D8-A2E3-9320B5700241}"/>
              </a:ext>
            </a:extLst>
          </p:cNvPr>
          <p:cNvSpPr txBox="1"/>
          <p:nvPr/>
        </p:nvSpPr>
        <p:spPr>
          <a:xfrm>
            <a:off x="7128769" y="2914399"/>
            <a:ext cx="958917" cy="415498"/>
          </a:xfrm>
          <a:prstGeom prst="rect">
            <a:avLst/>
          </a:prstGeom>
          <a:noFill/>
        </p:spPr>
        <p:txBody>
          <a:bodyPr wrap="none" rtlCol="0">
            <a:spAutoFit/>
          </a:bodyPr>
          <a:lstStyle/>
          <a:p>
            <a:r>
              <a:rPr lang="en-US" sz="1050" dirty="0"/>
              <a:t>Tenants’ data </a:t>
            </a:r>
          </a:p>
          <a:p>
            <a:r>
              <a:rPr lang="en-US" sz="1050" dirty="0"/>
              <a:t>server thread</a:t>
            </a:r>
          </a:p>
        </p:txBody>
      </p:sp>
      <p:sp>
        <p:nvSpPr>
          <p:cNvPr id="27" name="Rectangle 26">
            <a:extLst>
              <a:ext uri="{FF2B5EF4-FFF2-40B4-BE49-F238E27FC236}">
                <a16:creationId xmlns:a16="http://schemas.microsoft.com/office/drawing/2014/main" id="{73B1ACDF-63CF-4FFC-83D5-9F81A1B82050}"/>
              </a:ext>
            </a:extLst>
          </p:cNvPr>
          <p:cNvSpPr/>
          <p:nvPr/>
        </p:nvSpPr>
        <p:spPr>
          <a:xfrm>
            <a:off x="5780315" y="5102683"/>
            <a:ext cx="3322864" cy="3914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8" name="TextBox 27">
            <a:extLst>
              <a:ext uri="{FF2B5EF4-FFF2-40B4-BE49-F238E27FC236}">
                <a16:creationId xmlns:a16="http://schemas.microsoft.com/office/drawing/2014/main" id="{43A485BE-2F58-4947-8C26-EEB7B58D97C1}"/>
              </a:ext>
            </a:extLst>
          </p:cNvPr>
          <p:cNvSpPr txBox="1"/>
          <p:nvPr/>
        </p:nvSpPr>
        <p:spPr>
          <a:xfrm>
            <a:off x="5783429" y="5102828"/>
            <a:ext cx="412292" cy="253916"/>
          </a:xfrm>
          <a:prstGeom prst="rect">
            <a:avLst/>
          </a:prstGeom>
          <a:noFill/>
        </p:spPr>
        <p:txBody>
          <a:bodyPr wrap="none" rtlCol="0">
            <a:spAutoFit/>
          </a:bodyPr>
          <a:lstStyle/>
          <a:p>
            <a:r>
              <a:rPr lang="en-US" sz="1050" dirty="0"/>
              <a:t>Disk</a:t>
            </a:r>
          </a:p>
        </p:txBody>
      </p:sp>
      <p:sp>
        <p:nvSpPr>
          <p:cNvPr id="31" name="Rectangle 30">
            <a:extLst>
              <a:ext uri="{FF2B5EF4-FFF2-40B4-BE49-F238E27FC236}">
                <a16:creationId xmlns:a16="http://schemas.microsoft.com/office/drawing/2014/main" id="{D04ECD67-0E0E-4A95-A291-A9DDD24A76ED}"/>
              </a:ext>
            </a:extLst>
          </p:cNvPr>
          <p:cNvSpPr/>
          <p:nvPr/>
        </p:nvSpPr>
        <p:spPr>
          <a:xfrm>
            <a:off x="6327632" y="5189597"/>
            <a:ext cx="652742" cy="226825"/>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2" name="TextBox 31">
            <a:extLst>
              <a:ext uri="{FF2B5EF4-FFF2-40B4-BE49-F238E27FC236}">
                <a16:creationId xmlns:a16="http://schemas.microsoft.com/office/drawing/2014/main" id="{E1333BC8-EF0C-42CC-AFBD-AD2D1F9284E5}"/>
              </a:ext>
            </a:extLst>
          </p:cNvPr>
          <p:cNvSpPr txBox="1"/>
          <p:nvPr/>
        </p:nvSpPr>
        <p:spPr>
          <a:xfrm>
            <a:off x="6327632" y="5185589"/>
            <a:ext cx="739305" cy="253916"/>
          </a:xfrm>
          <a:prstGeom prst="rect">
            <a:avLst/>
          </a:prstGeom>
          <a:solidFill>
            <a:srgbClr val="00B0F0"/>
          </a:solidFill>
        </p:spPr>
        <p:txBody>
          <a:bodyPr wrap="none" rtlCol="0">
            <a:spAutoFit/>
          </a:bodyPr>
          <a:lstStyle/>
          <a:p>
            <a:r>
              <a:rPr lang="en-US" sz="1050" dirty="0"/>
              <a:t>Encrypted</a:t>
            </a:r>
          </a:p>
        </p:txBody>
      </p:sp>
      <p:sp>
        <p:nvSpPr>
          <p:cNvPr id="33" name="Rectangle 32">
            <a:extLst>
              <a:ext uri="{FF2B5EF4-FFF2-40B4-BE49-F238E27FC236}">
                <a16:creationId xmlns:a16="http://schemas.microsoft.com/office/drawing/2014/main" id="{FA62E586-1B0B-49FB-92B4-A64B93E72BF1}"/>
              </a:ext>
            </a:extLst>
          </p:cNvPr>
          <p:cNvSpPr/>
          <p:nvPr/>
        </p:nvSpPr>
        <p:spPr>
          <a:xfrm>
            <a:off x="7267564" y="3736463"/>
            <a:ext cx="652742" cy="22682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TextBox 33">
            <a:extLst>
              <a:ext uri="{FF2B5EF4-FFF2-40B4-BE49-F238E27FC236}">
                <a16:creationId xmlns:a16="http://schemas.microsoft.com/office/drawing/2014/main" id="{D296CA2A-2CEC-4006-AB22-3ADAFE486492}"/>
              </a:ext>
            </a:extLst>
          </p:cNvPr>
          <p:cNvSpPr txBox="1"/>
          <p:nvPr/>
        </p:nvSpPr>
        <p:spPr>
          <a:xfrm>
            <a:off x="7308386" y="3732455"/>
            <a:ext cx="753732" cy="253916"/>
          </a:xfrm>
          <a:prstGeom prst="rect">
            <a:avLst/>
          </a:prstGeom>
          <a:solidFill>
            <a:srgbClr val="FF0000"/>
          </a:solidFill>
        </p:spPr>
        <p:txBody>
          <a:bodyPr wrap="none" rtlCol="0">
            <a:spAutoFit/>
          </a:bodyPr>
          <a:lstStyle/>
          <a:p>
            <a:r>
              <a:rPr lang="en-US" sz="1050" dirty="0"/>
              <a:t>Decrypted</a:t>
            </a:r>
          </a:p>
        </p:txBody>
      </p:sp>
      <p:sp>
        <p:nvSpPr>
          <p:cNvPr id="37" name="TextBox 36">
            <a:extLst>
              <a:ext uri="{FF2B5EF4-FFF2-40B4-BE49-F238E27FC236}">
                <a16:creationId xmlns:a16="http://schemas.microsoft.com/office/drawing/2014/main" id="{F4D31DFD-5433-4BE7-999D-037996AC1D78}"/>
              </a:ext>
            </a:extLst>
          </p:cNvPr>
          <p:cNvSpPr txBox="1"/>
          <p:nvPr/>
        </p:nvSpPr>
        <p:spPr>
          <a:xfrm>
            <a:off x="7017824" y="5200799"/>
            <a:ext cx="277640" cy="253916"/>
          </a:xfrm>
          <a:prstGeom prst="rect">
            <a:avLst/>
          </a:prstGeom>
          <a:noFill/>
        </p:spPr>
        <p:txBody>
          <a:bodyPr wrap="none" rtlCol="0">
            <a:spAutoFit/>
          </a:bodyPr>
          <a:lstStyle/>
          <a:p>
            <a:r>
              <a:rPr lang="en-US" sz="1050" dirty="0"/>
              <a:t>…</a:t>
            </a:r>
          </a:p>
        </p:txBody>
      </p:sp>
      <p:sp>
        <p:nvSpPr>
          <p:cNvPr id="38" name="Rectangle 37">
            <a:extLst>
              <a:ext uri="{FF2B5EF4-FFF2-40B4-BE49-F238E27FC236}">
                <a16:creationId xmlns:a16="http://schemas.microsoft.com/office/drawing/2014/main" id="{1EAE26C5-8DC3-45B2-969C-B53BBF3DCB83}"/>
              </a:ext>
            </a:extLst>
          </p:cNvPr>
          <p:cNvSpPr/>
          <p:nvPr/>
        </p:nvSpPr>
        <p:spPr>
          <a:xfrm>
            <a:off x="7250195" y="5197759"/>
            <a:ext cx="652742" cy="226825"/>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9" name="TextBox 38">
            <a:extLst>
              <a:ext uri="{FF2B5EF4-FFF2-40B4-BE49-F238E27FC236}">
                <a16:creationId xmlns:a16="http://schemas.microsoft.com/office/drawing/2014/main" id="{931E8A22-3584-46D5-B9AE-1D59C6A4B85F}"/>
              </a:ext>
            </a:extLst>
          </p:cNvPr>
          <p:cNvSpPr txBox="1"/>
          <p:nvPr/>
        </p:nvSpPr>
        <p:spPr>
          <a:xfrm>
            <a:off x="7250195" y="5193751"/>
            <a:ext cx="739305" cy="253916"/>
          </a:xfrm>
          <a:prstGeom prst="rect">
            <a:avLst/>
          </a:prstGeom>
          <a:solidFill>
            <a:srgbClr val="00B0F0"/>
          </a:solidFill>
        </p:spPr>
        <p:txBody>
          <a:bodyPr wrap="none" rtlCol="0">
            <a:spAutoFit/>
          </a:bodyPr>
          <a:lstStyle/>
          <a:p>
            <a:r>
              <a:rPr lang="en-US" sz="1050" dirty="0"/>
              <a:t>Encrypted</a:t>
            </a:r>
          </a:p>
        </p:txBody>
      </p:sp>
      <p:pic>
        <p:nvPicPr>
          <p:cNvPr id="41" name="Picture 40">
            <a:extLst>
              <a:ext uri="{FF2B5EF4-FFF2-40B4-BE49-F238E27FC236}">
                <a16:creationId xmlns:a16="http://schemas.microsoft.com/office/drawing/2014/main" id="{3E3F22AC-9F55-44A9-B42C-1F00536A7955}"/>
              </a:ext>
            </a:extLst>
          </p:cNvPr>
          <p:cNvPicPr>
            <a:picLocks noChangeAspect="1"/>
          </p:cNvPicPr>
          <p:nvPr/>
        </p:nvPicPr>
        <p:blipFill>
          <a:blip r:embed="rId3"/>
          <a:stretch>
            <a:fillRect/>
          </a:stretch>
        </p:blipFill>
        <p:spPr>
          <a:xfrm>
            <a:off x="6547301" y="3486775"/>
            <a:ext cx="529291" cy="416320"/>
          </a:xfrm>
          <a:prstGeom prst="rect">
            <a:avLst/>
          </a:prstGeom>
        </p:spPr>
      </p:pic>
      <p:pic>
        <p:nvPicPr>
          <p:cNvPr id="42" name="Picture 41">
            <a:extLst>
              <a:ext uri="{FF2B5EF4-FFF2-40B4-BE49-F238E27FC236}">
                <a16:creationId xmlns:a16="http://schemas.microsoft.com/office/drawing/2014/main" id="{71AC4CEE-3588-4BC8-A137-C5B18663079C}"/>
              </a:ext>
            </a:extLst>
          </p:cNvPr>
          <p:cNvPicPr>
            <a:picLocks noChangeAspect="1"/>
          </p:cNvPicPr>
          <p:nvPr/>
        </p:nvPicPr>
        <p:blipFill>
          <a:blip r:embed="rId3"/>
          <a:stretch>
            <a:fillRect/>
          </a:stretch>
        </p:blipFill>
        <p:spPr>
          <a:xfrm>
            <a:off x="6147372" y="3965817"/>
            <a:ext cx="529291" cy="416320"/>
          </a:xfrm>
          <a:prstGeom prst="rect">
            <a:avLst/>
          </a:prstGeom>
        </p:spPr>
      </p:pic>
      <p:cxnSp>
        <p:nvCxnSpPr>
          <p:cNvPr id="44" name="Straight Connector 43">
            <a:extLst>
              <a:ext uri="{FF2B5EF4-FFF2-40B4-BE49-F238E27FC236}">
                <a16:creationId xmlns:a16="http://schemas.microsoft.com/office/drawing/2014/main" id="{D68B911C-2A49-446B-B167-F44BBF995D18}"/>
              </a:ext>
            </a:extLst>
          </p:cNvPr>
          <p:cNvCxnSpPr>
            <a:cxnSpLocks/>
          </p:cNvCxnSpPr>
          <p:nvPr/>
        </p:nvCxnSpPr>
        <p:spPr>
          <a:xfrm>
            <a:off x="8226992" y="2473779"/>
            <a:ext cx="0" cy="2628466"/>
          </a:xfrm>
          <a:prstGeom prst="line">
            <a:avLst/>
          </a:prstGeom>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13E57BB5-A359-4A14-A8ED-5A61E4921CAD}"/>
              </a:ext>
            </a:extLst>
          </p:cNvPr>
          <p:cNvPicPr>
            <a:picLocks noChangeAspect="1"/>
          </p:cNvPicPr>
          <p:nvPr/>
        </p:nvPicPr>
        <p:blipFill>
          <a:blip r:embed="rId3"/>
          <a:stretch>
            <a:fillRect/>
          </a:stretch>
        </p:blipFill>
        <p:spPr>
          <a:xfrm>
            <a:off x="7364836" y="3610740"/>
            <a:ext cx="529291" cy="416320"/>
          </a:xfrm>
          <a:prstGeom prst="rect">
            <a:avLst/>
          </a:prstGeom>
        </p:spPr>
      </p:pic>
      <p:sp>
        <p:nvSpPr>
          <p:cNvPr id="43" name="TextBox 42">
            <a:extLst>
              <a:ext uri="{FF2B5EF4-FFF2-40B4-BE49-F238E27FC236}">
                <a16:creationId xmlns:a16="http://schemas.microsoft.com/office/drawing/2014/main" id="{4B69B036-BBE3-4FC3-89E9-C321B89C4EC7}"/>
              </a:ext>
            </a:extLst>
          </p:cNvPr>
          <p:cNvSpPr txBox="1"/>
          <p:nvPr/>
        </p:nvSpPr>
        <p:spPr>
          <a:xfrm>
            <a:off x="8250803" y="2474887"/>
            <a:ext cx="877358" cy="415498"/>
          </a:xfrm>
          <a:prstGeom prst="rect">
            <a:avLst/>
          </a:prstGeom>
          <a:noFill/>
        </p:spPr>
        <p:txBody>
          <a:bodyPr wrap="square" rtlCol="0">
            <a:spAutoFit/>
          </a:bodyPr>
          <a:lstStyle/>
          <a:p>
            <a:r>
              <a:rPr lang="en-US" sz="1050" dirty="0"/>
              <a:t>TEE: isolated</a:t>
            </a:r>
          </a:p>
          <a:p>
            <a:r>
              <a:rPr lang="en-US" sz="1050" dirty="0"/>
              <a:t>CPU &amp; Mem</a:t>
            </a:r>
          </a:p>
        </p:txBody>
      </p:sp>
      <p:cxnSp>
        <p:nvCxnSpPr>
          <p:cNvPr id="45" name="Connector: Curved 44">
            <a:extLst>
              <a:ext uri="{FF2B5EF4-FFF2-40B4-BE49-F238E27FC236}">
                <a16:creationId xmlns:a16="http://schemas.microsoft.com/office/drawing/2014/main" id="{E7A10755-8D78-4CF8-AC68-AB5E7D86C651}"/>
              </a:ext>
            </a:extLst>
          </p:cNvPr>
          <p:cNvCxnSpPr>
            <a:cxnSpLocks/>
          </p:cNvCxnSpPr>
          <p:nvPr/>
        </p:nvCxnSpPr>
        <p:spPr>
          <a:xfrm rot="16200000" flipH="1">
            <a:off x="8172931" y="3766306"/>
            <a:ext cx="1200152" cy="351062"/>
          </a:xfrm>
          <a:prstGeom prst="curvedConnector3">
            <a:avLst>
              <a:gd name="adj1" fmla="val 52041"/>
            </a:avLst>
          </a:prstGeom>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D9D76742-EB9E-463B-9617-5C5EF7FE4F54}"/>
              </a:ext>
            </a:extLst>
          </p:cNvPr>
          <p:cNvSpPr txBox="1"/>
          <p:nvPr/>
        </p:nvSpPr>
        <p:spPr>
          <a:xfrm>
            <a:off x="8255121" y="2922167"/>
            <a:ext cx="944489" cy="415498"/>
          </a:xfrm>
          <a:prstGeom prst="rect">
            <a:avLst/>
          </a:prstGeom>
          <a:noFill/>
        </p:spPr>
        <p:txBody>
          <a:bodyPr wrap="none" rtlCol="0">
            <a:spAutoFit/>
          </a:bodyPr>
          <a:lstStyle/>
          <a:p>
            <a:r>
              <a:rPr lang="en-US" sz="1050" dirty="0"/>
              <a:t>Secured Data </a:t>
            </a:r>
          </a:p>
          <a:p>
            <a:r>
              <a:rPr lang="en-US" sz="1050" dirty="0"/>
              <a:t>server thread</a:t>
            </a:r>
          </a:p>
        </p:txBody>
      </p:sp>
      <p:sp>
        <p:nvSpPr>
          <p:cNvPr id="47" name="Rectangle 46">
            <a:extLst>
              <a:ext uri="{FF2B5EF4-FFF2-40B4-BE49-F238E27FC236}">
                <a16:creationId xmlns:a16="http://schemas.microsoft.com/office/drawing/2014/main" id="{156832E2-EBD0-4387-8195-57CE76F8C109}"/>
              </a:ext>
            </a:extLst>
          </p:cNvPr>
          <p:cNvSpPr/>
          <p:nvPr/>
        </p:nvSpPr>
        <p:spPr>
          <a:xfrm>
            <a:off x="8295072" y="3744231"/>
            <a:ext cx="652742" cy="22682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8" name="TextBox 47">
            <a:extLst>
              <a:ext uri="{FF2B5EF4-FFF2-40B4-BE49-F238E27FC236}">
                <a16:creationId xmlns:a16="http://schemas.microsoft.com/office/drawing/2014/main" id="{DC0B4630-2388-452B-AAD0-5AAEA7F90DA1}"/>
              </a:ext>
            </a:extLst>
          </p:cNvPr>
          <p:cNvSpPr txBox="1"/>
          <p:nvPr/>
        </p:nvSpPr>
        <p:spPr>
          <a:xfrm>
            <a:off x="8335894" y="3740223"/>
            <a:ext cx="753732" cy="253916"/>
          </a:xfrm>
          <a:prstGeom prst="rect">
            <a:avLst/>
          </a:prstGeom>
          <a:solidFill>
            <a:srgbClr val="FF0000"/>
          </a:solidFill>
        </p:spPr>
        <p:txBody>
          <a:bodyPr wrap="none" rtlCol="0">
            <a:spAutoFit/>
          </a:bodyPr>
          <a:lstStyle/>
          <a:p>
            <a:r>
              <a:rPr lang="en-US" sz="1050" dirty="0"/>
              <a:t>Decrypted</a:t>
            </a:r>
          </a:p>
        </p:txBody>
      </p:sp>
      <p:sp>
        <p:nvSpPr>
          <p:cNvPr id="50" name="TextBox 49">
            <a:extLst>
              <a:ext uri="{FF2B5EF4-FFF2-40B4-BE49-F238E27FC236}">
                <a16:creationId xmlns:a16="http://schemas.microsoft.com/office/drawing/2014/main" id="{42AA8A5E-340F-437E-9F25-0F8D1D99E436}"/>
              </a:ext>
            </a:extLst>
          </p:cNvPr>
          <p:cNvSpPr txBox="1"/>
          <p:nvPr/>
        </p:nvSpPr>
        <p:spPr>
          <a:xfrm>
            <a:off x="8310369" y="4799994"/>
            <a:ext cx="753732" cy="253916"/>
          </a:xfrm>
          <a:prstGeom prst="rect">
            <a:avLst/>
          </a:prstGeom>
          <a:solidFill>
            <a:srgbClr val="FF0000"/>
          </a:solidFill>
        </p:spPr>
        <p:txBody>
          <a:bodyPr wrap="none" rtlCol="0">
            <a:spAutoFit/>
          </a:bodyPr>
          <a:lstStyle/>
          <a:p>
            <a:r>
              <a:rPr lang="en-US" sz="1050" dirty="0"/>
              <a:t>Decrypted</a:t>
            </a:r>
          </a:p>
        </p:txBody>
      </p:sp>
      <p:cxnSp>
        <p:nvCxnSpPr>
          <p:cNvPr id="9" name="Straight Arrow Connector 8">
            <a:extLst>
              <a:ext uri="{FF2B5EF4-FFF2-40B4-BE49-F238E27FC236}">
                <a16:creationId xmlns:a16="http://schemas.microsoft.com/office/drawing/2014/main" id="{27C26BA8-7183-4195-A8E1-000DD42AC4F5}"/>
              </a:ext>
            </a:extLst>
          </p:cNvPr>
          <p:cNvCxnSpPr>
            <a:endCxn id="50" idx="1"/>
          </p:cNvCxnSpPr>
          <p:nvPr/>
        </p:nvCxnSpPr>
        <p:spPr>
          <a:xfrm flipV="1">
            <a:off x="7711368" y="4926952"/>
            <a:ext cx="599001" cy="25863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F225C897-7A1D-4675-9A65-FC4A7CA17127}"/>
              </a:ext>
            </a:extLst>
          </p:cNvPr>
          <p:cNvSpPr txBox="1"/>
          <p:nvPr/>
        </p:nvSpPr>
        <p:spPr>
          <a:xfrm>
            <a:off x="7563450" y="4864306"/>
            <a:ext cx="559769" cy="253916"/>
          </a:xfrm>
          <a:prstGeom prst="rect">
            <a:avLst/>
          </a:prstGeom>
          <a:noFill/>
        </p:spPr>
        <p:txBody>
          <a:bodyPr wrap="none" rtlCol="0">
            <a:spAutoFit/>
          </a:bodyPr>
          <a:lstStyle/>
          <a:p>
            <a:r>
              <a:rPr lang="en-US" sz="1050" dirty="0"/>
              <a:t>Transit</a:t>
            </a:r>
          </a:p>
        </p:txBody>
      </p:sp>
      <p:cxnSp>
        <p:nvCxnSpPr>
          <p:cNvPr id="52" name="Straight Arrow Connector 51">
            <a:extLst>
              <a:ext uri="{FF2B5EF4-FFF2-40B4-BE49-F238E27FC236}">
                <a16:creationId xmlns:a16="http://schemas.microsoft.com/office/drawing/2014/main" id="{9C6488FD-A314-45AF-BB0E-8358BE073C3F}"/>
              </a:ext>
            </a:extLst>
          </p:cNvPr>
          <p:cNvCxnSpPr>
            <a:cxnSpLocks/>
            <a:endCxn id="39" idx="3"/>
          </p:cNvCxnSpPr>
          <p:nvPr/>
        </p:nvCxnSpPr>
        <p:spPr>
          <a:xfrm flipH="1">
            <a:off x="7989500" y="5038990"/>
            <a:ext cx="551886" cy="28171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BB7628AD-2A69-4098-ACCB-0B14B56304A5}"/>
              </a:ext>
            </a:extLst>
          </p:cNvPr>
          <p:cNvSpPr txBox="1"/>
          <p:nvPr/>
        </p:nvSpPr>
        <p:spPr>
          <a:xfrm>
            <a:off x="8159195" y="5124842"/>
            <a:ext cx="558166" cy="253916"/>
          </a:xfrm>
          <a:prstGeom prst="rect">
            <a:avLst/>
          </a:prstGeom>
          <a:noFill/>
        </p:spPr>
        <p:txBody>
          <a:bodyPr wrap="none" rtlCol="0">
            <a:spAutoFit/>
          </a:bodyPr>
          <a:lstStyle/>
          <a:p>
            <a:r>
              <a:rPr lang="en-US" sz="1050" dirty="0"/>
              <a:t>Return</a:t>
            </a:r>
          </a:p>
        </p:txBody>
      </p:sp>
      <p:sp>
        <p:nvSpPr>
          <p:cNvPr id="5" name="Slide Number Placeholder 4">
            <a:extLst>
              <a:ext uri="{FF2B5EF4-FFF2-40B4-BE49-F238E27FC236}">
                <a16:creationId xmlns:a16="http://schemas.microsoft.com/office/drawing/2014/main" id="{BD8FB2CC-AED0-432A-A72C-428E464282E8}"/>
              </a:ext>
            </a:extLst>
          </p:cNvPr>
          <p:cNvSpPr>
            <a:spLocks noGrp="1"/>
          </p:cNvSpPr>
          <p:nvPr>
            <p:ph type="sldNum" sz="quarter" idx="12"/>
          </p:nvPr>
        </p:nvSpPr>
        <p:spPr/>
        <p:txBody>
          <a:bodyPr/>
          <a:lstStyle/>
          <a:p>
            <a:fld id="{736B0C55-7D29-48EE-B0FE-2D733704D56D}" type="slidenum">
              <a:rPr lang="en-HK" smtClean="0"/>
              <a:t>2</a:t>
            </a:fld>
            <a:endParaRPr lang="en-HK"/>
          </a:p>
        </p:txBody>
      </p:sp>
      <p:sp>
        <p:nvSpPr>
          <p:cNvPr id="8" name="Rectangle 7">
            <a:extLst>
              <a:ext uri="{FF2B5EF4-FFF2-40B4-BE49-F238E27FC236}">
                <a16:creationId xmlns:a16="http://schemas.microsoft.com/office/drawing/2014/main" id="{FEAAC0DC-3BC5-41D6-82B2-A383235EFCC6}"/>
              </a:ext>
            </a:extLst>
          </p:cNvPr>
          <p:cNvSpPr/>
          <p:nvPr/>
        </p:nvSpPr>
        <p:spPr>
          <a:xfrm>
            <a:off x="8235529" y="2473169"/>
            <a:ext cx="867650" cy="2621352"/>
          </a:xfrm>
          <a:prstGeom prst="rect">
            <a:avLst/>
          </a:prstGeom>
          <a:solidFill>
            <a:srgbClr val="F48914">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809630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
                                            <p:txEl>
                                              <p:pRg st="6" end="6"/>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6" grpId="0"/>
      <p:bldP spid="33" grpId="0" animBg="1"/>
      <p:bldP spid="34" grpId="0" animBg="1"/>
      <p:bldP spid="43" grpId="0"/>
      <p:bldP spid="46" grpId="0"/>
      <p:bldP spid="47" grpId="0" animBg="1"/>
      <p:bldP spid="48" grpId="0" animBg="1"/>
      <p:bldP spid="50" grpId="0" animBg="1"/>
      <p:bldP spid="51" grpId="0"/>
      <p:bldP spid="53" grpId="0"/>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9DDAD-BFFE-483D-82B7-F9C9A4A57D50}"/>
              </a:ext>
            </a:extLst>
          </p:cNvPr>
          <p:cNvSpPr>
            <a:spLocks noGrp="1"/>
          </p:cNvSpPr>
          <p:nvPr>
            <p:ph type="title"/>
          </p:nvPr>
        </p:nvSpPr>
        <p:spPr/>
        <p:txBody>
          <a:bodyPr>
            <a:normAutofit fontScale="90000"/>
          </a:bodyPr>
          <a:lstStyle/>
          <a:p>
            <a:r>
              <a:rPr lang="en-HK" b="1" dirty="0"/>
              <a:t>U</a:t>
            </a:r>
            <a:r>
              <a:rPr lang="en-HK" dirty="0"/>
              <a:t>biquitous </a:t>
            </a:r>
            <a:r>
              <a:rPr lang="en-HK" b="1" dirty="0"/>
              <a:t>TEE</a:t>
            </a:r>
            <a:r>
              <a:rPr lang="en-HK" dirty="0"/>
              <a:t>: A Synergistic Eco-system Between TEE &amp; Java (UTEE’s own components are in green)</a:t>
            </a:r>
          </a:p>
        </p:txBody>
      </p:sp>
      <p:pic>
        <p:nvPicPr>
          <p:cNvPr id="4" name="Picture 3" descr="A screenshot of a cell phone&#10;&#10;Description automatically generated">
            <a:extLst>
              <a:ext uri="{FF2B5EF4-FFF2-40B4-BE49-F238E27FC236}">
                <a16:creationId xmlns:a16="http://schemas.microsoft.com/office/drawing/2014/main" id="{79E5E3CC-9272-4F36-B622-D5E6AEF401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6525" y="2022876"/>
            <a:ext cx="5734262" cy="2206696"/>
          </a:xfrm>
          <a:prstGeom prst="rect">
            <a:avLst/>
          </a:prstGeom>
        </p:spPr>
      </p:pic>
      <p:sp>
        <p:nvSpPr>
          <p:cNvPr id="3" name="Content Placeholder 2">
            <a:extLst>
              <a:ext uri="{FF2B5EF4-FFF2-40B4-BE49-F238E27FC236}">
                <a16:creationId xmlns:a16="http://schemas.microsoft.com/office/drawing/2014/main" id="{951B3444-7D64-4329-BD93-5069334B928E}"/>
              </a:ext>
            </a:extLst>
          </p:cNvPr>
          <p:cNvSpPr>
            <a:spLocks noGrp="1"/>
          </p:cNvSpPr>
          <p:nvPr>
            <p:ph idx="1"/>
          </p:nvPr>
        </p:nvSpPr>
        <p:spPr>
          <a:xfrm>
            <a:off x="359546" y="4239645"/>
            <a:ext cx="8402714" cy="1764437"/>
          </a:xfrm>
        </p:spPr>
        <p:txBody>
          <a:bodyPr>
            <a:normAutofit fontScale="47500" lnSpcReduction="20000"/>
          </a:bodyPr>
          <a:lstStyle/>
          <a:p>
            <a:r>
              <a:rPr lang="en-HK" dirty="0"/>
              <a:t>For cloud software’s JVM-compatible high-level languages (e.g., Java/Python/Scala)</a:t>
            </a:r>
          </a:p>
          <a:p>
            <a:r>
              <a:rPr lang="en-HK" dirty="0" err="1"/>
              <a:t>JECall</a:t>
            </a:r>
            <a:r>
              <a:rPr lang="en-HK" dirty="0"/>
              <a:t>: annotate queries which processing sensitive data, and UTEE automatically splits the queries and places them to run inside a TEE</a:t>
            </a:r>
          </a:p>
          <a:p>
            <a:pPr lvl="1"/>
            <a:r>
              <a:rPr lang="en-HK" dirty="0"/>
              <a:t>Secure: </a:t>
            </a:r>
            <a:r>
              <a:rPr lang="en-HK" b="1" dirty="0"/>
              <a:t>minimize the risk </a:t>
            </a:r>
            <a:r>
              <a:rPr lang="en-HK" dirty="0"/>
              <a:t>(Lines of Code) of including software defects in TEE</a:t>
            </a:r>
          </a:p>
          <a:p>
            <a:pPr lvl="1"/>
            <a:r>
              <a:rPr lang="en-HK" dirty="0"/>
              <a:t>Portable: Can </a:t>
            </a:r>
            <a:r>
              <a:rPr lang="en-HK" b="1" dirty="0"/>
              <a:t>reuse the mature queries </a:t>
            </a:r>
            <a:r>
              <a:rPr lang="en-HK" dirty="0"/>
              <a:t>(algorithms) developed by SQL/big-data experts</a:t>
            </a:r>
            <a:endParaRPr lang="en-HK" b="1" dirty="0"/>
          </a:p>
          <a:p>
            <a:pPr lvl="1"/>
            <a:r>
              <a:rPr lang="en-HK" dirty="0"/>
              <a:t>Easy-to-use: Java type safety, UTEE invents </a:t>
            </a:r>
            <a:r>
              <a:rPr lang="en-HK" b="1" dirty="0"/>
              <a:t>new safe isolation techniques</a:t>
            </a:r>
            <a:r>
              <a:rPr lang="en-HK" dirty="0"/>
              <a:t>: “queries </a:t>
            </a:r>
            <a:r>
              <a:rPr lang="en-HK" dirty="0">
                <a:sym typeface="Wingdings" panose="05000000000000000000" pitchFamily="2" charset="2"/>
              </a:rPr>
              <a:t>  outside”</a:t>
            </a:r>
          </a:p>
          <a:p>
            <a:pPr lvl="1"/>
            <a:r>
              <a:rPr lang="en-HK" dirty="0"/>
              <a:t>Fast: UTEE invents </a:t>
            </a:r>
            <a:r>
              <a:rPr lang="en-HK" b="1" dirty="0"/>
              <a:t>new big-data query aware memory management</a:t>
            </a:r>
            <a:r>
              <a:rPr lang="en-HK" dirty="0"/>
              <a:t>, first among competitors</a:t>
            </a:r>
          </a:p>
        </p:txBody>
      </p:sp>
      <p:sp>
        <p:nvSpPr>
          <p:cNvPr id="5" name="Slide Number Placeholder 4">
            <a:extLst>
              <a:ext uri="{FF2B5EF4-FFF2-40B4-BE49-F238E27FC236}">
                <a16:creationId xmlns:a16="http://schemas.microsoft.com/office/drawing/2014/main" id="{6512F62E-05BE-4F74-8347-9EED6B5E6E12}"/>
              </a:ext>
            </a:extLst>
          </p:cNvPr>
          <p:cNvSpPr>
            <a:spLocks noGrp="1"/>
          </p:cNvSpPr>
          <p:nvPr>
            <p:ph type="sldNum" sz="quarter" idx="12"/>
          </p:nvPr>
        </p:nvSpPr>
        <p:spPr/>
        <p:txBody>
          <a:bodyPr/>
          <a:lstStyle/>
          <a:p>
            <a:fld id="{736B0C55-7D29-48EE-B0FE-2D733704D56D}" type="slidenum">
              <a:rPr lang="en-HK" smtClean="0"/>
              <a:t>3</a:t>
            </a:fld>
            <a:endParaRPr lang="en-HK"/>
          </a:p>
        </p:txBody>
      </p:sp>
    </p:spTree>
    <p:extLst>
      <p:ext uri="{BB962C8B-B14F-4D97-AF65-F5344CB8AC3E}">
        <p14:creationId xmlns:p14="http://schemas.microsoft.com/office/powerpoint/2010/main" val="275040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2208D-1758-258A-FF04-817EB9B19F17}"/>
              </a:ext>
            </a:extLst>
          </p:cNvPr>
          <p:cNvSpPr>
            <a:spLocks noGrp="1"/>
          </p:cNvSpPr>
          <p:nvPr>
            <p:ph type="title"/>
          </p:nvPr>
        </p:nvSpPr>
        <p:spPr/>
        <p:txBody>
          <a:bodyPr/>
          <a:lstStyle/>
          <a:p>
            <a:r>
              <a:rPr lang="en-HK" dirty="0"/>
              <a:t>The Rest of My Talk</a:t>
            </a:r>
          </a:p>
        </p:txBody>
      </p:sp>
      <p:sp>
        <p:nvSpPr>
          <p:cNvPr id="3" name="Content Placeholder 2">
            <a:extLst>
              <a:ext uri="{FF2B5EF4-FFF2-40B4-BE49-F238E27FC236}">
                <a16:creationId xmlns:a16="http://schemas.microsoft.com/office/drawing/2014/main" id="{174CCFB3-C674-6294-EC30-93FA689207FD}"/>
              </a:ext>
            </a:extLst>
          </p:cNvPr>
          <p:cNvSpPr>
            <a:spLocks noGrp="1"/>
          </p:cNvSpPr>
          <p:nvPr>
            <p:ph idx="1"/>
          </p:nvPr>
        </p:nvSpPr>
        <p:spPr/>
        <p:txBody>
          <a:bodyPr/>
          <a:lstStyle/>
          <a:p>
            <a:r>
              <a:rPr lang="en-HK" dirty="0"/>
              <a:t>(a) Project team members</a:t>
            </a:r>
          </a:p>
          <a:p>
            <a:r>
              <a:rPr lang="en-HK" dirty="0"/>
              <a:t>(b) Research progress</a:t>
            </a:r>
          </a:p>
          <a:p>
            <a:r>
              <a:rPr lang="en-HK" dirty="0"/>
              <a:t>(c) Research results</a:t>
            </a:r>
          </a:p>
          <a:p>
            <a:r>
              <a:rPr lang="en-HK" dirty="0"/>
              <a:t>(d) Achievements to-date</a:t>
            </a:r>
          </a:p>
          <a:p>
            <a:r>
              <a:rPr lang="en-HK" dirty="0"/>
              <a:t>(e) Project dissemination</a:t>
            </a:r>
          </a:p>
          <a:p>
            <a:r>
              <a:rPr lang="en-HK" dirty="0"/>
              <a:t>(f) Released software website &amp; video demo</a:t>
            </a:r>
          </a:p>
        </p:txBody>
      </p:sp>
      <p:sp>
        <p:nvSpPr>
          <p:cNvPr id="4" name="Slide Number Placeholder 3">
            <a:extLst>
              <a:ext uri="{FF2B5EF4-FFF2-40B4-BE49-F238E27FC236}">
                <a16:creationId xmlns:a16="http://schemas.microsoft.com/office/drawing/2014/main" id="{386116DF-C9F0-31C7-0762-8F8FCDB61846}"/>
              </a:ext>
            </a:extLst>
          </p:cNvPr>
          <p:cNvSpPr>
            <a:spLocks noGrp="1"/>
          </p:cNvSpPr>
          <p:nvPr>
            <p:ph type="sldNum" sz="quarter" idx="12"/>
          </p:nvPr>
        </p:nvSpPr>
        <p:spPr/>
        <p:txBody>
          <a:bodyPr/>
          <a:lstStyle/>
          <a:p>
            <a:fld id="{D1462865-C5DA-4615-B020-DFBD3C2DE77A}" type="slidenum">
              <a:rPr lang="en-US" smtClean="0"/>
              <a:t>4</a:t>
            </a:fld>
            <a:endParaRPr lang="en-US" dirty="0"/>
          </a:p>
        </p:txBody>
      </p:sp>
    </p:spTree>
    <p:extLst>
      <p:ext uri="{BB962C8B-B14F-4D97-AF65-F5344CB8AC3E}">
        <p14:creationId xmlns:p14="http://schemas.microsoft.com/office/powerpoint/2010/main" val="1539418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9DDAD-BFFE-483D-82B7-F9C9A4A57D50}"/>
              </a:ext>
            </a:extLst>
          </p:cNvPr>
          <p:cNvSpPr>
            <a:spLocks noGrp="1"/>
          </p:cNvSpPr>
          <p:nvPr>
            <p:ph type="title"/>
          </p:nvPr>
        </p:nvSpPr>
        <p:spPr/>
        <p:txBody>
          <a:bodyPr>
            <a:normAutofit fontScale="90000"/>
          </a:bodyPr>
          <a:lstStyle/>
          <a:p>
            <a:r>
              <a:rPr lang="en-US" dirty="0"/>
              <a:t>(a) The Project Team Members: PIs and My Four RPG students</a:t>
            </a:r>
            <a:endParaRPr lang="en-HK" dirty="0"/>
          </a:p>
        </p:txBody>
      </p:sp>
      <p:pic>
        <p:nvPicPr>
          <p:cNvPr id="7" name="Picture 6">
            <a:extLst>
              <a:ext uri="{FF2B5EF4-FFF2-40B4-BE49-F238E27FC236}">
                <a16:creationId xmlns:a16="http://schemas.microsoft.com/office/drawing/2014/main" id="{16BD7526-F613-4322-8E7F-284A99EF96C5}"/>
              </a:ext>
            </a:extLst>
          </p:cNvPr>
          <p:cNvPicPr>
            <a:picLocks noChangeAspect="1"/>
          </p:cNvPicPr>
          <p:nvPr/>
        </p:nvPicPr>
        <p:blipFill>
          <a:blip r:embed="rId3"/>
          <a:stretch>
            <a:fillRect/>
          </a:stretch>
        </p:blipFill>
        <p:spPr>
          <a:xfrm>
            <a:off x="6747279" y="3388372"/>
            <a:ext cx="721316" cy="901645"/>
          </a:xfrm>
          <a:prstGeom prst="rect">
            <a:avLst/>
          </a:prstGeom>
        </p:spPr>
      </p:pic>
      <p:pic>
        <p:nvPicPr>
          <p:cNvPr id="9" name="Picture 8">
            <a:extLst>
              <a:ext uri="{FF2B5EF4-FFF2-40B4-BE49-F238E27FC236}">
                <a16:creationId xmlns:a16="http://schemas.microsoft.com/office/drawing/2014/main" id="{EF0C2772-FFC0-4CCD-A00D-EFAA35C4FB39}"/>
              </a:ext>
            </a:extLst>
          </p:cNvPr>
          <p:cNvPicPr>
            <a:picLocks noChangeAspect="1"/>
          </p:cNvPicPr>
          <p:nvPr/>
        </p:nvPicPr>
        <p:blipFill>
          <a:blip r:embed="rId4"/>
          <a:stretch>
            <a:fillRect/>
          </a:stretch>
        </p:blipFill>
        <p:spPr>
          <a:xfrm>
            <a:off x="7970399" y="1757661"/>
            <a:ext cx="910283" cy="1179728"/>
          </a:xfrm>
          <a:prstGeom prst="rect">
            <a:avLst/>
          </a:prstGeom>
        </p:spPr>
      </p:pic>
      <p:pic>
        <p:nvPicPr>
          <p:cNvPr id="11" name="Picture 10">
            <a:extLst>
              <a:ext uri="{FF2B5EF4-FFF2-40B4-BE49-F238E27FC236}">
                <a16:creationId xmlns:a16="http://schemas.microsoft.com/office/drawing/2014/main" id="{7A180B0F-DCAA-410A-B2D5-9AD671575F0B}"/>
              </a:ext>
            </a:extLst>
          </p:cNvPr>
          <p:cNvPicPr>
            <a:picLocks noChangeAspect="1"/>
          </p:cNvPicPr>
          <p:nvPr/>
        </p:nvPicPr>
        <p:blipFill>
          <a:blip r:embed="rId5"/>
          <a:stretch>
            <a:fillRect/>
          </a:stretch>
        </p:blipFill>
        <p:spPr>
          <a:xfrm>
            <a:off x="6634932" y="1755024"/>
            <a:ext cx="864985" cy="1179728"/>
          </a:xfrm>
          <a:prstGeom prst="rect">
            <a:avLst/>
          </a:prstGeom>
        </p:spPr>
      </p:pic>
      <p:pic>
        <p:nvPicPr>
          <p:cNvPr id="14" name="Picture 13">
            <a:extLst>
              <a:ext uri="{FF2B5EF4-FFF2-40B4-BE49-F238E27FC236}">
                <a16:creationId xmlns:a16="http://schemas.microsoft.com/office/drawing/2014/main" id="{5F1D688B-3537-49ED-8A75-040446FC4AB9}"/>
              </a:ext>
            </a:extLst>
          </p:cNvPr>
          <p:cNvPicPr>
            <a:picLocks noChangeAspect="1"/>
          </p:cNvPicPr>
          <p:nvPr/>
        </p:nvPicPr>
        <p:blipFill>
          <a:blip r:embed="rId6"/>
          <a:stretch>
            <a:fillRect/>
          </a:stretch>
        </p:blipFill>
        <p:spPr>
          <a:xfrm>
            <a:off x="8093838" y="3347751"/>
            <a:ext cx="692960" cy="946661"/>
          </a:xfrm>
          <a:prstGeom prst="rect">
            <a:avLst/>
          </a:prstGeom>
        </p:spPr>
      </p:pic>
      <p:sp>
        <p:nvSpPr>
          <p:cNvPr id="15" name="TextBox 14">
            <a:extLst>
              <a:ext uri="{FF2B5EF4-FFF2-40B4-BE49-F238E27FC236}">
                <a16:creationId xmlns:a16="http://schemas.microsoft.com/office/drawing/2014/main" id="{8E77F4B0-FCAA-441B-9DC8-B2ACAF7CD1B6}"/>
              </a:ext>
            </a:extLst>
          </p:cNvPr>
          <p:cNvSpPr txBox="1"/>
          <p:nvPr/>
        </p:nvSpPr>
        <p:spPr>
          <a:xfrm>
            <a:off x="6623192" y="2910258"/>
            <a:ext cx="1005403" cy="415498"/>
          </a:xfrm>
          <a:prstGeom prst="rect">
            <a:avLst/>
          </a:prstGeom>
          <a:noFill/>
        </p:spPr>
        <p:txBody>
          <a:bodyPr wrap="none" rtlCol="0">
            <a:spAutoFit/>
          </a:bodyPr>
          <a:lstStyle/>
          <a:p>
            <a:pPr algn="ctr"/>
            <a:r>
              <a:rPr lang="en-US" sz="1050" dirty="0"/>
              <a:t>Dr. Heming Cui</a:t>
            </a:r>
          </a:p>
          <a:p>
            <a:pPr algn="ctr"/>
            <a:r>
              <a:rPr lang="en-US" sz="1050" dirty="0"/>
              <a:t>PI, HK side</a:t>
            </a:r>
          </a:p>
        </p:txBody>
      </p:sp>
      <p:sp>
        <p:nvSpPr>
          <p:cNvPr id="19" name="TextBox 18">
            <a:extLst>
              <a:ext uri="{FF2B5EF4-FFF2-40B4-BE49-F238E27FC236}">
                <a16:creationId xmlns:a16="http://schemas.microsoft.com/office/drawing/2014/main" id="{8DC496F7-9DF3-49C5-A10A-CCC84C23DE43}"/>
              </a:ext>
            </a:extLst>
          </p:cNvPr>
          <p:cNvSpPr txBox="1"/>
          <p:nvPr/>
        </p:nvSpPr>
        <p:spPr>
          <a:xfrm>
            <a:off x="7816163" y="2910255"/>
            <a:ext cx="1199367" cy="415498"/>
          </a:xfrm>
          <a:prstGeom prst="rect">
            <a:avLst/>
          </a:prstGeom>
          <a:noFill/>
        </p:spPr>
        <p:txBody>
          <a:bodyPr wrap="none" rtlCol="0">
            <a:spAutoFit/>
          </a:bodyPr>
          <a:lstStyle/>
          <a:p>
            <a:pPr algn="ctr"/>
            <a:r>
              <a:rPr lang="en-US" sz="1050" dirty="0"/>
              <a:t>Dr. </a:t>
            </a:r>
            <a:r>
              <a:rPr lang="en-US" sz="1050" dirty="0" err="1"/>
              <a:t>Fengwei</a:t>
            </a:r>
            <a:r>
              <a:rPr lang="en-US" sz="1050" dirty="0"/>
              <a:t> Zhang</a:t>
            </a:r>
          </a:p>
          <a:p>
            <a:pPr algn="ctr"/>
            <a:r>
              <a:rPr lang="en-US" sz="1050" dirty="0"/>
              <a:t>PI, Shenzhen side</a:t>
            </a:r>
          </a:p>
        </p:txBody>
      </p:sp>
      <p:sp>
        <p:nvSpPr>
          <p:cNvPr id="20" name="TextBox 19">
            <a:extLst>
              <a:ext uri="{FF2B5EF4-FFF2-40B4-BE49-F238E27FC236}">
                <a16:creationId xmlns:a16="http://schemas.microsoft.com/office/drawing/2014/main" id="{2CDEECBC-6D03-4904-BAD8-1E6B9B380179}"/>
              </a:ext>
            </a:extLst>
          </p:cNvPr>
          <p:cNvSpPr txBox="1"/>
          <p:nvPr/>
        </p:nvSpPr>
        <p:spPr>
          <a:xfrm>
            <a:off x="6695826" y="4257361"/>
            <a:ext cx="827471" cy="253916"/>
          </a:xfrm>
          <a:prstGeom prst="rect">
            <a:avLst/>
          </a:prstGeom>
          <a:noFill/>
        </p:spPr>
        <p:txBody>
          <a:bodyPr wrap="none" rtlCol="0">
            <a:spAutoFit/>
          </a:bodyPr>
          <a:lstStyle/>
          <a:p>
            <a:pPr algn="ctr"/>
            <a:r>
              <a:rPr lang="en-US" sz="1050" dirty="0" err="1"/>
              <a:t>Jianyu</a:t>
            </a:r>
            <a:r>
              <a:rPr lang="en-US" sz="1050" dirty="0"/>
              <a:t> Jiang</a:t>
            </a:r>
          </a:p>
        </p:txBody>
      </p:sp>
      <p:sp>
        <p:nvSpPr>
          <p:cNvPr id="21" name="TextBox 20">
            <a:extLst>
              <a:ext uri="{FF2B5EF4-FFF2-40B4-BE49-F238E27FC236}">
                <a16:creationId xmlns:a16="http://schemas.microsoft.com/office/drawing/2014/main" id="{C30A6A75-6AA9-4087-86DF-069844B0BE04}"/>
              </a:ext>
            </a:extLst>
          </p:cNvPr>
          <p:cNvSpPr txBox="1"/>
          <p:nvPr/>
        </p:nvSpPr>
        <p:spPr>
          <a:xfrm>
            <a:off x="8083863" y="4249194"/>
            <a:ext cx="663964" cy="253916"/>
          </a:xfrm>
          <a:prstGeom prst="rect">
            <a:avLst/>
          </a:prstGeom>
          <a:noFill/>
        </p:spPr>
        <p:txBody>
          <a:bodyPr wrap="none" rtlCol="0">
            <a:spAutoFit/>
          </a:bodyPr>
          <a:lstStyle/>
          <a:p>
            <a:pPr algn="ctr"/>
            <a:r>
              <a:rPr lang="en-US" sz="1050" dirty="0"/>
              <a:t>Tsz On Li</a:t>
            </a:r>
          </a:p>
        </p:txBody>
      </p:sp>
      <p:sp>
        <p:nvSpPr>
          <p:cNvPr id="28" name="TextBox 27">
            <a:extLst>
              <a:ext uri="{FF2B5EF4-FFF2-40B4-BE49-F238E27FC236}">
                <a16:creationId xmlns:a16="http://schemas.microsoft.com/office/drawing/2014/main" id="{A1A9E57A-FF22-4E07-80A9-BD38E131EC8F}"/>
              </a:ext>
            </a:extLst>
          </p:cNvPr>
          <p:cNvSpPr txBox="1"/>
          <p:nvPr/>
        </p:nvSpPr>
        <p:spPr>
          <a:xfrm>
            <a:off x="6652992" y="5481999"/>
            <a:ext cx="962123" cy="253916"/>
          </a:xfrm>
          <a:prstGeom prst="rect">
            <a:avLst/>
          </a:prstGeom>
          <a:noFill/>
        </p:spPr>
        <p:txBody>
          <a:bodyPr wrap="none" rtlCol="0">
            <a:spAutoFit/>
          </a:bodyPr>
          <a:lstStyle/>
          <a:p>
            <a:pPr algn="ctr"/>
            <a:r>
              <a:rPr lang="en-US" sz="1050" dirty="0" err="1"/>
              <a:t>Xusheng</a:t>
            </a:r>
            <a:r>
              <a:rPr lang="en-US" sz="1050" dirty="0"/>
              <a:t> Chen</a:t>
            </a:r>
          </a:p>
        </p:txBody>
      </p:sp>
      <p:sp>
        <p:nvSpPr>
          <p:cNvPr id="29" name="TextBox 28">
            <a:extLst>
              <a:ext uri="{FF2B5EF4-FFF2-40B4-BE49-F238E27FC236}">
                <a16:creationId xmlns:a16="http://schemas.microsoft.com/office/drawing/2014/main" id="{CBC39E0B-8E47-4C5B-8780-F9C3DD758AFB}"/>
              </a:ext>
            </a:extLst>
          </p:cNvPr>
          <p:cNvSpPr txBox="1"/>
          <p:nvPr/>
        </p:nvSpPr>
        <p:spPr>
          <a:xfrm>
            <a:off x="7938438" y="5481997"/>
            <a:ext cx="1003801" cy="253916"/>
          </a:xfrm>
          <a:prstGeom prst="rect">
            <a:avLst/>
          </a:prstGeom>
          <a:noFill/>
        </p:spPr>
        <p:txBody>
          <a:bodyPr wrap="none" rtlCol="0">
            <a:spAutoFit/>
          </a:bodyPr>
          <a:lstStyle/>
          <a:p>
            <a:pPr algn="ctr"/>
            <a:r>
              <a:rPr lang="en-US" sz="1050" dirty="0" err="1"/>
              <a:t>Tianxiang</a:t>
            </a:r>
            <a:r>
              <a:rPr lang="en-US" sz="1050" dirty="0"/>
              <a:t> Shen</a:t>
            </a:r>
          </a:p>
        </p:txBody>
      </p:sp>
      <p:pic>
        <p:nvPicPr>
          <p:cNvPr id="30" name="Picture 29">
            <a:extLst>
              <a:ext uri="{FF2B5EF4-FFF2-40B4-BE49-F238E27FC236}">
                <a16:creationId xmlns:a16="http://schemas.microsoft.com/office/drawing/2014/main" id="{57FB3A20-1915-4F43-B3E1-4F58B3EDA283}"/>
              </a:ext>
            </a:extLst>
          </p:cNvPr>
          <p:cNvPicPr>
            <a:picLocks noChangeAspect="1"/>
          </p:cNvPicPr>
          <p:nvPr/>
        </p:nvPicPr>
        <p:blipFill>
          <a:blip r:embed="rId7"/>
          <a:stretch>
            <a:fillRect/>
          </a:stretch>
        </p:blipFill>
        <p:spPr>
          <a:xfrm>
            <a:off x="6782297" y="4552433"/>
            <a:ext cx="687192" cy="982946"/>
          </a:xfrm>
          <a:prstGeom prst="rect">
            <a:avLst/>
          </a:prstGeom>
        </p:spPr>
      </p:pic>
      <p:pic>
        <p:nvPicPr>
          <p:cNvPr id="32" name="Picture 31">
            <a:extLst>
              <a:ext uri="{FF2B5EF4-FFF2-40B4-BE49-F238E27FC236}">
                <a16:creationId xmlns:a16="http://schemas.microsoft.com/office/drawing/2014/main" id="{F3E4455C-6171-419F-8AE2-C1010EBB66E6}"/>
              </a:ext>
            </a:extLst>
          </p:cNvPr>
          <p:cNvPicPr>
            <a:picLocks noChangeAspect="1"/>
          </p:cNvPicPr>
          <p:nvPr/>
        </p:nvPicPr>
        <p:blipFill>
          <a:blip r:embed="rId8"/>
          <a:stretch>
            <a:fillRect/>
          </a:stretch>
        </p:blipFill>
        <p:spPr>
          <a:xfrm>
            <a:off x="8077433" y="4541201"/>
            <a:ext cx="719310" cy="982946"/>
          </a:xfrm>
          <a:prstGeom prst="rect">
            <a:avLst/>
          </a:prstGeom>
        </p:spPr>
      </p:pic>
      <p:graphicFrame>
        <p:nvGraphicFramePr>
          <p:cNvPr id="3" name="Table 3">
            <a:extLst>
              <a:ext uri="{FF2B5EF4-FFF2-40B4-BE49-F238E27FC236}">
                <a16:creationId xmlns:a16="http://schemas.microsoft.com/office/drawing/2014/main" id="{2C9C4EE3-B78A-405B-8B34-FA2B1B2F8D96}"/>
              </a:ext>
            </a:extLst>
          </p:cNvPr>
          <p:cNvGraphicFramePr>
            <a:graphicFrameLocks noGrp="1"/>
          </p:cNvGraphicFramePr>
          <p:nvPr/>
        </p:nvGraphicFramePr>
        <p:xfrm>
          <a:off x="285948" y="1881413"/>
          <a:ext cx="6096000" cy="4162143"/>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428436324"/>
                    </a:ext>
                  </a:extLst>
                </a:gridCol>
                <a:gridCol w="2032000">
                  <a:extLst>
                    <a:ext uri="{9D8B030D-6E8A-4147-A177-3AD203B41FA5}">
                      <a16:colId xmlns:a16="http://schemas.microsoft.com/office/drawing/2014/main" val="4192854589"/>
                    </a:ext>
                  </a:extLst>
                </a:gridCol>
                <a:gridCol w="2032000">
                  <a:extLst>
                    <a:ext uri="{9D8B030D-6E8A-4147-A177-3AD203B41FA5}">
                      <a16:colId xmlns:a16="http://schemas.microsoft.com/office/drawing/2014/main" val="1968103036"/>
                    </a:ext>
                  </a:extLst>
                </a:gridCol>
              </a:tblGrid>
              <a:tr h="602027">
                <a:tc>
                  <a:txBody>
                    <a:bodyPr/>
                    <a:lstStyle/>
                    <a:p>
                      <a:r>
                        <a:rPr lang="en-HK" sz="1400" dirty="0"/>
                        <a:t>Items</a:t>
                      </a:r>
                    </a:p>
                  </a:txBody>
                  <a:tcPr marL="68580" marR="68580" marT="34290" marB="34290"/>
                </a:tc>
                <a:tc>
                  <a:txBody>
                    <a:bodyPr/>
                    <a:lstStyle/>
                    <a:p>
                      <a:r>
                        <a:rPr lang="en-HK" sz="1400" b="1" dirty="0"/>
                        <a:t>Total (HKD $3,300,000)</a:t>
                      </a:r>
                    </a:p>
                  </a:txBody>
                  <a:tcPr marL="68580" marR="68580" marT="34290" marB="34290"/>
                </a:tc>
                <a:tc>
                  <a:txBody>
                    <a:bodyPr/>
                    <a:lstStyle/>
                    <a:p>
                      <a:r>
                        <a:rPr lang="en-HK" sz="1400" dirty="0"/>
                        <a:t>Note</a:t>
                      </a:r>
                    </a:p>
                  </a:txBody>
                  <a:tcPr marL="68580" marR="68580" marT="34290" marB="34290"/>
                </a:tc>
                <a:extLst>
                  <a:ext uri="{0D108BD9-81ED-4DB2-BD59-A6C34878D82A}">
                    <a16:rowId xmlns:a16="http://schemas.microsoft.com/office/drawing/2014/main" val="2960155335"/>
                  </a:ext>
                </a:extLst>
              </a:tr>
              <a:tr h="685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sz="1400" dirty="0"/>
                        <a:t>Research postgraduate (RPG) students and RA</a:t>
                      </a:r>
                    </a:p>
                  </a:txBody>
                  <a:tcPr marL="68580" marR="68580" marT="34290" marB="34290"/>
                </a:tc>
                <a:tc>
                  <a:txBody>
                    <a:bodyPr/>
                    <a:lstStyle/>
                    <a:p>
                      <a:r>
                        <a:rPr lang="en-HK" sz="1400" b="1" dirty="0"/>
                        <a:t>$2,400,000</a:t>
                      </a:r>
                    </a:p>
                  </a:txBody>
                  <a:tcPr marL="68580" marR="68580" marT="34290" marB="34290"/>
                </a:tc>
                <a:tc>
                  <a:txBody>
                    <a:bodyPr/>
                    <a:lstStyle/>
                    <a:p>
                      <a:r>
                        <a:rPr lang="en-HK" sz="1400" dirty="0"/>
                        <a:t>Hire 4 research postgraduate students and 2 research assistants</a:t>
                      </a:r>
                    </a:p>
                  </a:txBody>
                  <a:tcPr marL="68580" marR="68580" marT="34290" marB="34290"/>
                </a:tc>
                <a:extLst>
                  <a:ext uri="{0D108BD9-81ED-4DB2-BD59-A6C34878D82A}">
                    <a16:rowId xmlns:a16="http://schemas.microsoft.com/office/drawing/2014/main" val="212402390"/>
                  </a:ext>
                </a:extLst>
              </a:tr>
              <a:tr h="610388">
                <a:tc>
                  <a:txBody>
                    <a:bodyPr/>
                    <a:lstStyle/>
                    <a:p>
                      <a:r>
                        <a:rPr lang="en-HK" sz="1400" dirty="0"/>
                        <a:t>Equipment cost</a:t>
                      </a:r>
                    </a:p>
                  </a:txBody>
                  <a:tcPr marL="68580" marR="68580" marT="34290" marB="34290"/>
                </a:tc>
                <a:tc>
                  <a:txBody>
                    <a:bodyPr/>
                    <a:lstStyle/>
                    <a:p>
                      <a:r>
                        <a:rPr lang="en-HK" sz="1400" b="1" dirty="0"/>
                        <a:t>$284,600</a:t>
                      </a:r>
                    </a:p>
                  </a:txBody>
                  <a:tcPr marL="68580" marR="68580" marT="34290" marB="34290"/>
                </a:tc>
                <a:tc>
                  <a:txBody>
                    <a:bodyPr/>
                    <a:lstStyle/>
                    <a:p>
                      <a:r>
                        <a:rPr lang="en-HK" sz="1400" dirty="0"/>
                        <a:t>Purchase computer servers and desktop computers</a:t>
                      </a:r>
                    </a:p>
                  </a:txBody>
                  <a:tcPr marL="68580" marR="68580" marT="34290" marB="34290"/>
                </a:tc>
                <a:extLst>
                  <a:ext uri="{0D108BD9-81ED-4DB2-BD59-A6C34878D82A}">
                    <a16:rowId xmlns:a16="http://schemas.microsoft.com/office/drawing/2014/main" val="3602971072"/>
                  </a:ext>
                </a:extLst>
              </a:tr>
              <a:tr h="685800">
                <a:tc>
                  <a:txBody>
                    <a:bodyPr/>
                    <a:lstStyle/>
                    <a:p>
                      <a:r>
                        <a:rPr lang="en-US" sz="1400" dirty="0"/>
                        <a:t>Other direct cost</a:t>
                      </a:r>
                    </a:p>
                  </a:txBody>
                  <a:tcPr marL="68580" marR="68580" marT="34290" marB="34290"/>
                </a:tc>
                <a:tc>
                  <a:txBody>
                    <a:bodyPr/>
                    <a:lstStyle/>
                    <a:p>
                      <a:r>
                        <a:rPr lang="en-US" sz="1400" b="1" dirty="0"/>
                        <a:t>$228,000</a:t>
                      </a:r>
                    </a:p>
                  </a:txBody>
                  <a:tcPr marL="68580" marR="68580" marT="34290" marB="34290"/>
                </a:tc>
                <a:tc>
                  <a:txBody>
                    <a:bodyPr/>
                    <a:lstStyle/>
                    <a:p>
                      <a:r>
                        <a:rPr lang="en-US" sz="1400" dirty="0"/>
                        <a:t>Attend conferences, general expenses, external expert visitors, auditing</a:t>
                      </a:r>
                    </a:p>
                  </a:txBody>
                  <a:tcPr marL="68580" marR="68580" marT="34290" marB="34290"/>
                </a:tc>
                <a:extLst>
                  <a:ext uri="{0D108BD9-81ED-4DB2-BD59-A6C34878D82A}">
                    <a16:rowId xmlns:a16="http://schemas.microsoft.com/office/drawing/2014/main" val="2775036324"/>
                  </a:ext>
                </a:extLst>
              </a:tr>
              <a:tr h="610388">
                <a:tc>
                  <a:txBody>
                    <a:bodyPr/>
                    <a:lstStyle/>
                    <a:p>
                      <a:r>
                        <a:rPr lang="en-US" sz="1400" dirty="0"/>
                        <a:t>HKU admin cost</a:t>
                      </a:r>
                    </a:p>
                  </a:txBody>
                  <a:tcPr marL="68580" marR="68580" marT="34290" marB="34290"/>
                </a:tc>
                <a:tc>
                  <a:txBody>
                    <a:bodyPr/>
                    <a:lstStyle/>
                    <a:p>
                      <a:r>
                        <a:rPr lang="en-US" sz="1400" b="1" dirty="0"/>
                        <a:t>$387,400</a:t>
                      </a:r>
                    </a:p>
                  </a:txBody>
                  <a:tcPr marL="68580" marR="68580" marT="34290" marB="34290"/>
                </a:tc>
                <a:tc>
                  <a:txBody>
                    <a:bodyPr/>
                    <a:lstStyle/>
                    <a:p>
                      <a:r>
                        <a:rPr lang="en-US" sz="1400" dirty="0"/>
                        <a:t>University overhead</a:t>
                      </a:r>
                    </a:p>
                  </a:txBody>
                  <a:tcPr marL="68580" marR="68580" marT="34290" marB="34290"/>
                </a:tc>
                <a:extLst>
                  <a:ext uri="{0D108BD9-81ED-4DB2-BD59-A6C34878D82A}">
                    <a16:rowId xmlns:a16="http://schemas.microsoft.com/office/drawing/2014/main" val="3520515306"/>
                  </a:ext>
                </a:extLst>
              </a:tr>
              <a:tr h="610388">
                <a:tc>
                  <a:txBody>
                    <a:bodyPr/>
                    <a:lstStyle/>
                    <a:p>
                      <a:r>
                        <a:rPr lang="en-US" sz="1400" dirty="0"/>
                        <a:t>Huawei donation</a:t>
                      </a:r>
                    </a:p>
                  </a:txBody>
                  <a:tcPr marL="68580" marR="68580" marT="34290" marB="34290"/>
                </a:tc>
                <a:tc>
                  <a:txBody>
                    <a:bodyPr/>
                    <a:lstStyle/>
                    <a:p>
                      <a:r>
                        <a:rPr lang="en-US" sz="1400" dirty="0"/>
                        <a:t>$330,000</a:t>
                      </a:r>
                    </a:p>
                  </a:txBody>
                  <a:tcPr marL="68580" marR="68580" marT="34290" marB="34290"/>
                </a:tc>
                <a:tc>
                  <a:txBody>
                    <a:bodyPr/>
                    <a:lstStyle/>
                    <a:p>
                      <a:r>
                        <a:rPr lang="en-US" sz="1400" dirty="0"/>
                        <a:t>10% matching</a:t>
                      </a:r>
                    </a:p>
                  </a:txBody>
                  <a:tcPr marL="68580" marR="68580" marT="34290" marB="34290"/>
                </a:tc>
                <a:extLst>
                  <a:ext uri="{0D108BD9-81ED-4DB2-BD59-A6C34878D82A}">
                    <a16:rowId xmlns:a16="http://schemas.microsoft.com/office/drawing/2014/main" val="1020081293"/>
                  </a:ext>
                </a:extLst>
              </a:tr>
            </a:tbl>
          </a:graphicData>
        </a:graphic>
      </p:graphicFrame>
      <p:sp>
        <p:nvSpPr>
          <p:cNvPr id="4" name="Slide Number Placeholder 3">
            <a:extLst>
              <a:ext uri="{FF2B5EF4-FFF2-40B4-BE49-F238E27FC236}">
                <a16:creationId xmlns:a16="http://schemas.microsoft.com/office/drawing/2014/main" id="{2379D570-D058-4096-A805-77F58E4CBFB4}"/>
              </a:ext>
            </a:extLst>
          </p:cNvPr>
          <p:cNvSpPr>
            <a:spLocks noGrp="1"/>
          </p:cNvSpPr>
          <p:nvPr>
            <p:ph type="sldNum" sz="quarter" idx="12"/>
          </p:nvPr>
        </p:nvSpPr>
        <p:spPr/>
        <p:txBody>
          <a:bodyPr/>
          <a:lstStyle/>
          <a:p>
            <a:fld id="{736B0C55-7D29-48EE-B0FE-2D733704D56D}" type="slidenum">
              <a:rPr lang="en-HK" smtClean="0"/>
              <a:t>5</a:t>
            </a:fld>
            <a:endParaRPr lang="en-HK"/>
          </a:p>
        </p:txBody>
      </p:sp>
    </p:spTree>
    <p:extLst>
      <p:ext uri="{BB962C8B-B14F-4D97-AF65-F5344CB8AC3E}">
        <p14:creationId xmlns:p14="http://schemas.microsoft.com/office/powerpoint/2010/main" val="933025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F12644-B5FA-6885-0EAC-D46359A082AF}"/>
              </a:ext>
            </a:extLst>
          </p:cNvPr>
          <p:cNvSpPr>
            <a:spLocks noGrp="1"/>
          </p:cNvSpPr>
          <p:nvPr>
            <p:ph type="title"/>
          </p:nvPr>
        </p:nvSpPr>
        <p:spPr/>
        <p:txBody>
          <a:bodyPr>
            <a:normAutofit fontScale="90000"/>
          </a:bodyPr>
          <a:lstStyle/>
          <a:p>
            <a:r>
              <a:rPr lang="en-US" altLang="zh-CN" dirty="0"/>
              <a:t>(b) Detailed Research Progress:</a:t>
            </a:r>
            <a:br>
              <a:rPr lang="en-US" altLang="zh-CN" dirty="0"/>
            </a:br>
            <a:r>
              <a:rPr lang="en-US" altLang="zh-CN" dirty="0"/>
              <a:t>Milestones, Workplans, Dates</a:t>
            </a:r>
            <a:endParaRPr lang="zh-CN" altLang="en-US" dirty="0"/>
          </a:p>
        </p:txBody>
      </p:sp>
      <p:sp>
        <p:nvSpPr>
          <p:cNvPr id="3" name="内容占位符 2">
            <a:extLst>
              <a:ext uri="{FF2B5EF4-FFF2-40B4-BE49-F238E27FC236}">
                <a16:creationId xmlns:a16="http://schemas.microsoft.com/office/drawing/2014/main" id="{C06E0E17-B309-4882-5FC9-134201855405}"/>
              </a:ext>
            </a:extLst>
          </p:cNvPr>
          <p:cNvSpPr>
            <a:spLocks noGrp="1"/>
          </p:cNvSpPr>
          <p:nvPr>
            <p:ph idx="1"/>
          </p:nvPr>
        </p:nvSpPr>
        <p:spPr/>
        <p:txBody>
          <a:bodyPr>
            <a:normAutofit fontScale="85000" lnSpcReduction="10000"/>
          </a:bodyPr>
          <a:lstStyle/>
          <a:p>
            <a:r>
              <a:rPr lang="zh-TW" altLang="en-US" dirty="0"/>
              <a:t>（</a:t>
            </a:r>
            <a:r>
              <a:rPr lang="en-US" altLang="zh-TW" dirty="0"/>
              <a:t>01/06/2022 -- 30/11/2022</a:t>
            </a:r>
            <a:r>
              <a:rPr lang="zh-TW" altLang="en-US" dirty="0"/>
              <a:t>）</a:t>
            </a:r>
          </a:p>
          <a:p>
            <a:r>
              <a:rPr lang="en-US" altLang="zh-TW" dirty="0"/>
              <a:t>1. </a:t>
            </a:r>
            <a:r>
              <a:rPr lang="zh-TW" altLang="en-US" dirty="0"/>
              <a:t>基於</a:t>
            </a:r>
            <a:r>
              <a:rPr lang="zh-TW" altLang="en-US" b="1" dirty="0">
                <a:solidFill>
                  <a:srgbClr val="FF0000"/>
                </a:solidFill>
              </a:rPr>
              <a:t>高級編程語言</a:t>
            </a:r>
            <a:r>
              <a:rPr lang="zh-TW" altLang="en-US" dirty="0"/>
              <a:t>（包括</a:t>
            </a:r>
            <a:r>
              <a:rPr lang="en-US" altLang="zh-TW" dirty="0"/>
              <a:t>Java</a:t>
            </a:r>
            <a:r>
              <a:rPr lang="zh-TW" altLang="en-US" dirty="0"/>
              <a:t>和</a:t>
            </a:r>
            <a:r>
              <a:rPr lang="en-US" altLang="zh-TW" dirty="0"/>
              <a:t>Python</a:t>
            </a:r>
            <a:r>
              <a:rPr lang="zh-TW" altLang="en-US" dirty="0"/>
              <a:t>），設計與實現</a:t>
            </a:r>
            <a:r>
              <a:rPr lang="en-US" altLang="zh-TW" dirty="0"/>
              <a:t>UTEE</a:t>
            </a:r>
            <a:r>
              <a:rPr lang="zh-TW" altLang="en-US" dirty="0"/>
              <a:t>可使“</a:t>
            </a:r>
            <a:r>
              <a:rPr lang="zh-TW" altLang="en-US" b="1" dirty="0">
                <a:solidFill>
                  <a:srgbClr val="FF0000"/>
                </a:solidFill>
              </a:rPr>
              <a:t>可信計算基礎</a:t>
            </a:r>
            <a:r>
              <a:rPr lang="zh-TW" altLang="en-US" dirty="0"/>
              <a:t>”最小化、即安全性最大化的新型標註式編程技術及其安全協議，可僅將典型大數據引擎（包括</a:t>
            </a:r>
            <a:r>
              <a:rPr lang="en-US" altLang="zh-TW" dirty="0"/>
              <a:t>Spark</a:t>
            </a:r>
            <a:r>
              <a:rPr lang="zh-TW" altLang="en-US" dirty="0"/>
              <a:t>）的查詢算子代碼運行於可信執行環境中。</a:t>
            </a:r>
            <a:endParaRPr lang="en-US" altLang="zh-TW" dirty="0"/>
          </a:p>
          <a:p>
            <a:r>
              <a:rPr lang="zh-TW" altLang="en-US" dirty="0"/>
              <a:t>（</a:t>
            </a:r>
            <a:r>
              <a:rPr lang="en-US" altLang="zh-TW" dirty="0"/>
              <a:t>01/12/2022 -- 31/05/2023</a:t>
            </a:r>
            <a:r>
              <a:rPr lang="zh-TW" altLang="en-US" dirty="0"/>
              <a:t>）</a:t>
            </a:r>
          </a:p>
          <a:p>
            <a:r>
              <a:rPr lang="en-US" altLang="zh-TW" dirty="0"/>
              <a:t>2. </a:t>
            </a:r>
            <a:r>
              <a:rPr lang="zh-TW" altLang="en-US" dirty="0"/>
              <a:t>設計與實現可對</a:t>
            </a:r>
            <a:r>
              <a:rPr lang="zh-TW" altLang="en-US" b="1" dirty="0">
                <a:solidFill>
                  <a:srgbClr val="FF0000"/>
                </a:solidFill>
              </a:rPr>
              <a:t>典型大數據</a:t>
            </a:r>
            <a:r>
              <a:rPr lang="zh-TW" altLang="en-US" dirty="0"/>
              <a:t>引擎運行在</a:t>
            </a:r>
            <a:r>
              <a:rPr lang="en-US" altLang="zh-TW" b="1" dirty="0">
                <a:solidFill>
                  <a:srgbClr val="FF0000"/>
                </a:solidFill>
              </a:rPr>
              <a:t>UTEE</a:t>
            </a:r>
            <a:r>
              <a:rPr lang="zh-TW" altLang="en-US" b="1" dirty="0">
                <a:solidFill>
                  <a:srgbClr val="FF0000"/>
                </a:solidFill>
              </a:rPr>
              <a:t>可信執行環境內部</a:t>
            </a:r>
            <a:r>
              <a:rPr lang="zh-TW" altLang="en-US" dirty="0"/>
              <a:t>的大數據查詢算子及其相關代碼，以及大數據引擎運行在此環境外部的代碼，進行運行指令、數據等自動</a:t>
            </a:r>
            <a:r>
              <a:rPr lang="zh-TW" altLang="en-US" b="1" dirty="0">
                <a:solidFill>
                  <a:srgbClr val="FF0000"/>
                </a:solidFill>
              </a:rPr>
              <a:t>安全隔離</a:t>
            </a:r>
            <a:r>
              <a:rPr lang="zh-TW" altLang="en-US" dirty="0"/>
              <a:t>算法和協議。</a:t>
            </a:r>
            <a:endParaRPr lang="en-US" altLang="zh-TW" dirty="0"/>
          </a:p>
          <a:p>
            <a:endParaRPr lang="zh-CN" altLang="en-US" dirty="0"/>
          </a:p>
        </p:txBody>
      </p:sp>
      <p:sp>
        <p:nvSpPr>
          <p:cNvPr id="4" name="灯片编号占位符 3">
            <a:extLst>
              <a:ext uri="{FF2B5EF4-FFF2-40B4-BE49-F238E27FC236}">
                <a16:creationId xmlns:a16="http://schemas.microsoft.com/office/drawing/2014/main" id="{575EBB52-CCE1-E79C-9E1C-1B73C88DA58A}"/>
              </a:ext>
            </a:extLst>
          </p:cNvPr>
          <p:cNvSpPr>
            <a:spLocks noGrp="1"/>
          </p:cNvSpPr>
          <p:nvPr>
            <p:ph type="sldNum" sz="quarter" idx="12"/>
          </p:nvPr>
        </p:nvSpPr>
        <p:spPr/>
        <p:txBody>
          <a:bodyPr/>
          <a:lstStyle/>
          <a:p>
            <a:fld id="{D1462865-C5DA-4615-B020-DFBD3C2DE77A}" type="slidenum">
              <a:rPr lang="en-US" smtClean="0"/>
              <a:t>6</a:t>
            </a:fld>
            <a:endParaRPr lang="en-US" dirty="0"/>
          </a:p>
        </p:txBody>
      </p:sp>
    </p:spTree>
    <p:extLst>
      <p:ext uri="{BB962C8B-B14F-4D97-AF65-F5344CB8AC3E}">
        <p14:creationId xmlns:p14="http://schemas.microsoft.com/office/powerpoint/2010/main" val="1380561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F12644-B5FA-6885-0EAC-D46359A082AF}"/>
              </a:ext>
            </a:extLst>
          </p:cNvPr>
          <p:cNvSpPr>
            <a:spLocks noGrp="1"/>
          </p:cNvSpPr>
          <p:nvPr>
            <p:ph type="title"/>
          </p:nvPr>
        </p:nvSpPr>
        <p:spPr/>
        <p:txBody>
          <a:bodyPr>
            <a:normAutofit fontScale="90000"/>
          </a:bodyPr>
          <a:lstStyle/>
          <a:p>
            <a:r>
              <a:rPr lang="en-US" altLang="zh-CN" dirty="0"/>
              <a:t>(b) Detailed Research Progress:</a:t>
            </a:r>
            <a:br>
              <a:rPr lang="en-US" altLang="zh-CN" dirty="0"/>
            </a:br>
            <a:r>
              <a:rPr lang="en-US" altLang="zh-CN" dirty="0"/>
              <a:t>Achieved Technical Targets with Dates</a:t>
            </a:r>
            <a:endParaRPr lang="zh-CN" altLang="en-US" dirty="0"/>
          </a:p>
        </p:txBody>
      </p:sp>
      <p:sp>
        <p:nvSpPr>
          <p:cNvPr id="3" name="内容占位符 2">
            <a:extLst>
              <a:ext uri="{FF2B5EF4-FFF2-40B4-BE49-F238E27FC236}">
                <a16:creationId xmlns:a16="http://schemas.microsoft.com/office/drawing/2014/main" id="{C06E0E17-B309-4882-5FC9-134201855405}"/>
              </a:ext>
            </a:extLst>
          </p:cNvPr>
          <p:cNvSpPr>
            <a:spLocks noGrp="1"/>
          </p:cNvSpPr>
          <p:nvPr>
            <p:ph idx="1"/>
          </p:nvPr>
        </p:nvSpPr>
        <p:spPr/>
        <p:txBody>
          <a:bodyPr>
            <a:normAutofit fontScale="70000" lnSpcReduction="20000"/>
          </a:bodyPr>
          <a:lstStyle/>
          <a:p>
            <a:r>
              <a:rPr lang="zh-TW" altLang="en-US" dirty="0"/>
              <a:t>（</a:t>
            </a:r>
            <a:r>
              <a:rPr lang="en-US" altLang="zh-TW" dirty="0"/>
              <a:t>01/06/2022 -- 30/11/2022</a:t>
            </a:r>
            <a:r>
              <a:rPr lang="zh-TW" altLang="en-US" dirty="0"/>
              <a:t>）</a:t>
            </a:r>
          </a:p>
          <a:p>
            <a:r>
              <a:rPr lang="zh-TW" altLang="en-US" dirty="0"/>
              <a:t>（</a:t>
            </a:r>
            <a:r>
              <a:rPr lang="en-US" altLang="zh-TW" dirty="0"/>
              <a:t>1</a:t>
            </a:r>
            <a:r>
              <a:rPr lang="zh-TW" altLang="en-US" dirty="0"/>
              <a:t>）</a:t>
            </a:r>
            <a:r>
              <a:rPr lang="en-US" altLang="zh-TW" dirty="0"/>
              <a:t>UTEE</a:t>
            </a:r>
            <a:r>
              <a:rPr lang="zh-TW" altLang="en-US" dirty="0"/>
              <a:t>可自動將標註的、全球通用的大數據引擎（包括</a:t>
            </a:r>
            <a:r>
              <a:rPr lang="en-US" altLang="zh-TW" dirty="0"/>
              <a:t>Spark</a:t>
            </a:r>
            <a:r>
              <a:rPr lang="zh-TW" altLang="en-US" dirty="0"/>
              <a:t>，</a:t>
            </a:r>
            <a:r>
              <a:rPr lang="en-US" altLang="zh-TW" dirty="0"/>
              <a:t>Storm</a:t>
            </a:r>
            <a:r>
              <a:rPr lang="zh-TW" altLang="en-US" dirty="0"/>
              <a:t>和</a:t>
            </a:r>
            <a:r>
              <a:rPr lang="en-US" altLang="zh-TW" dirty="0" err="1"/>
              <a:t>Flink</a:t>
            </a:r>
            <a:r>
              <a:rPr lang="zh-TW" altLang="en-US" dirty="0"/>
              <a:t>）查詢算子代碼及其相關必需代碼庫，自動載入並運行於</a:t>
            </a:r>
            <a:r>
              <a:rPr lang="en-US" altLang="zh-TW" dirty="0"/>
              <a:t>UTEE</a:t>
            </a:r>
            <a:r>
              <a:rPr lang="zh-TW" altLang="en-US" dirty="0"/>
              <a:t>管理的可信執行環境內；（</a:t>
            </a:r>
            <a:r>
              <a:rPr lang="en-US" altLang="zh-TW" dirty="0"/>
              <a:t>2</a:t>
            </a:r>
            <a:r>
              <a:rPr lang="zh-TW" altLang="en-US" dirty="0"/>
              <a:t>）</a:t>
            </a:r>
            <a:r>
              <a:rPr lang="en-US" altLang="zh-TW" dirty="0"/>
              <a:t>UTEE</a:t>
            </a:r>
            <a:r>
              <a:rPr lang="zh-TW" altLang="en-US" dirty="0"/>
              <a:t>安全協議可對此載入代碼的完整性進行自動驗證；（</a:t>
            </a:r>
            <a:r>
              <a:rPr lang="en-US" altLang="zh-TW" dirty="0"/>
              <a:t>3</a:t>
            </a:r>
            <a:r>
              <a:rPr lang="zh-TW" altLang="en-US" dirty="0"/>
              <a:t>）運行於可信執行環境中的</a:t>
            </a:r>
            <a:r>
              <a:rPr lang="en-US" altLang="zh-TW" dirty="0"/>
              <a:t>UTEE</a:t>
            </a:r>
            <a:r>
              <a:rPr lang="zh-TW" altLang="en-US" dirty="0"/>
              <a:t>可信計算基礎，包括</a:t>
            </a:r>
            <a:r>
              <a:rPr lang="en-US" altLang="zh-TW" dirty="0"/>
              <a:t>UTEE</a:t>
            </a:r>
            <a:r>
              <a:rPr lang="zh-TW" altLang="en-US" dirty="0"/>
              <a:t>系統本身代碼，不超過四萬行，比全球其他競爭對手之可信計算基礎代碼總量，至少小一個數量級。</a:t>
            </a:r>
            <a:endParaRPr lang="en-US" altLang="zh-TW" dirty="0"/>
          </a:p>
          <a:p>
            <a:r>
              <a:rPr lang="zh-TW" altLang="en-US" dirty="0"/>
              <a:t>（</a:t>
            </a:r>
            <a:r>
              <a:rPr lang="en-US" altLang="zh-TW" dirty="0"/>
              <a:t>01/12/2022 -- 31/05/2023</a:t>
            </a:r>
            <a:r>
              <a:rPr lang="zh-TW" altLang="en-US" dirty="0"/>
              <a:t>）</a:t>
            </a:r>
          </a:p>
          <a:p>
            <a:r>
              <a:rPr lang="zh-TW" altLang="en-US" dirty="0"/>
              <a:t>（</a:t>
            </a:r>
            <a:r>
              <a:rPr lang="en-US" altLang="zh-TW" dirty="0"/>
              <a:t>1</a:t>
            </a:r>
            <a:r>
              <a:rPr lang="zh-TW" altLang="en-US" dirty="0"/>
              <a:t>）就算大數據查詢算子內代碼不慎嘗試將可信執行環境內部的任何數據寫到此環境外部，</a:t>
            </a:r>
            <a:r>
              <a:rPr lang="en-US" altLang="zh-TW" dirty="0"/>
              <a:t>UTEE</a:t>
            </a:r>
            <a:r>
              <a:rPr lang="zh-TW" altLang="en-US" dirty="0"/>
              <a:t>隔離算法可自動組織這些操作；（</a:t>
            </a:r>
            <a:r>
              <a:rPr lang="en-US" altLang="zh-TW" dirty="0"/>
              <a:t>2</a:t>
            </a:r>
            <a:r>
              <a:rPr lang="zh-TW" altLang="en-US" dirty="0"/>
              <a:t>）</a:t>
            </a:r>
            <a:r>
              <a:rPr lang="en-US" altLang="zh-TW" dirty="0"/>
              <a:t>UTEE</a:t>
            </a:r>
            <a:r>
              <a:rPr lang="zh-TW" altLang="en-US" dirty="0"/>
              <a:t>強隔離協議對運行於可信執行環境內的</a:t>
            </a:r>
            <a:r>
              <a:rPr lang="en-US" altLang="zh-TW" dirty="0"/>
              <a:t>Java</a:t>
            </a:r>
            <a:r>
              <a:rPr lang="zh-TW" altLang="en-US" dirty="0"/>
              <a:t>指令（比如大數據算子）的運行時性能開銷，不高於</a:t>
            </a:r>
            <a:r>
              <a:rPr lang="en-US" altLang="zh-TW" dirty="0"/>
              <a:t>5%</a:t>
            </a:r>
            <a:r>
              <a:rPr lang="zh-TW" altLang="en-US" dirty="0"/>
              <a:t>。</a:t>
            </a:r>
            <a:endParaRPr lang="zh-CN" altLang="en-US" dirty="0"/>
          </a:p>
        </p:txBody>
      </p:sp>
      <p:sp>
        <p:nvSpPr>
          <p:cNvPr id="4" name="灯片编号占位符 3">
            <a:extLst>
              <a:ext uri="{FF2B5EF4-FFF2-40B4-BE49-F238E27FC236}">
                <a16:creationId xmlns:a16="http://schemas.microsoft.com/office/drawing/2014/main" id="{575EBB52-CCE1-E79C-9E1C-1B73C88DA58A}"/>
              </a:ext>
            </a:extLst>
          </p:cNvPr>
          <p:cNvSpPr>
            <a:spLocks noGrp="1"/>
          </p:cNvSpPr>
          <p:nvPr>
            <p:ph type="sldNum" sz="quarter" idx="12"/>
          </p:nvPr>
        </p:nvSpPr>
        <p:spPr/>
        <p:txBody>
          <a:bodyPr/>
          <a:lstStyle/>
          <a:p>
            <a:fld id="{D1462865-C5DA-4615-B020-DFBD3C2DE77A}" type="slidenum">
              <a:rPr lang="en-US" smtClean="0"/>
              <a:t>7</a:t>
            </a:fld>
            <a:endParaRPr lang="en-US" dirty="0"/>
          </a:p>
        </p:txBody>
      </p:sp>
    </p:spTree>
    <p:extLst>
      <p:ext uri="{BB962C8B-B14F-4D97-AF65-F5344CB8AC3E}">
        <p14:creationId xmlns:p14="http://schemas.microsoft.com/office/powerpoint/2010/main" val="3994173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48A7C6-249E-C82A-E966-3594C5BE401E}"/>
              </a:ext>
            </a:extLst>
          </p:cNvPr>
          <p:cNvSpPr>
            <a:spLocks noGrp="1"/>
          </p:cNvSpPr>
          <p:nvPr>
            <p:ph type="title"/>
          </p:nvPr>
        </p:nvSpPr>
        <p:spPr/>
        <p:txBody>
          <a:bodyPr>
            <a:normAutofit fontScale="90000"/>
          </a:bodyPr>
          <a:lstStyle/>
          <a:p>
            <a:r>
              <a:rPr lang="en-US" altLang="zh-CN" dirty="0"/>
              <a:t>(c) Research Results:</a:t>
            </a:r>
            <a:br>
              <a:rPr lang="en-US" altLang="zh-CN" dirty="0"/>
            </a:br>
            <a:r>
              <a:rPr lang="en-US" altLang="zh-CN" dirty="0"/>
              <a:t>In Relation to Deliverables (Part 1/2)</a:t>
            </a:r>
            <a:endParaRPr lang="zh-CN" altLang="en-US" dirty="0"/>
          </a:p>
        </p:txBody>
      </p:sp>
      <p:sp>
        <p:nvSpPr>
          <p:cNvPr id="3" name="内容占位符 2">
            <a:extLst>
              <a:ext uri="{FF2B5EF4-FFF2-40B4-BE49-F238E27FC236}">
                <a16:creationId xmlns:a16="http://schemas.microsoft.com/office/drawing/2014/main" id="{CB5E76CB-5AE7-6747-4183-5AB360BF6319}"/>
              </a:ext>
            </a:extLst>
          </p:cNvPr>
          <p:cNvSpPr>
            <a:spLocks noGrp="1"/>
          </p:cNvSpPr>
          <p:nvPr>
            <p:ph idx="1"/>
          </p:nvPr>
        </p:nvSpPr>
        <p:spPr>
          <a:xfrm>
            <a:off x="457200" y="1600201"/>
            <a:ext cx="8229600" cy="964703"/>
          </a:xfrm>
        </p:spPr>
        <p:txBody>
          <a:bodyPr>
            <a:normAutofit fontScale="40000" lnSpcReduction="20000"/>
          </a:bodyPr>
          <a:lstStyle/>
          <a:p>
            <a:r>
              <a:rPr lang="zh-TW" altLang="en-US" dirty="0"/>
              <a:t>（</a:t>
            </a:r>
            <a:r>
              <a:rPr lang="en-US" altLang="zh-TW" dirty="0"/>
              <a:t>01/06/2022 -- 30/11/2022</a:t>
            </a:r>
            <a:r>
              <a:rPr lang="zh-TW" altLang="en-US" dirty="0"/>
              <a:t>）</a:t>
            </a:r>
            <a:endParaRPr lang="en-US" altLang="zh-TW" dirty="0"/>
          </a:p>
          <a:p>
            <a:r>
              <a:rPr lang="zh-TW" altLang="en-US" dirty="0"/>
              <a:t>（</a:t>
            </a:r>
            <a:r>
              <a:rPr lang="en-US" altLang="zh-TW" dirty="0"/>
              <a:t>1</a:t>
            </a:r>
            <a:r>
              <a:rPr lang="zh-TW" altLang="en-US" dirty="0"/>
              <a:t>）</a:t>
            </a:r>
            <a:r>
              <a:rPr lang="en-US" altLang="zh-TW" dirty="0"/>
              <a:t>UTEE</a:t>
            </a:r>
            <a:r>
              <a:rPr lang="zh-TW" altLang="en-US" dirty="0"/>
              <a:t>可</a:t>
            </a:r>
            <a:r>
              <a:rPr lang="zh-TW" altLang="en-US" b="1" dirty="0">
                <a:solidFill>
                  <a:srgbClr val="FF0000"/>
                </a:solidFill>
              </a:rPr>
              <a:t>自動</a:t>
            </a:r>
            <a:r>
              <a:rPr lang="zh-TW" altLang="en-US" dirty="0"/>
              <a:t>將標註的、全球通用的大數據引擎（包括</a:t>
            </a:r>
            <a:r>
              <a:rPr lang="en-US" altLang="zh-TW" dirty="0"/>
              <a:t>Spark</a:t>
            </a:r>
            <a:r>
              <a:rPr lang="zh-TW" altLang="en-US" dirty="0"/>
              <a:t>，</a:t>
            </a:r>
            <a:r>
              <a:rPr lang="en-US" altLang="zh-TW" dirty="0"/>
              <a:t>Storm</a:t>
            </a:r>
            <a:r>
              <a:rPr lang="zh-TW" altLang="en-US" dirty="0"/>
              <a:t>和</a:t>
            </a:r>
            <a:r>
              <a:rPr lang="en-US" altLang="zh-TW" dirty="0" err="1"/>
              <a:t>Flink</a:t>
            </a:r>
            <a:r>
              <a:rPr lang="zh-TW" altLang="en-US" dirty="0"/>
              <a:t>）</a:t>
            </a:r>
            <a:r>
              <a:rPr lang="zh-TW" altLang="en-US" b="1" dirty="0">
                <a:solidFill>
                  <a:srgbClr val="FF0000"/>
                </a:solidFill>
              </a:rPr>
              <a:t>查詢算子代碼及其相關必需代碼庫，自動載入並運行於</a:t>
            </a:r>
            <a:r>
              <a:rPr lang="en-US" altLang="zh-TW" b="1" dirty="0">
                <a:solidFill>
                  <a:srgbClr val="FF0000"/>
                </a:solidFill>
              </a:rPr>
              <a:t>UTEE</a:t>
            </a:r>
            <a:r>
              <a:rPr lang="zh-TW" altLang="en-US" b="1" dirty="0">
                <a:solidFill>
                  <a:srgbClr val="FF0000"/>
                </a:solidFill>
              </a:rPr>
              <a:t>管理的可信執行環境內</a:t>
            </a:r>
            <a:r>
              <a:rPr lang="zh-TW" altLang="en-US" dirty="0"/>
              <a:t>；（</a:t>
            </a:r>
            <a:r>
              <a:rPr lang="en-US" altLang="zh-TW" dirty="0"/>
              <a:t>2</a:t>
            </a:r>
            <a:r>
              <a:rPr lang="zh-TW" altLang="en-US" dirty="0"/>
              <a:t>）</a:t>
            </a:r>
            <a:r>
              <a:rPr lang="en-US" altLang="zh-TW" dirty="0"/>
              <a:t>UTEE</a:t>
            </a:r>
            <a:r>
              <a:rPr lang="zh-TW" altLang="en-US" dirty="0"/>
              <a:t>安全協議可對此載入代碼的完整性進行</a:t>
            </a:r>
            <a:r>
              <a:rPr lang="zh-TW" altLang="en-US" b="1" dirty="0">
                <a:solidFill>
                  <a:srgbClr val="FF0000"/>
                </a:solidFill>
              </a:rPr>
              <a:t>自動驗證</a:t>
            </a:r>
            <a:r>
              <a:rPr lang="zh-TW" altLang="en-US" dirty="0"/>
              <a:t>；（</a:t>
            </a:r>
            <a:r>
              <a:rPr lang="en-US" altLang="zh-TW" dirty="0"/>
              <a:t>3</a:t>
            </a:r>
            <a:r>
              <a:rPr lang="zh-TW" altLang="en-US" dirty="0"/>
              <a:t>）運行於可信執行環境中的</a:t>
            </a:r>
            <a:r>
              <a:rPr lang="en-US" altLang="zh-TW" b="1" dirty="0">
                <a:solidFill>
                  <a:srgbClr val="FF0000"/>
                </a:solidFill>
              </a:rPr>
              <a:t>UTEE</a:t>
            </a:r>
            <a:r>
              <a:rPr lang="zh-TW" altLang="en-US" b="1" dirty="0">
                <a:solidFill>
                  <a:srgbClr val="FF0000"/>
                </a:solidFill>
              </a:rPr>
              <a:t>可信計算基礎</a:t>
            </a:r>
            <a:r>
              <a:rPr lang="zh-TW" altLang="en-US" dirty="0"/>
              <a:t>，包括</a:t>
            </a:r>
            <a:r>
              <a:rPr lang="en-US" altLang="zh-TW" dirty="0"/>
              <a:t>UTEE</a:t>
            </a:r>
            <a:r>
              <a:rPr lang="zh-TW" altLang="en-US" dirty="0"/>
              <a:t>系統本身代碼，不超過四萬行，比全球其他競爭對手之可信計算基礎代碼總量，至少</a:t>
            </a:r>
            <a:r>
              <a:rPr lang="zh-TW" altLang="en-US" b="1" dirty="0">
                <a:solidFill>
                  <a:srgbClr val="FF0000"/>
                </a:solidFill>
              </a:rPr>
              <a:t>小一個數量級</a:t>
            </a:r>
            <a:r>
              <a:rPr lang="zh-TW" altLang="en-US" dirty="0"/>
              <a:t>。</a:t>
            </a:r>
            <a:endParaRPr lang="en-US" altLang="zh-TW" dirty="0"/>
          </a:p>
          <a:p>
            <a:endParaRPr lang="zh-CN" altLang="en-US" dirty="0"/>
          </a:p>
        </p:txBody>
      </p:sp>
      <p:sp>
        <p:nvSpPr>
          <p:cNvPr id="4" name="灯片编号占位符 3">
            <a:extLst>
              <a:ext uri="{FF2B5EF4-FFF2-40B4-BE49-F238E27FC236}">
                <a16:creationId xmlns:a16="http://schemas.microsoft.com/office/drawing/2014/main" id="{46659158-8205-DFEF-503E-A922AEF21D42}"/>
              </a:ext>
            </a:extLst>
          </p:cNvPr>
          <p:cNvSpPr>
            <a:spLocks noGrp="1"/>
          </p:cNvSpPr>
          <p:nvPr>
            <p:ph type="sldNum" sz="quarter" idx="12"/>
          </p:nvPr>
        </p:nvSpPr>
        <p:spPr/>
        <p:txBody>
          <a:bodyPr/>
          <a:lstStyle/>
          <a:p>
            <a:fld id="{D1462865-C5DA-4615-B020-DFBD3C2DE77A}" type="slidenum">
              <a:rPr lang="en-US" smtClean="0"/>
              <a:t>8</a:t>
            </a:fld>
            <a:endParaRPr lang="en-US" dirty="0"/>
          </a:p>
        </p:txBody>
      </p:sp>
      <p:pic>
        <p:nvPicPr>
          <p:cNvPr id="5" name="图片 4">
            <a:extLst>
              <a:ext uri="{FF2B5EF4-FFF2-40B4-BE49-F238E27FC236}">
                <a16:creationId xmlns:a16="http://schemas.microsoft.com/office/drawing/2014/main" id="{41C5B046-ED10-F8B8-6FD4-03B0A2CB8874}"/>
              </a:ext>
            </a:extLst>
          </p:cNvPr>
          <p:cNvPicPr>
            <a:picLocks noChangeAspect="1"/>
          </p:cNvPicPr>
          <p:nvPr/>
        </p:nvPicPr>
        <p:blipFill>
          <a:blip r:embed="rId3"/>
          <a:stretch>
            <a:fillRect/>
          </a:stretch>
        </p:blipFill>
        <p:spPr>
          <a:xfrm>
            <a:off x="3723704" y="3309331"/>
            <a:ext cx="5420296" cy="2663348"/>
          </a:xfrm>
          <a:prstGeom prst="rect">
            <a:avLst/>
          </a:prstGeom>
        </p:spPr>
      </p:pic>
      <p:pic>
        <p:nvPicPr>
          <p:cNvPr id="7" name="图片 6">
            <a:extLst>
              <a:ext uri="{FF2B5EF4-FFF2-40B4-BE49-F238E27FC236}">
                <a16:creationId xmlns:a16="http://schemas.microsoft.com/office/drawing/2014/main" id="{CFF01618-4D8E-64AA-6AF2-A9CBD9851AA6}"/>
              </a:ext>
            </a:extLst>
          </p:cNvPr>
          <p:cNvPicPr>
            <a:picLocks noChangeAspect="1"/>
          </p:cNvPicPr>
          <p:nvPr/>
        </p:nvPicPr>
        <p:blipFill>
          <a:blip r:embed="rId4"/>
          <a:stretch>
            <a:fillRect/>
          </a:stretch>
        </p:blipFill>
        <p:spPr>
          <a:xfrm>
            <a:off x="-36512" y="3356992"/>
            <a:ext cx="3674132" cy="2530651"/>
          </a:xfrm>
          <a:prstGeom prst="rect">
            <a:avLst/>
          </a:prstGeom>
        </p:spPr>
      </p:pic>
      <p:sp>
        <p:nvSpPr>
          <p:cNvPr id="6" name="Rectangle 5">
            <a:extLst>
              <a:ext uri="{FF2B5EF4-FFF2-40B4-BE49-F238E27FC236}">
                <a16:creationId xmlns:a16="http://schemas.microsoft.com/office/drawing/2014/main" id="{F9C72D29-01E3-1A5B-A5A8-195AA897FCFB}"/>
              </a:ext>
            </a:extLst>
          </p:cNvPr>
          <p:cNvSpPr/>
          <p:nvPr/>
        </p:nvSpPr>
        <p:spPr>
          <a:xfrm>
            <a:off x="35496" y="3309331"/>
            <a:ext cx="3528392" cy="26633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8" name="Rectangle 7">
            <a:extLst>
              <a:ext uri="{FF2B5EF4-FFF2-40B4-BE49-F238E27FC236}">
                <a16:creationId xmlns:a16="http://schemas.microsoft.com/office/drawing/2014/main" id="{5833CC86-9A14-D208-D8EC-CE647A809E1D}"/>
              </a:ext>
            </a:extLst>
          </p:cNvPr>
          <p:cNvSpPr/>
          <p:nvPr/>
        </p:nvSpPr>
        <p:spPr>
          <a:xfrm>
            <a:off x="3851920" y="3861048"/>
            <a:ext cx="5184576" cy="8640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9" name="Rectangle 8">
            <a:extLst>
              <a:ext uri="{FF2B5EF4-FFF2-40B4-BE49-F238E27FC236}">
                <a16:creationId xmlns:a16="http://schemas.microsoft.com/office/drawing/2014/main" id="{F848381B-0E37-F987-FBDF-D80EAD7F3438}"/>
              </a:ext>
            </a:extLst>
          </p:cNvPr>
          <p:cNvSpPr/>
          <p:nvPr/>
        </p:nvSpPr>
        <p:spPr>
          <a:xfrm>
            <a:off x="3851920" y="4825751"/>
            <a:ext cx="5184576" cy="8640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466853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48A7C6-249E-C82A-E966-3594C5BE401E}"/>
              </a:ext>
            </a:extLst>
          </p:cNvPr>
          <p:cNvSpPr>
            <a:spLocks noGrp="1"/>
          </p:cNvSpPr>
          <p:nvPr>
            <p:ph type="title"/>
          </p:nvPr>
        </p:nvSpPr>
        <p:spPr/>
        <p:txBody>
          <a:bodyPr>
            <a:normAutofit fontScale="90000"/>
          </a:bodyPr>
          <a:lstStyle/>
          <a:p>
            <a:r>
              <a:rPr lang="en-US" altLang="zh-CN" dirty="0"/>
              <a:t>(c) Research Results:</a:t>
            </a:r>
            <a:br>
              <a:rPr lang="en-US" altLang="zh-CN" dirty="0"/>
            </a:br>
            <a:r>
              <a:rPr lang="en-US" altLang="zh-CN" dirty="0"/>
              <a:t>In Relation to Deliverables (</a:t>
            </a:r>
            <a:r>
              <a:rPr lang="en-US" altLang="zh-CN"/>
              <a:t>Part 2/2</a:t>
            </a:r>
            <a:r>
              <a:rPr lang="en-US" altLang="zh-CN" dirty="0"/>
              <a:t>)</a:t>
            </a:r>
            <a:endParaRPr lang="zh-CN" altLang="en-US" dirty="0"/>
          </a:p>
        </p:txBody>
      </p:sp>
      <p:sp>
        <p:nvSpPr>
          <p:cNvPr id="3" name="内容占位符 2">
            <a:extLst>
              <a:ext uri="{FF2B5EF4-FFF2-40B4-BE49-F238E27FC236}">
                <a16:creationId xmlns:a16="http://schemas.microsoft.com/office/drawing/2014/main" id="{CB5E76CB-5AE7-6747-4183-5AB360BF6319}"/>
              </a:ext>
            </a:extLst>
          </p:cNvPr>
          <p:cNvSpPr>
            <a:spLocks noGrp="1"/>
          </p:cNvSpPr>
          <p:nvPr>
            <p:ph idx="1"/>
          </p:nvPr>
        </p:nvSpPr>
        <p:spPr>
          <a:xfrm>
            <a:off x="457200" y="1600201"/>
            <a:ext cx="8229600" cy="964703"/>
          </a:xfrm>
        </p:spPr>
        <p:txBody>
          <a:bodyPr>
            <a:normAutofit fontScale="47500" lnSpcReduction="20000"/>
          </a:bodyPr>
          <a:lstStyle/>
          <a:p>
            <a:r>
              <a:rPr lang="zh-TW" altLang="en-US" dirty="0"/>
              <a:t>（</a:t>
            </a:r>
            <a:r>
              <a:rPr lang="en-US" altLang="zh-TW" dirty="0"/>
              <a:t>01/12/2022 -- 31/05/2023</a:t>
            </a:r>
            <a:r>
              <a:rPr lang="zh-TW" altLang="en-US" dirty="0"/>
              <a:t>）</a:t>
            </a:r>
          </a:p>
          <a:p>
            <a:r>
              <a:rPr lang="zh-TW" altLang="en-US" dirty="0"/>
              <a:t>（</a:t>
            </a:r>
            <a:r>
              <a:rPr lang="en-US" altLang="zh-TW" dirty="0"/>
              <a:t>1</a:t>
            </a:r>
            <a:r>
              <a:rPr lang="zh-TW" altLang="en-US" dirty="0"/>
              <a:t>）</a:t>
            </a:r>
            <a:r>
              <a:rPr lang="zh-TW" altLang="en-US" b="1" dirty="0">
                <a:solidFill>
                  <a:srgbClr val="FF0000"/>
                </a:solidFill>
              </a:rPr>
              <a:t>就算大數據查詢算子內代碼不慎嘗試將可信執行環境內部的任何數據寫到此環境外部，</a:t>
            </a:r>
            <a:r>
              <a:rPr lang="en-US" altLang="zh-TW" b="1" dirty="0">
                <a:solidFill>
                  <a:srgbClr val="FF0000"/>
                </a:solidFill>
              </a:rPr>
              <a:t>UTEE</a:t>
            </a:r>
            <a:r>
              <a:rPr lang="zh-TW" altLang="en-US" b="1" dirty="0">
                <a:solidFill>
                  <a:srgbClr val="FF0000"/>
                </a:solidFill>
              </a:rPr>
              <a:t>隔離算法可自動組織這些操作</a:t>
            </a:r>
            <a:r>
              <a:rPr lang="zh-TW" altLang="en-US" dirty="0"/>
              <a:t>；（</a:t>
            </a:r>
            <a:r>
              <a:rPr lang="en-US" altLang="zh-TW" dirty="0"/>
              <a:t>2</a:t>
            </a:r>
            <a:r>
              <a:rPr lang="zh-TW" altLang="en-US" dirty="0"/>
              <a:t>）</a:t>
            </a:r>
            <a:r>
              <a:rPr lang="en-US" altLang="zh-TW" dirty="0"/>
              <a:t>UTEE</a:t>
            </a:r>
            <a:r>
              <a:rPr lang="zh-TW" altLang="en-US" dirty="0"/>
              <a:t>強隔離協議對運行於可信執行環境內的</a:t>
            </a:r>
            <a:r>
              <a:rPr lang="en-US" altLang="zh-TW" dirty="0"/>
              <a:t>Java</a:t>
            </a:r>
            <a:r>
              <a:rPr lang="zh-TW" altLang="en-US" dirty="0"/>
              <a:t>指令（比如大數據算子）的運行時</a:t>
            </a:r>
            <a:r>
              <a:rPr lang="zh-TW" altLang="en-US" b="1" dirty="0">
                <a:solidFill>
                  <a:srgbClr val="FF0000"/>
                </a:solidFill>
              </a:rPr>
              <a:t>性能開銷，不高於</a:t>
            </a:r>
            <a:r>
              <a:rPr lang="en-US" altLang="zh-TW" b="1" dirty="0">
                <a:solidFill>
                  <a:srgbClr val="FF0000"/>
                </a:solidFill>
              </a:rPr>
              <a:t>5%</a:t>
            </a:r>
            <a:r>
              <a:rPr lang="zh-TW" altLang="en-US" dirty="0"/>
              <a:t>。</a:t>
            </a:r>
            <a:endParaRPr lang="zh-CN" altLang="en-US" dirty="0"/>
          </a:p>
          <a:p>
            <a:pPr marL="0" indent="0">
              <a:buNone/>
            </a:pPr>
            <a:endParaRPr lang="zh-CN" altLang="en-US" dirty="0"/>
          </a:p>
        </p:txBody>
      </p:sp>
      <p:sp>
        <p:nvSpPr>
          <p:cNvPr id="4" name="灯片编号占位符 3">
            <a:extLst>
              <a:ext uri="{FF2B5EF4-FFF2-40B4-BE49-F238E27FC236}">
                <a16:creationId xmlns:a16="http://schemas.microsoft.com/office/drawing/2014/main" id="{46659158-8205-DFEF-503E-A922AEF21D42}"/>
              </a:ext>
            </a:extLst>
          </p:cNvPr>
          <p:cNvSpPr>
            <a:spLocks noGrp="1"/>
          </p:cNvSpPr>
          <p:nvPr>
            <p:ph type="sldNum" sz="quarter" idx="12"/>
          </p:nvPr>
        </p:nvSpPr>
        <p:spPr/>
        <p:txBody>
          <a:bodyPr/>
          <a:lstStyle/>
          <a:p>
            <a:fld id="{D1462865-C5DA-4615-B020-DFBD3C2DE77A}" type="slidenum">
              <a:rPr lang="en-US" smtClean="0"/>
              <a:t>9</a:t>
            </a:fld>
            <a:endParaRPr lang="en-US" dirty="0"/>
          </a:p>
        </p:txBody>
      </p:sp>
      <p:pic>
        <p:nvPicPr>
          <p:cNvPr id="6" name="图片 5">
            <a:extLst>
              <a:ext uri="{FF2B5EF4-FFF2-40B4-BE49-F238E27FC236}">
                <a16:creationId xmlns:a16="http://schemas.microsoft.com/office/drawing/2014/main" id="{82145D6E-5EEB-DE29-1D07-1F7D56C29740}"/>
              </a:ext>
            </a:extLst>
          </p:cNvPr>
          <p:cNvPicPr>
            <a:picLocks noChangeAspect="1"/>
          </p:cNvPicPr>
          <p:nvPr/>
        </p:nvPicPr>
        <p:blipFill>
          <a:blip r:embed="rId3"/>
          <a:stretch>
            <a:fillRect/>
          </a:stretch>
        </p:blipFill>
        <p:spPr>
          <a:xfrm>
            <a:off x="971600" y="3154080"/>
            <a:ext cx="2952328" cy="2295925"/>
          </a:xfrm>
          <a:prstGeom prst="rect">
            <a:avLst/>
          </a:prstGeom>
        </p:spPr>
      </p:pic>
      <p:pic>
        <p:nvPicPr>
          <p:cNvPr id="7" name="图片 6">
            <a:extLst>
              <a:ext uri="{FF2B5EF4-FFF2-40B4-BE49-F238E27FC236}">
                <a16:creationId xmlns:a16="http://schemas.microsoft.com/office/drawing/2014/main" id="{D01FF887-A6E6-A6FF-5B40-44122B6DA644}"/>
              </a:ext>
            </a:extLst>
          </p:cNvPr>
          <p:cNvPicPr>
            <a:picLocks noChangeAspect="1"/>
          </p:cNvPicPr>
          <p:nvPr/>
        </p:nvPicPr>
        <p:blipFill>
          <a:blip r:embed="rId4"/>
          <a:stretch>
            <a:fillRect/>
          </a:stretch>
        </p:blipFill>
        <p:spPr>
          <a:xfrm>
            <a:off x="4860032" y="3047184"/>
            <a:ext cx="3686078" cy="2317509"/>
          </a:xfrm>
          <a:prstGeom prst="rect">
            <a:avLst/>
          </a:prstGeom>
        </p:spPr>
      </p:pic>
      <p:sp>
        <p:nvSpPr>
          <p:cNvPr id="5" name="Rectangle 4">
            <a:extLst>
              <a:ext uri="{FF2B5EF4-FFF2-40B4-BE49-F238E27FC236}">
                <a16:creationId xmlns:a16="http://schemas.microsoft.com/office/drawing/2014/main" id="{1D2B2686-17BC-956D-97D8-804ED6E74A89}"/>
              </a:ext>
            </a:extLst>
          </p:cNvPr>
          <p:cNvSpPr/>
          <p:nvPr/>
        </p:nvSpPr>
        <p:spPr>
          <a:xfrm>
            <a:off x="776563" y="3022298"/>
            <a:ext cx="3291381" cy="26633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8" name="Rectangle 7">
            <a:extLst>
              <a:ext uri="{FF2B5EF4-FFF2-40B4-BE49-F238E27FC236}">
                <a16:creationId xmlns:a16="http://schemas.microsoft.com/office/drawing/2014/main" id="{C2DED650-D2F0-8832-D4D3-532CC14CAA5F}"/>
              </a:ext>
            </a:extLst>
          </p:cNvPr>
          <p:cNvSpPr/>
          <p:nvPr/>
        </p:nvSpPr>
        <p:spPr>
          <a:xfrm>
            <a:off x="7020271" y="3789040"/>
            <a:ext cx="1347165" cy="12961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9" name="Rectangle 8">
            <a:extLst>
              <a:ext uri="{FF2B5EF4-FFF2-40B4-BE49-F238E27FC236}">
                <a16:creationId xmlns:a16="http://schemas.microsoft.com/office/drawing/2014/main" id="{2BADDB29-FAA1-969A-18F9-64E4F71B583E}"/>
              </a:ext>
            </a:extLst>
          </p:cNvPr>
          <p:cNvSpPr/>
          <p:nvPr/>
        </p:nvSpPr>
        <p:spPr>
          <a:xfrm>
            <a:off x="5879617" y="3789040"/>
            <a:ext cx="673583" cy="1296144"/>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571553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BC6F1B-B409-A2E8-A3AE-4E05E4BC895E}"/>
              </a:ext>
            </a:extLst>
          </p:cNvPr>
          <p:cNvSpPr>
            <a:spLocks noGrp="1"/>
          </p:cNvSpPr>
          <p:nvPr>
            <p:ph type="title"/>
          </p:nvPr>
        </p:nvSpPr>
        <p:spPr/>
        <p:txBody>
          <a:bodyPr>
            <a:normAutofit fontScale="90000"/>
          </a:bodyPr>
          <a:lstStyle/>
          <a:p>
            <a:r>
              <a:rPr lang="en-US" altLang="zh-CN" dirty="0"/>
              <a:t>(d) Achievements To-date:</a:t>
            </a:r>
            <a:br>
              <a:rPr lang="en-US" altLang="zh-CN" dirty="0"/>
            </a:br>
            <a:r>
              <a:rPr lang="en-US" altLang="zh-CN" dirty="0"/>
              <a:t>Publications</a:t>
            </a:r>
            <a:endParaRPr lang="zh-CN" altLang="en-US" dirty="0"/>
          </a:p>
        </p:txBody>
      </p:sp>
      <p:sp>
        <p:nvSpPr>
          <p:cNvPr id="3" name="内容占位符 2">
            <a:extLst>
              <a:ext uri="{FF2B5EF4-FFF2-40B4-BE49-F238E27FC236}">
                <a16:creationId xmlns:a16="http://schemas.microsoft.com/office/drawing/2014/main" id="{6E5D1975-D72E-5561-D5C3-11ED51A2A615}"/>
              </a:ext>
            </a:extLst>
          </p:cNvPr>
          <p:cNvSpPr>
            <a:spLocks noGrp="1"/>
          </p:cNvSpPr>
          <p:nvPr>
            <p:ph idx="1"/>
          </p:nvPr>
        </p:nvSpPr>
        <p:spPr/>
        <p:txBody>
          <a:bodyPr>
            <a:normAutofit/>
          </a:bodyPr>
          <a:lstStyle/>
          <a:p>
            <a:r>
              <a:rPr lang="en-US" altLang="zh-CN" dirty="0"/>
              <a:t>Published 14 international best-tiered papers (China Computer Federation, or CCF, A class journals or conferences)</a:t>
            </a:r>
          </a:p>
          <a:p>
            <a:pPr lvl="1"/>
            <a:r>
              <a:rPr lang="en-US" altLang="zh-CN" dirty="0"/>
              <a:t>First-author of most papers are Dr. </a:t>
            </a:r>
            <a:r>
              <a:rPr lang="en-US" altLang="zh-CN" dirty="0" err="1"/>
              <a:t>Cui’s</a:t>
            </a:r>
            <a:r>
              <a:rPr lang="en-US" altLang="zh-CN" dirty="0"/>
              <a:t> PhD students</a:t>
            </a:r>
          </a:p>
          <a:p>
            <a:pPr lvl="1"/>
            <a:r>
              <a:rPr lang="en-US" altLang="zh-CN" dirty="0"/>
              <a:t>CCF A papers are all good candidates for RGC RAE 4-stars</a:t>
            </a:r>
          </a:p>
        </p:txBody>
      </p:sp>
      <p:sp>
        <p:nvSpPr>
          <p:cNvPr id="4" name="灯片编号占位符 3">
            <a:extLst>
              <a:ext uri="{FF2B5EF4-FFF2-40B4-BE49-F238E27FC236}">
                <a16:creationId xmlns:a16="http://schemas.microsoft.com/office/drawing/2014/main" id="{4DC15764-DD1B-ADDB-E51F-9EEF21F6654C}"/>
              </a:ext>
            </a:extLst>
          </p:cNvPr>
          <p:cNvSpPr>
            <a:spLocks noGrp="1"/>
          </p:cNvSpPr>
          <p:nvPr>
            <p:ph type="sldNum" sz="quarter" idx="12"/>
          </p:nvPr>
        </p:nvSpPr>
        <p:spPr/>
        <p:txBody>
          <a:bodyPr/>
          <a:lstStyle/>
          <a:p>
            <a:fld id="{D1462865-C5DA-4615-B020-DFBD3C2DE77A}" type="slidenum">
              <a:rPr lang="en-US" smtClean="0"/>
              <a:t>10</a:t>
            </a:fld>
            <a:endParaRPr lang="en-US" dirty="0"/>
          </a:p>
        </p:txBody>
      </p:sp>
    </p:spTree>
    <p:extLst>
      <p:ext uri="{BB962C8B-B14F-4D97-AF65-F5344CB8AC3E}">
        <p14:creationId xmlns:p14="http://schemas.microsoft.com/office/powerpoint/2010/main" val="3417868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898735-9B43-73E6-8523-0D1CD65921C4}"/>
              </a:ext>
            </a:extLst>
          </p:cNvPr>
          <p:cNvSpPr>
            <a:spLocks noGrp="1"/>
          </p:cNvSpPr>
          <p:nvPr>
            <p:ph type="title"/>
          </p:nvPr>
        </p:nvSpPr>
        <p:spPr/>
        <p:txBody>
          <a:bodyPr/>
          <a:lstStyle/>
          <a:p>
            <a:r>
              <a:rPr lang="en-US" altLang="zh-CN" dirty="0"/>
              <a:t>Publications</a:t>
            </a:r>
            <a:endParaRPr lang="zh-CN" altLang="en-US" dirty="0"/>
          </a:p>
        </p:txBody>
      </p:sp>
      <p:sp>
        <p:nvSpPr>
          <p:cNvPr id="3" name="内容占位符 2">
            <a:extLst>
              <a:ext uri="{FF2B5EF4-FFF2-40B4-BE49-F238E27FC236}">
                <a16:creationId xmlns:a16="http://schemas.microsoft.com/office/drawing/2014/main" id="{CF539C7C-EC88-F639-5E6B-F40178D16689}"/>
              </a:ext>
            </a:extLst>
          </p:cNvPr>
          <p:cNvSpPr>
            <a:spLocks noGrp="1"/>
          </p:cNvSpPr>
          <p:nvPr>
            <p:ph idx="1"/>
          </p:nvPr>
        </p:nvSpPr>
        <p:spPr/>
        <p:txBody>
          <a:bodyPr>
            <a:normAutofit fontScale="55000" lnSpcReduction="20000"/>
          </a:bodyPr>
          <a:lstStyle/>
          <a:p>
            <a:pPr lvl="1"/>
            <a:r>
              <a:rPr lang="en-US" altLang="zh-CN" dirty="0"/>
              <a:t>Jianyu Jiang, Qi Ji, </a:t>
            </a:r>
            <a:r>
              <a:rPr lang="en-US" altLang="zh-CN" dirty="0" err="1"/>
              <a:t>Tianxiang</a:t>
            </a:r>
            <a:r>
              <a:rPr lang="en-US" altLang="zh-CN" dirty="0"/>
              <a:t> Shen, </a:t>
            </a:r>
            <a:r>
              <a:rPr lang="en-US" altLang="zh-CN" dirty="0" err="1"/>
              <a:t>Xusheng</a:t>
            </a:r>
            <a:r>
              <a:rPr lang="en-US" altLang="zh-CN" dirty="0"/>
              <a:t> Chen, </a:t>
            </a:r>
            <a:r>
              <a:rPr lang="en-US" altLang="zh-CN" dirty="0" err="1"/>
              <a:t>Shixiong</a:t>
            </a:r>
            <a:r>
              <a:rPr lang="en-US" altLang="zh-CN" dirty="0"/>
              <a:t> Zhao, Sen Wang, Li Chen, Gong Zhang, </a:t>
            </a:r>
            <a:r>
              <a:rPr lang="en-US" altLang="zh-CN" dirty="0" err="1"/>
              <a:t>Xiapu</a:t>
            </a:r>
            <a:r>
              <a:rPr lang="en-US" altLang="zh-CN" dirty="0"/>
              <a:t> Luo, and Heming Cui*, CRONUS: Fault-isolated, Secure and High-performance Heterogeneous Computing for Trusted Execution Environments, Proceedings of the 55th ACM/IEEE International Symposium on Microarchitecture (</a:t>
            </a:r>
            <a:r>
              <a:rPr lang="en-US" altLang="zh-CN" b="1" dirty="0">
                <a:solidFill>
                  <a:srgbClr val="FF0000"/>
                </a:solidFill>
              </a:rPr>
              <a:t>MICRO '22</a:t>
            </a:r>
            <a:r>
              <a:rPr lang="en-US" altLang="zh-CN" dirty="0"/>
              <a:t>). ACM results reproduced badge.</a:t>
            </a:r>
          </a:p>
          <a:p>
            <a:pPr lvl="1"/>
            <a:r>
              <a:rPr lang="en-US" altLang="zh-CN" dirty="0" err="1"/>
              <a:t>Haoran</a:t>
            </a:r>
            <a:r>
              <a:rPr lang="en-US" altLang="zh-CN" dirty="0"/>
              <a:t> Qiu, Tao Ji, </a:t>
            </a:r>
            <a:r>
              <a:rPr lang="en-US" altLang="zh-CN" dirty="0" err="1"/>
              <a:t>Shixiong</a:t>
            </a:r>
            <a:r>
              <a:rPr lang="en-US" altLang="zh-CN" dirty="0"/>
              <a:t> Zhao*, </a:t>
            </a:r>
            <a:r>
              <a:rPr lang="en-US" altLang="zh-CN" dirty="0" err="1"/>
              <a:t>Xusheng</a:t>
            </a:r>
            <a:r>
              <a:rPr lang="en-US" altLang="zh-CN" dirty="0"/>
              <a:t> Chen*, Ji Qi, Heming Cui, and Sen Wang, A Geography-Based P2P Overlay Network for Fast and Robust Blockchain Systems, IEEE Transactions on Services Computing 2022 (TSC '22). </a:t>
            </a:r>
            <a:r>
              <a:rPr lang="en-US" altLang="zh-CN" dirty="0" err="1"/>
              <a:t>Tianxiang</a:t>
            </a:r>
            <a:r>
              <a:rPr lang="en-US" altLang="zh-CN" dirty="0"/>
              <a:t> Shen, Ji Qi, Jianyu Jiang*, Xian Wang, </a:t>
            </a:r>
            <a:r>
              <a:rPr lang="en-US" altLang="zh-CN" dirty="0" err="1"/>
              <a:t>Siyuan</a:t>
            </a:r>
            <a:r>
              <a:rPr lang="en-US" altLang="zh-CN" dirty="0"/>
              <a:t> Wen, </a:t>
            </a:r>
            <a:r>
              <a:rPr lang="en-US" altLang="zh-CN" dirty="0" err="1"/>
              <a:t>Xusheng</a:t>
            </a:r>
            <a:r>
              <a:rPr lang="en-US" altLang="zh-CN" dirty="0"/>
              <a:t> Chen, </a:t>
            </a:r>
            <a:r>
              <a:rPr lang="en-US" altLang="zh-CN" dirty="0" err="1"/>
              <a:t>Shixiong</a:t>
            </a:r>
            <a:r>
              <a:rPr lang="en-US" altLang="zh-CN" dirty="0"/>
              <a:t> Zhao, Sen Wang, Li Chen, </a:t>
            </a:r>
            <a:r>
              <a:rPr lang="en-US" altLang="zh-CN" dirty="0" err="1"/>
              <a:t>Xiapu</a:t>
            </a:r>
            <a:r>
              <a:rPr lang="en-US" altLang="zh-CN" dirty="0"/>
              <a:t> Luo, </a:t>
            </a:r>
            <a:r>
              <a:rPr lang="en-US" altLang="zh-CN" dirty="0" err="1"/>
              <a:t>Fengwei</a:t>
            </a:r>
            <a:r>
              <a:rPr lang="en-US" altLang="zh-CN" dirty="0"/>
              <a:t> Zhang, and Heming Cui, SOTER: Guarding Black-box Inference for General Neural Networks at the Edge, Proceedings of the 2022 USENIX Annual Technical Conference (</a:t>
            </a:r>
            <a:r>
              <a:rPr lang="en-US" altLang="zh-CN" b="1" dirty="0">
                <a:solidFill>
                  <a:srgbClr val="FF0000"/>
                </a:solidFill>
              </a:rPr>
              <a:t>ATC '22</a:t>
            </a:r>
            <a:r>
              <a:rPr lang="en-US" altLang="zh-CN" dirty="0"/>
              <a:t>). USENIX results reproduced badge.</a:t>
            </a:r>
          </a:p>
          <a:p>
            <a:pPr lvl="1"/>
            <a:r>
              <a:rPr lang="en-US" altLang="zh-CN" dirty="0" err="1"/>
              <a:t>Saeid</a:t>
            </a:r>
            <a:r>
              <a:rPr lang="en-US" altLang="zh-CN" dirty="0"/>
              <a:t> </a:t>
            </a:r>
            <a:r>
              <a:rPr lang="en-US" altLang="zh-CN" dirty="0" err="1"/>
              <a:t>Mofrad</a:t>
            </a:r>
            <a:r>
              <a:rPr lang="en-US" altLang="zh-CN" dirty="0"/>
              <a:t>, </a:t>
            </a:r>
            <a:r>
              <a:rPr lang="en-US" altLang="zh-CN" dirty="0" err="1"/>
              <a:t>Ishtiaq</a:t>
            </a:r>
            <a:r>
              <a:rPr lang="en-US" altLang="zh-CN" dirty="0"/>
              <a:t> Ahmed, </a:t>
            </a:r>
            <a:r>
              <a:rPr lang="en-US" altLang="zh-CN" dirty="0" err="1"/>
              <a:t>Fengwei</a:t>
            </a:r>
            <a:r>
              <a:rPr lang="en-US" altLang="zh-CN" dirty="0"/>
              <a:t> Zhang, </a:t>
            </a:r>
            <a:r>
              <a:rPr lang="en-US" altLang="zh-CN" dirty="0" err="1"/>
              <a:t>Shiyong</a:t>
            </a:r>
            <a:r>
              <a:rPr lang="en-US" altLang="zh-CN" dirty="0"/>
              <a:t> Lu, Ping Yang, and Heming Cui, Securing Big Data Scientific Workflows via Trusted Heterogeneous Environments, IEEE Transactions on Dependable and Secure Computing 2022 (TDSC '22). </a:t>
            </a:r>
            <a:r>
              <a:rPr lang="en-US" altLang="zh-CN" dirty="0" err="1"/>
              <a:t>Tianxiang</a:t>
            </a:r>
            <a:r>
              <a:rPr lang="en-US" altLang="zh-CN" dirty="0"/>
              <a:t> Shen, Jianyu Jiang, </a:t>
            </a:r>
            <a:r>
              <a:rPr lang="en-US" altLang="zh-CN" dirty="0" err="1"/>
              <a:t>Yunpeng</a:t>
            </a:r>
            <a:r>
              <a:rPr lang="en-US" altLang="zh-CN" dirty="0"/>
              <a:t> Jiang, </a:t>
            </a:r>
            <a:r>
              <a:rPr lang="en-US" altLang="zh-CN" dirty="0" err="1"/>
              <a:t>Xusheng</a:t>
            </a:r>
            <a:r>
              <a:rPr lang="en-US" altLang="zh-CN" dirty="0"/>
              <a:t> Chen, Ji Qi, </a:t>
            </a:r>
            <a:r>
              <a:rPr lang="en-US" altLang="zh-CN" dirty="0" err="1"/>
              <a:t>Shixiong</a:t>
            </a:r>
            <a:r>
              <a:rPr lang="en-US" altLang="zh-CN" dirty="0"/>
              <a:t> Zhao, </a:t>
            </a:r>
            <a:r>
              <a:rPr lang="en-US" altLang="zh-CN" dirty="0" err="1"/>
              <a:t>Fengwei</a:t>
            </a:r>
            <a:r>
              <a:rPr lang="en-US" altLang="zh-CN" dirty="0"/>
              <a:t> Zhang*, </a:t>
            </a:r>
            <a:r>
              <a:rPr lang="en-US" altLang="zh-CN" dirty="0" err="1"/>
              <a:t>Xiapu</a:t>
            </a:r>
            <a:r>
              <a:rPr lang="en-US" altLang="zh-CN" dirty="0"/>
              <a:t> Luo, and Heming Cui*, </a:t>
            </a:r>
            <a:r>
              <a:rPr lang="en-US" altLang="zh-CN" dirty="0" err="1"/>
              <a:t>DAENet</a:t>
            </a:r>
            <a:r>
              <a:rPr lang="en-US" altLang="zh-CN" dirty="0"/>
              <a:t>: Making Strong Anonymity Scale in a Fully Decentralized Network, IEEE Transactions on Dependable and Secure Computing 2021 (</a:t>
            </a:r>
            <a:r>
              <a:rPr lang="en-US" altLang="zh-CN" b="1" dirty="0">
                <a:solidFill>
                  <a:srgbClr val="FF0000"/>
                </a:solidFill>
              </a:rPr>
              <a:t>TDSC '21</a:t>
            </a:r>
            <a:r>
              <a:rPr lang="en-US" altLang="zh-CN" dirty="0"/>
              <a:t>).</a:t>
            </a:r>
          </a:p>
          <a:p>
            <a:pPr lvl="1"/>
            <a:r>
              <a:rPr lang="en-US" altLang="zh-CN" dirty="0"/>
              <a:t>Jianyu Jiang, </a:t>
            </a:r>
            <a:r>
              <a:rPr lang="en-US" altLang="zh-CN" dirty="0" err="1"/>
              <a:t>Xusheng</a:t>
            </a:r>
            <a:r>
              <a:rPr lang="en-US" altLang="zh-CN" dirty="0"/>
              <a:t> Chen, </a:t>
            </a:r>
            <a:r>
              <a:rPr lang="en-US" altLang="zh-CN" dirty="0" err="1"/>
              <a:t>Tzs</a:t>
            </a:r>
            <a:r>
              <a:rPr lang="en-US" altLang="zh-CN" dirty="0"/>
              <a:t> On Li, Cheng Wang, </a:t>
            </a:r>
            <a:r>
              <a:rPr lang="en-US" altLang="zh-CN" dirty="0" err="1"/>
              <a:t>Tianxiang</a:t>
            </a:r>
            <a:r>
              <a:rPr lang="en-US" altLang="zh-CN" dirty="0"/>
              <a:t> Shen, </a:t>
            </a:r>
            <a:r>
              <a:rPr lang="en-US" altLang="zh-CN" dirty="0" err="1"/>
              <a:t>Shixiong</a:t>
            </a:r>
            <a:r>
              <a:rPr lang="en-US" altLang="zh-CN" dirty="0"/>
              <a:t> Zhao, Heming Cui*, Cho-Li Wang, and </a:t>
            </a:r>
            <a:r>
              <a:rPr lang="en-US" altLang="zh-CN" dirty="0" err="1"/>
              <a:t>Fengwei</a:t>
            </a:r>
            <a:r>
              <a:rPr lang="en-US" altLang="zh-CN" dirty="0"/>
              <a:t> Zhang, Uranus: Simple, Efficient SGX Programming and Its Applications, Proceedings of the 15th ACM ASIA Conference on Computer and Communications Security (</a:t>
            </a:r>
            <a:r>
              <a:rPr lang="en-US" altLang="zh-CN" b="1" dirty="0">
                <a:solidFill>
                  <a:srgbClr val="FF0000"/>
                </a:solidFill>
              </a:rPr>
              <a:t>ASIACCS '20</a:t>
            </a:r>
            <a:r>
              <a:rPr lang="en-US" altLang="zh-CN" dirty="0"/>
              <a:t>).</a:t>
            </a:r>
          </a:p>
          <a:p>
            <a:endParaRPr lang="zh-CN" altLang="en-US" dirty="0"/>
          </a:p>
        </p:txBody>
      </p:sp>
      <p:sp>
        <p:nvSpPr>
          <p:cNvPr id="4" name="灯片编号占位符 3">
            <a:extLst>
              <a:ext uri="{FF2B5EF4-FFF2-40B4-BE49-F238E27FC236}">
                <a16:creationId xmlns:a16="http://schemas.microsoft.com/office/drawing/2014/main" id="{CE2CB4EB-3236-8439-B97E-06BF26F8FAF4}"/>
              </a:ext>
            </a:extLst>
          </p:cNvPr>
          <p:cNvSpPr>
            <a:spLocks noGrp="1"/>
          </p:cNvSpPr>
          <p:nvPr>
            <p:ph type="sldNum" sz="quarter" idx="12"/>
          </p:nvPr>
        </p:nvSpPr>
        <p:spPr/>
        <p:txBody>
          <a:bodyPr/>
          <a:lstStyle/>
          <a:p>
            <a:fld id="{D1462865-C5DA-4615-B020-DFBD3C2DE77A}" type="slidenum">
              <a:rPr lang="en-US" smtClean="0"/>
              <a:t>11</a:t>
            </a:fld>
            <a:endParaRPr lang="en-US" dirty="0"/>
          </a:p>
        </p:txBody>
      </p:sp>
    </p:spTree>
    <p:extLst>
      <p:ext uri="{BB962C8B-B14F-4D97-AF65-F5344CB8AC3E}">
        <p14:creationId xmlns:p14="http://schemas.microsoft.com/office/powerpoint/2010/main" val="3970358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BC6F1B-B409-A2E8-A3AE-4E05E4BC895E}"/>
              </a:ext>
            </a:extLst>
          </p:cNvPr>
          <p:cNvSpPr>
            <a:spLocks noGrp="1"/>
          </p:cNvSpPr>
          <p:nvPr>
            <p:ph type="title"/>
          </p:nvPr>
        </p:nvSpPr>
        <p:spPr/>
        <p:txBody>
          <a:bodyPr>
            <a:normAutofit fontScale="90000"/>
          </a:bodyPr>
          <a:lstStyle/>
          <a:p>
            <a:r>
              <a:rPr lang="en-US" altLang="zh-CN" dirty="0"/>
              <a:t>(d) Achievements: Patent Submitted since Submitting the ITF Proposal</a:t>
            </a:r>
            <a:endParaRPr lang="zh-CN" altLang="en-US" dirty="0"/>
          </a:p>
        </p:txBody>
      </p:sp>
      <p:sp>
        <p:nvSpPr>
          <p:cNvPr id="3" name="内容占位符 2">
            <a:extLst>
              <a:ext uri="{FF2B5EF4-FFF2-40B4-BE49-F238E27FC236}">
                <a16:creationId xmlns:a16="http://schemas.microsoft.com/office/drawing/2014/main" id="{6E5D1975-D72E-5561-D5C3-11ED51A2A615}"/>
              </a:ext>
            </a:extLst>
          </p:cNvPr>
          <p:cNvSpPr>
            <a:spLocks noGrp="1"/>
          </p:cNvSpPr>
          <p:nvPr>
            <p:ph idx="1"/>
          </p:nvPr>
        </p:nvSpPr>
        <p:spPr/>
        <p:txBody>
          <a:bodyPr>
            <a:normAutofit fontScale="55000" lnSpcReduction="20000"/>
          </a:bodyPr>
          <a:lstStyle/>
          <a:p>
            <a:pPr marL="0" indent="0">
              <a:buNone/>
            </a:pPr>
            <a:r>
              <a:rPr lang="en-US" altLang="zh-CN" b="1" dirty="0"/>
              <a:t>Note: all these patents’ first authors are Dr. Heming </a:t>
            </a:r>
            <a:r>
              <a:rPr lang="en-US" altLang="zh-CN" b="1" dirty="0" err="1"/>
              <a:t>Cui’s</a:t>
            </a:r>
            <a:r>
              <a:rPr lang="en-US" altLang="zh-CN" b="1" dirty="0"/>
              <a:t> RPG students (submitted to China National Intellectual Property Administration, or CNIPA) </a:t>
            </a:r>
          </a:p>
          <a:p>
            <a:r>
              <a:rPr lang="en-US" altLang="zh-CN" dirty="0"/>
              <a:t>CRONUS: Fault-isolated, Secure and High-performance Heterogeneous Computing for Trusted Execution Environments, CNIPA app ID to be allocated</a:t>
            </a:r>
          </a:p>
          <a:p>
            <a:r>
              <a:rPr lang="en-US" altLang="zh-CN" dirty="0"/>
              <a:t>SOTER: Guarding Black-box Inference for General Neural Networks at the Edge, CNIPA app ID to be allocated</a:t>
            </a:r>
          </a:p>
          <a:p>
            <a:r>
              <a:rPr lang="en-US" altLang="zh-CN" dirty="0"/>
              <a:t>Themis: Automatic and Efficient Deep Learning System Testing with Strong Fault Detection Capability, CN 202111372034.X</a:t>
            </a:r>
          </a:p>
          <a:p>
            <a:r>
              <a:rPr lang="en-US" altLang="zh-CN" dirty="0" err="1"/>
              <a:t>Upa</a:t>
            </a:r>
            <a:r>
              <a:rPr lang="en-US" altLang="zh-CN" dirty="0"/>
              <a:t>: An Automated, Accurate and Efficient Differentially Private Big-data Mining System, CN 202010506698.X</a:t>
            </a:r>
          </a:p>
          <a:p>
            <a:r>
              <a:rPr lang="en-US" altLang="zh-CN" dirty="0" err="1"/>
              <a:t>Daenet</a:t>
            </a:r>
            <a:r>
              <a:rPr lang="en-US" altLang="zh-CN" dirty="0"/>
              <a:t>: A decentralized, secure and reliable network communication system via SGX, CN 202110048599.6</a:t>
            </a:r>
          </a:p>
          <a:p>
            <a:r>
              <a:rPr lang="en-US" altLang="zh-CN" dirty="0"/>
              <a:t>Uranus: An Efficient, Secure Big-data Processing and Programming System based on Trusted Execution Environment, CN 202010366539.4</a:t>
            </a:r>
          </a:p>
          <a:p>
            <a:r>
              <a:rPr lang="en-US" altLang="zh-CN" dirty="0" err="1"/>
              <a:t>Eges</a:t>
            </a:r>
            <a:r>
              <a:rPr lang="en-US" altLang="zh-CN" dirty="0"/>
              <a:t>: An Efficient, DoS Resistant Consensus Protocol for Permissioned Blockchains, CN 202010247629.1</a:t>
            </a:r>
          </a:p>
        </p:txBody>
      </p:sp>
      <p:sp>
        <p:nvSpPr>
          <p:cNvPr id="4" name="灯片编号占位符 3">
            <a:extLst>
              <a:ext uri="{FF2B5EF4-FFF2-40B4-BE49-F238E27FC236}">
                <a16:creationId xmlns:a16="http://schemas.microsoft.com/office/drawing/2014/main" id="{4DC15764-DD1B-ADDB-E51F-9EEF21F6654C}"/>
              </a:ext>
            </a:extLst>
          </p:cNvPr>
          <p:cNvSpPr>
            <a:spLocks noGrp="1"/>
          </p:cNvSpPr>
          <p:nvPr>
            <p:ph type="sldNum" sz="quarter" idx="12"/>
          </p:nvPr>
        </p:nvSpPr>
        <p:spPr/>
        <p:txBody>
          <a:bodyPr/>
          <a:lstStyle/>
          <a:p>
            <a:fld id="{D1462865-C5DA-4615-B020-DFBD3C2DE77A}" type="slidenum">
              <a:rPr lang="en-US" smtClean="0"/>
              <a:t>12</a:t>
            </a:fld>
            <a:endParaRPr lang="en-US" dirty="0"/>
          </a:p>
        </p:txBody>
      </p:sp>
    </p:spTree>
    <p:extLst>
      <p:ext uri="{BB962C8B-B14F-4D97-AF65-F5344CB8AC3E}">
        <p14:creationId xmlns:p14="http://schemas.microsoft.com/office/powerpoint/2010/main" val="3440653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88E085-6C4B-7B17-66E9-6FBEE5263DFE}"/>
              </a:ext>
            </a:extLst>
          </p:cNvPr>
          <p:cNvSpPr>
            <a:spLocks noGrp="1"/>
          </p:cNvSpPr>
          <p:nvPr>
            <p:ph type="title"/>
          </p:nvPr>
        </p:nvSpPr>
        <p:spPr/>
        <p:txBody>
          <a:bodyPr>
            <a:normAutofit fontScale="90000"/>
          </a:bodyPr>
          <a:lstStyle/>
          <a:p>
            <a:r>
              <a:rPr lang="en-US" altLang="zh-CN" dirty="0"/>
              <a:t>(d) Achievements To-date:</a:t>
            </a:r>
            <a:br>
              <a:rPr lang="en-US" altLang="zh-CN" dirty="0"/>
            </a:br>
            <a:r>
              <a:rPr lang="en-US" altLang="zh-CN" dirty="0"/>
              <a:t>New Research Grants from Huawei</a:t>
            </a:r>
            <a:endParaRPr lang="zh-CN" altLang="en-US" dirty="0"/>
          </a:p>
        </p:txBody>
      </p:sp>
      <p:sp>
        <p:nvSpPr>
          <p:cNvPr id="3" name="内容占位符 2">
            <a:extLst>
              <a:ext uri="{FF2B5EF4-FFF2-40B4-BE49-F238E27FC236}">
                <a16:creationId xmlns:a16="http://schemas.microsoft.com/office/drawing/2014/main" id="{FE4C7297-A6F1-EAF7-F4E8-C5BE3FB687ED}"/>
              </a:ext>
            </a:extLst>
          </p:cNvPr>
          <p:cNvSpPr>
            <a:spLocks noGrp="1"/>
          </p:cNvSpPr>
          <p:nvPr>
            <p:ph idx="1"/>
          </p:nvPr>
        </p:nvSpPr>
        <p:spPr/>
        <p:txBody>
          <a:bodyPr>
            <a:normAutofit/>
          </a:bodyPr>
          <a:lstStyle/>
          <a:p>
            <a:pPr algn="l">
              <a:buFont typeface="Arial" panose="020B0604020202020204" pitchFamily="34" charset="0"/>
              <a:buChar char="•"/>
            </a:pPr>
            <a:r>
              <a:rPr lang="en-HK" altLang="zh-CN" b="0" i="0" dirty="0">
                <a:solidFill>
                  <a:srgbClr val="252525"/>
                </a:solidFill>
                <a:effectLst/>
                <a:latin typeface="system-ui"/>
              </a:rPr>
              <a:t>This grant targets secure CPU/GPU computing</a:t>
            </a:r>
          </a:p>
          <a:p>
            <a:pPr algn="l">
              <a:buFont typeface="Arial" panose="020B0604020202020204" pitchFamily="34" charset="0"/>
              <a:buChar char="•"/>
            </a:pPr>
            <a:r>
              <a:rPr lang="en-HK" altLang="zh-CN" b="0" i="0" dirty="0">
                <a:solidFill>
                  <a:srgbClr val="252525"/>
                </a:solidFill>
                <a:effectLst/>
                <a:latin typeface="system-ui"/>
              </a:rPr>
              <a:t>PI, "</a:t>
            </a:r>
            <a:r>
              <a:rPr lang="en-HK" altLang="zh-CN" b="0" i="0" dirty="0" err="1">
                <a:solidFill>
                  <a:srgbClr val="252525"/>
                </a:solidFill>
                <a:effectLst/>
                <a:latin typeface="system-ui"/>
              </a:rPr>
              <a:t>ParaNAS</a:t>
            </a:r>
            <a:r>
              <a:rPr lang="en-HK" altLang="zh-CN" b="0" i="0" dirty="0">
                <a:solidFill>
                  <a:srgbClr val="252525"/>
                </a:solidFill>
                <a:effectLst/>
                <a:latin typeface="system-ui"/>
              </a:rPr>
              <a:t>: High-performance, Scalable, Reliable and High-precision Multi-GPU Pipeline Parallel DNN Training Systems", </a:t>
            </a:r>
            <a:r>
              <a:rPr lang="en-HK" altLang="zh-CN" b="1" i="0" dirty="0">
                <a:solidFill>
                  <a:srgbClr val="252525"/>
                </a:solidFill>
                <a:effectLst/>
                <a:latin typeface="system-ui"/>
              </a:rPr>
              <a:t>Huawei Theory Lab Flagship</a:t>
            </a:r>
            <a:r>
              <a:rPr lang="en-HK" altLang="zh-CN" b="0" i="0" dirty="0">
                <a:solidFill>
                  <a:srgbClr val="252525"/>
                </a:solidFill>
                <a:effectLst/>
                <a:latin typeface="system-ui"/>
              </a:rPr>
              <a:t>, 2021 - 2023.</a:t>
            </a:r>
          </a:p>
          <a:p>
            <a:endParaRPr lang="zh-CN" altLang="en-US" dirty="0"/>
          </a:p>
        </p:txBody>
      </p:sp>
      <p:sp>
        <p:nvSpPr>
          <p:cNvPr id="4" name="灯片编号占位符 3">
            <a:extLst>
              <a:ext uri="{FF2B5EF4-FFF2-40B4-BE49-F238E27FC236}">
                <a16:creationId xmlns:a16="http://schemas.microsoft.com/office/drawing/2014/main" id="{2899D5AD-2743-D8CF-6986-A4725535DCF6}"/>
              </a:ext>
            </a:extLst>
          </p:cNvPr>
          <p:cNvSpPr>
            <a:spLocks noGrp="1"/>
          </p:cNvSpPr>
          <p:nvPr>
            <p:ph type="sldNum" sz="quarter" idx="12"/>
          </p:nvPr>
        </p:nvSpPr>
        <p:spPr/>
        <p:txBody>
          <a:bodyPr/>
          <a:lstStyle/>
          <a:p>
            <a:fld id="{D1462865-C5DA-4615-B020-DFBD3C2DE77A}" type="slidenum">
              <a:rPr lang="en-US" smtClean="0"/>
              <a:t>13</a:t>
            </a:fld>
            <a:endParaRPr lang="en-US" dirty="0"/>
          </a:p>
        </p:txBody>
      </p:sp>
    </p:spTree>
    <p:extLst>
      <p:ext uri="{BB962C8B-B14F-4D97-AF65-F5344CB8AC3E}">
        <p14:creationId xmlns:p14="http://schemas.microsoft.com/office/powerpoint/2010/main" val="3012465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a:t>(e) Project Dissemination: </a:t>
            </a:r>
            <a:br>
              <a:rPr lang="en-US" b="1" dirty="0"/>
            </a:br>
            <a:r>
              <a:rPr lang="en-US" b="1" dirty="0"/>
              <a:t>Industry Release &amp; Impact</a:t>
            </a:r>
          </a:p>
        </p:txBody>
      </p:sp>
      <p:sp>
        <p:nvSpPr>
          <p:cNvPr id="3" name="Content Placeholder 2"/>
          <p:cNvSpPr>
            <a:spLocks noGrp="1"/>
          </p:cNvSpPr>
          <p:nvPr>
            <p:ph idx="1"/>
          </p:nvPr>
        </p:nvSpPr>
        <p:spPr>
          <a:xfrm>
            <a:off x="385192" y="1412776"/>
            <a:ext cx="4690864" cy="5257800"/>
          </a:xfrm>
        </p:spPr>
        <p:txBody>
          <a:bodyPr>
            <a:normAutofit fontScale="62500" lnSpcReduction="20000"/>
          </a:bodyPr>
          <a:lstStyle/>
          <a:p>
            <a:r>
              <a:rPr lang="en-US" dirty="0"/>
              <a:t>Impact case: a preliminary prototype of UTEE, Dr. Cui’s secure big-data system, has commercially become </a:t>
            </a:r>
            <a:r>
              <a:rPr lang="en-US" b="1" dirty="0"/>
              <a:t>the core system </a:t>
            </a:r>
            <a:r>
              <a:rPr lang="en-US" dirty="0"/>
              <a:t>of Huawei Cloud’s TICS (Trusted &amp; Intelligent Cloud Services)</a:t>
            </a:r>
          </a:p>
          <a:p>
            <a:pPr lvl="1"/>
            <a:r>
              <a:rPr lang="en-US" dirty="0"/>
              <a:t>UTEE (interchangeable, in ppt) == TICS</a:t>
            </a:r>
          </a:p>
          <a:p>
            <a:pPr lvl="1"/>
            <a:r>
              <a:rPr lang="en-US" dirty="0"/>
              <a:t>Huawei claims that UTEE is </a:t>
            </a:r>
            <a:r>
              <a:rPr lang="en-US" b="1" dirty="0"/>
              <a:t>world-leading</a:t>
            </a:r>
            <a:r>
              <a:rPr lang="en-US" dirty="0"/>
              <a:t> (i.e., leading the current global industries’ standards and levels in the big-data security area), which matches a </a:t>
            </a:r>
            <a:r>
              <a:rPr lang="en-US" b="1" dirty="0"/>
              <a:t>RAE 4-star</a:t>
            </a:r>
          </a:p>
          <a:p>
            <a:pPr lvl="1"/>
            <a:r>
              <a:rPr lang="en-US" altLang="zh-CN" dirty="0"/>
              <a:t>UTEE won </a:t>
            </a:r>
            <a:r>
              <a:rPr lang="en-US" altLang="zh-CN" b="1" dirty="0"/>
              <a:t>ITF</a:t>
            </a:r>
            <a:r>
              <a:rPr lang="en-US" altLang="zh-CN" dirty="0"/>
              <a:t> grant (PI, </a:t>
            </a:r>
            <a:r>
              <a:rPr lang="en-US" altLang="zh-CN" b="1" dirty="0"/>
              <a:t>HK $3.3M</a:t>
            </a:r>
            <a:r>
              <a:rPr lang="en-US" altLang="zh-CN" dirty="0"/>
              <a:t>)</a:t>
            </a:r>
          </a:p>
          <a:p>
            <a:pPr lvl="1"/>
            <a:r>
              <a:rPr lang="en-US" altLang="zh-CN" dirty="0"/>
              <a:t>Dr. Cui won </a:t>
            </a:r>
            <a:r>
              <a:rPr lang="en-US" altLang="zh-CN" b="1" dirty="0"/>
              <a:t>nine grants (PI)</a:t>
            </a:r>
            <a:r>
              <a:rPr lang="en-US" altLang="zh-CN" dirty="0"/>
              <a:t>, totally HK </a:t>
            </a:r>
            <a:r>
              <a:rPr lang="en-US" altLang="zh-CN" b="1" dirty="0"/>
              <a:t>$16.5M</a:t>
            </a:r>
            <a:r>
              <a:rPr lang="en-US" altLang="zh-CN" dirty="0"/>
              <a:t>, in his 7-year HKU career</a:t>
            </a:r>
          </a:p>
          <a:p>
            <a:pPr lvl="1"/>
            <a:r>
              <a:rPr lang="en-US" altLang="zh-CN" dirty="0"/>
              <a:t>Filed 13 patents in past 3 years</a:t>
            </a:r>
          </a:p>
          <a:p>
            <a:pPr lvl="1"/>
            <a:r>
              <a:rPr lang="en-US" altLang="zh-CN" dirty="0"/>
              <a:t>Publish 14 international best-tiered (</a:t>
            </a:r>
            <a:r>
              <a:rPr lang="en-US" altLang="zh-CN" b="1" dirty="0"/>
              <a:t>CCF A</a:t>
            </a:r>
            <a:r>
              <a:rPr lang="en-US" altLang="zh-CN" dirty="0"/>
              <a:t>) journals and conferences, all papers are good candidates of </a:t>
            </a:r>
            <a:r>
              <a:rPr lang="en-US" altLang="zh-CN" b="1" dirty="0"/>
              <a:t>RAE 4-stars</a:t>
            </a:r>
          </a:p>
        </p:txBody>
      </p:sp>
      <p:sp>
        <p:nvSpPr>
          <p:cNvPr id="5" name="Slide Number Placeholder 4"/>
          <p:cNvSpPr>
            <a:spLocks noGrp="1"/>
          </p:cNvSpPr>
          <p:nvPr>
            <p:ph type="sldNum" sz="quarter" idx="12"/>
          </p:nvPr>
        </p:nvSpPr>
        <p:spPr/>
        <p:txBody>
          <a:bodyPr/>
          <a:lstStyle/>
          <a:p>
            <a:fld id="{D1462865-C5DA-4615-B020-DFBD3C2DE77A}" type="slidenum">
              <a:rPr lang="en-US" smtClean="0"/>
              <a:t>14</a:t>
            </a:fld>
            <a:endParaRPr lang="en-US" dirty="0"/>
          </a:p>
        </p:txBody>
      </p:sp>
      <p:pic>
        <p:nvPicPr>
          <p:cNvPr id="6" name="图片 5" descr="图形用户界面&#10;&#10;描述已自动生成">
            <a:extLst>
              <a:ext uri="{FF2B5EF4-FFF2-40B4-BE49-F238E27FC236}">
                <a16:creationId xmlns:a16="http://schemas.microsoft.com/office/drawing/2014/main" id="{3B326B5A-EA03-B3DD-5BE3-71634FA2A6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86516" y="1887518"/>
            <a:ext cx="3217932" cy="4608562"/>
          </a:xfrm>
          <a:prstGeom prst="rect">
            <a:avLst/>
          </a:prstGeom>
        </p:spPr>
      </p:pic>
      <p:sp>
        <p:nvSpPr>
          <p:cNvPr id="7" name="文本框 6">
            <a:extLst>
              <a:ext uri="{FF2B5EF4-FFF2-40B4-BE49-F238E27FC236}">
                <a16:creationId xmlns:a16="http://schemas.microsoft.com/office/drawing/2014/main" id="{D96C1BED-370A-596A-495C-B489BE1F8082}"/>
              </a:ext>
            </a:extLst>
          </p:cNvPr>
          <p:cNvSpPr txBox="1"/>
          <p:nvPr/>
        </p:nvSpPr>
        <p:spPr>
          <a:xfrm>
            <a:off x="4788024" y="1412776"/>
            <a:ext cx="4248472" cy="338554"/>
          </a:xfrm>
          <a:prstGeom prst="rect">
            <a:avLst/>
          </a:prstGeom>
          <a:noFill/>
        </p:spPr>
        <p:txBody>
          <a:bodyPr wrap="square" rtlCol="0">
            <a:spAutoFit/>
          </a:bodyPr>
          <a:lstStyle/>
          <a:p>
            <a:pPr lvl="1"/>
            <a:r>
              <a:rPr lang="en-US" altLang="zh-CN" sz="1600" dirty="0">
                <a:hlinkClick r:id="rId4"/>
              </a:rPr>
              <a:t>www.huaweicloud.com/product/tics.html</a:t>
            </a:r>
            <a:endParaRPr lang="en-US" altLang="zh-CN" sz="1600" dirty="0"/>
          </a:p>
        </p:txBody>
      </p:sp>
    </p:spTree>
    <p:extLst>
      <p:ext uri="{BB962C8B-B14F-4D97-AF65-F5344CB8AC3E}">
        <p14:creationId xmlns:p14="http://schemas.microsoft.com/office/powerpoint/2010/main" val="744062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EFF3AB-0B6D-5766-CA4F-604B42F9A0E4}"/>
              </a:ext>
            </a:extLst>
          </p:cNvPr>
          <p:cNvSpPr>
            <a:spLocks noGrp="1"/>
          </p:cNvSpPr>
          <p:nvPr>
            <p:ph type="title"/>
          </p:nvPr>
        </p:nvSpPr>
        <p:spPr/>
        <p:txBody>
          <a:bodyPr>
            <a:normAutofit fontScale="90000"/>
          </a:bodyPr>
          <a:lstStyle/>
          <a:p>
            <a:r>
              <a:rPr lang="en-US" altLang="zh-CN" dirty="0"/>
              <a:t>(e) Project Dissemination:</a:t>
            </a:r>
            <a:br>
              <a:rPr lang="en-US" altLang="zh-CN" dirty="0"/>
            </a:br>
            <a:r>
              <a:rPr lang="en-US" altLang="zh-CN" dirty="0"/>
              <a:t>Impact Case Letter (Part 1/2)</a:t>
            </a:r>
            <a:endParaRPr lang="zh-CN" altLang="en-US" dirty="0"/>
          </a:p>
        </p:txBody>
      </p:sp>
      <p:sp>
        <p:nvSpPr>
          <p:cNvPr id="3" name="内容占位符 2">
            <a:extLst>
              <a:ext uri="{FF2B5EF4-FFF2-40B4-BE49-F238E27FC236}">
                <a16:creationId xmlns:a16="http://schemas.microsoft.com/office/drawing/2014/main" id="{564F1CCD-895A-3726-4F24-DC56B72BE25D}"/>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9DA077C7-A58A-9735-91CE-071F36CEF127}"/>
              </a:ext>
            </a:extLst>
          </p:cNvPr>
          <p:cNvSpPr>
            <a:spLocks noGrp="1"/>
          </p:cNvSpPr>
          <p:nvPr>
            <p:ph type="sldNum" sz="quarter" idx="12"/>
          </p:nvPr>
        </p:nvSpPr>
        <p:spPr/>
        <p:txBody>
          <a:bodyPr/>
          <a:lstStyle/>
          <a:p>
            <a:fld id="{D1462865-C5DA-4615-B020-DFBD3C2DE77A}" type="slidenum">
              <a:rPr lang="en-US" smtClean="0"/>
              <a:t>15</a:t>
            </a:fld>
            <a:endParaRPr lang="en-US" dirty="0"/>
          </a:p>
        </p:txBody>
      </p:sp>
      <p:pic>
        <p:nvPicPr>
          <p:cNvPr id="6" name="图片 5">
            <a:extLst>
              <a:ext uri="{FF2B5EF4-FFF2-40B4-BE49-F238E27FC236}">
                <a16:creationId xmlns:a16="http://schemas.microsoft.com/office/drawing/2014/main" id="{65AF0741-0A48-55AD-F7F2-BC67FEDF7955}"/>
              </a:ext>
            </a:extLst>
          </p:cNvPr>
          <p:cNvPicPr>
            <a:picLocks noChangeAspect="1"/>
          </p:cNvPicPr>
          <p:nvPr/>
        </p:nvPicPr>
        <p:blipFill>
          <a:blip r:embed="rId2"/>
          <a:stretch>
            <a:fillRect/>
          </a:stretch>
        </p:blipFill>
        <p:spPr>
          <a:xfrm>
            <a:off x="1547664" y="1621113"/>
            <a:ext cx="6184017" cy="4963343"/>
          </a:xfrm>
          <a:prstGeom prst="rect">
            <a:avLst/>
          </a:prstGeom>
        </p:spPr>
      </p:pic>
    </p:spTree>
    <p:extLst>
      <p:ext uri="{BB962C8B-B14F-4D97-AF65-F5344CB8AC3E}">
        <p14:creationId xmlns:p14="http://schemas.microsoft.com/office/powerpoint/2010/main" val="3373968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EFF3AB-0B6D-5766-CA4F-604B42F9A0E4}"/>
              </a:ext>
            </a:extLst>
          </p:cNvPr>
          <p:cNvSpPr>
            <a:spLocks noGrp="1"/>
          </p:cNvSpPr>
          <p:nvPr>
            <p:ph type="title"/>
          </p:nvPr>
        </p:nvSpPr>
        <p:spPr/>
        <p:txBody>
          <a:bodyPr>
            <a:normAutofit fontScale="90000"/>
          </a:bodyPr>
          <a:lstStyle/>
          <a:p>
            <a:r>
              <a:rPr lang="en-US" altLang="zh-CN" dirty="0"/>
              <a:t>(e) Project </a:t>
            </a:r>
            <a:r>
              <a:rPr lang="en-US" altLang="zh-CN" dirty="0" err="1"/>
              <a:t>Dessemination</a:t>
            </a:r>
            <a:r>
              <a:rPr lang="en-US" altLang="zh-CN" dirty="0"/>
              <a:t>:</a:t>
            </a:r>
            <a:br>
              <a:rPr lang="en-US" altLang="zh-CN" dirty="0"/>
            </a:br>
            <a:r>
              <a:rPr lang="en-US" altLang="zh-CN" dirty="0"/>
              <a:t>Impact Case Letter (Part 2/2)</a:t>
            </a:r>
            <a:endParaRPr lang="zh-CN" altLang="en-US" dirty="0"/>
          </a:p>
        </p:txBody>
      </p:sp>
      <p:sp>
        <p:nvSpPr>
          <p:cNvPr id="3" name="内容占位符 2">
            <a:extLst>
              <a:ext uri="{FF2B5EF4-FFF2-40B4-BE49-F238E27FC236}">
                <a16:creationId xmlns:a16="http://schemas.microsoft.com/office/drawing/2014/main" id="{564F1CCD-895A-3726-4F24-DC56B72BE25D}"/>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9DA077C7-A58A-9735-91CE-071F36CEF127}"/>
              </a:ext>
            </a:extLst>
          </p:cNvPr>
          <p:cNvSpPr>
            <a:spLocks noGrp="1"/>
          </p:cNvSpPr>
          <p:nvPr>
            <p:ph type="sldNum" sz="quarter" idx="12"/>
          </p:nvPr>
        </p:nvSpPr>
        <p:spPr/>
        <p:txBody>
          <a:bodyPr/>
          <a:lstStyle/>
          <a:p>
            <a:fld id="{D1462865-C5DA-4615-B020-DFBD3C2DE77A}" type="slidenum">
              <a:rPr lang="en-US" smtClean="0"/>
              <a:t>16</a:t>
            </a:fld>
            <a:endParaRPr lang="en-US" dirty="0"/>
          </a:p>
        </p:txBody>
      </p:sp>
      <p:pic>
        <p:nvPicPr>
          <p:cNvPr id="7" name="图片 6">
            <a:extLst>
              <a:ext uri="{FF2B5EF4-FFF2-40B4-BE49-F238E27FC236}">
                <a16:creationId xmlns:a16="http://schemas.microsoft.com/office/drawing/2014/main" id="{625A2F94-C132-A0C8-57CE-37F0138F357A}"/>
              </a:ext>
            </a:extLst>
          </p:cNvPr>
          <p:cNvPicPr>
            <a:picLocks noChangeAspect="1"/>
          </p:cNvPicPr>
          <p:nvPr/>
        </p:nvPicPr>
        <p:blipFill>
          <a:blip r:embed="rId2"/>
          <a:stretch>
            <a:fillRect/>
          </a:stretch>
        </p:blipFill>
        <p:spPr>
          <a:xfrm>
            <a:off x="1835696" y="2057399"/>
            <a:ext cx="5621334" cy="4525963"/>
          </a:xfrm>
          <a:prstGeom prst="rect">
            <a:avLst/>
          </a:prstGeom>
        </p:spPr>
      </p:pic>
    </p:spTree>
    <p:extLst>
      <p:ext uri="{BB962C8B-B14F-4D97-AF65-F5344CB8AC3E}">
        <p14:creationId xmlns:p14="http://schemas.microsoft.com/office/powerpoint/2010/main" val="1071590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CBD6BE-E9B7-4A37-D353-A3BA337ED472}"/>
              </a:ext>
            </a:extLst>
          </p:cNvPr>
          <p:cNvSpPr>
            <a:spLocks noGrp="1"/>
          </p:cNvSpPr>
          <p:nvPr>
            <p:ph type="title"/>
          </p:nvPr>
        </p:nvSpPr>
        <p:spPr/>
        <p:txBody>
          <a:bodyPr/>
          <a:lstStyle/>
          <a:p>
            <a:r>
              <a:rPr lang="en-US" altLang="zh-CN" dirty="0"/>
              <a:t>(f) Snapshot of the TICS Website</a:t>
            </a:r>
            <a:endParaRPr lang="zh-CN" altLang="en-US" dirty="0"/>
          </a:p>
        </p:txBody>
      </p:sp>
      <p:sp>
        <p:nvSpPr>
          <p:cNvPr id="3" name="内容占位符 2">
            <a:extLst>
              <a:ext uri="{FF2B5EF4-FFF2-40B4-BE49-F238E27FC236}">
                <a16:creationId xmlns:a16="http://schemas.microsoft.com/office/drawing/2014/main" id="{D5DBF948-A8FB-A495-9358-9EFD24A4022C}"/>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97C289E6-3DD4-46CC-BD14-EEB1D3BC625E}"/>
              </a:ext>
            </a:extLst>
          </p:cNvPr>
          <p:cNvSpPr>
            <a:spLocks noGrp="1"/>
          </p:cNvSpPr>
          <p:nvPr>
            <p:ph type="sldNum" sz="quarter" idx="12"/>
          </p:nvPr>
        </p:nvSpPr>
        <p:spPr/>
        <p:txBody>
          <a:bodyPr/>
          <a:lstStyle/>
          <a:p>
            <a:fld id="{D1462865-C5DA-4615-B020-DFBD3C2DE77A}" type="slidenum">
              <a:rPr lang="en-US" smtClean="0"/>
              <a:t>17</a:t>
            </a:fld>
            <a:endParaRPr lang="en-US" dirty="0"/>
          </a:p>
        </p:txBody>
      </p:sp>
      <p:pic>
        <p:nvPicPr>
          <p:cNvPr id="5" name="图片 4">
            <a:extLst>
              <a:ext uri="{FF2B5EF4-FFF2-40B4-BE49-F238E27FC236}">
                <a16:creationId xmlns:a16="http://schemas.microsoft.com/office/drawing/2014/main" id="{B055685B-9A57-7CE1-52B6-C98F2F1ED7C0}"/>
              </a:ext>
            </a:extLst>
          </p:cNvPr>
          <p:cNvPicPr>
            <a:picLocks noChangeAspect="1"/>
          </p:cNvPicPr>
          <p:nvPr/>
        </p:nvPicPr>
        <p:blipFill>
          <a:blip r:embed="rId2"/>
          <a:stretch>
            <a:fillRect/>
          </a:stretch>
        </p:blipFill>
        <p:spPr>
          <a:xfrm>
            <a:off x="827584" y="1453145"/>
            <a:ext cx="7309134" cy="4979216"/>
          </a:xfrm>
          <a:prstGeom prst="rect">
            <a:avLst/>
          </a:prstGeom>
        </p:spPr>
      </p:pic>
    </p:spTree>
    <p:extLst>
      <p:ext uri="{BB962C8B-B14F-4D97-AF65-F5344CB8AC3E}">
        <p14:creationId xmlns:p14="http://schemas.microsoft.com/office/powerpoint/2010/main" val="278580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34FC7-52DB-0439-98C9-A375D3DD0007}"/>
              </a:ext>
            </a:extLst>
          </p:cNvPr>
          <p:cNvSpPr>
            <a:spLocks noGrp="1"/>
          </p:cNvSpPr>
          <p:nvPr>
            <p:ph type="title"/>
          </p:nvPr>
        </p:nvSpPr>
        <p:spPr/>
        <p:txBody>
          <a:bodyPr>
            <a:normAutofit fontScale="90000"/>
          </a:bodyPr>
          <a:lstStyle/>
          <a:p>
            <a:r>
              <a:rPr lang="en-HK" altLang="zh-CN" dirty="0"/>
              <a:t>Secure Computing with Protection of Client Cloud against Cloud Provider</a:t>
            </a:r>
            <a:endParaRPr lang="zh-CN" altLang="en-US" dirty="0"/>
          </a:p>
        </p:txBody>
      </p:sp>
      <p:sp>
        <p:nvSpPr>
          <p:cNvPr id="3" name="内容占位符 2">
            <a:extLst>
              <a:ext uri="{FF2B5EF4-FFF2-40B4-BE49-F238E27FC236}">
                <a16:creationId xmlns:a16="http://schemas.microsoft.com/office/drawing/2014/main" id="{FA9519A9-70A6-26B5-C226-91688929FFAD}"/>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557C2C8F-F2F9-7EFA-AE8C-DE4C4C25C4D4}"/>
              </a:ext>
            </a:extLst>
          </p:cNvPr>
          <p:cNvSpPr>
            <a:spLocks noGrp="1"/>
          </p:cNvSpPr>
          <p:nvPr>
            <p:ph type="sldNum" sz="quarter" idx="12"/>
          </p:nvPr>
        </p:nvSpPr>
        <p:spPr/>
        <p:txBody>
          <a:bodyPr/>
          <a:lstStyle/>
          <a:p>
            <a:fld id="{D1462865-C5DA-4615-B020-DFBD3C2DE77A}" type="slidenum">
              <a:rPr lang="en-US" smtClean="0"/>
              <a:t>18</a:t>
            </a:fld>
            <a:endParaRPr lang="en-US" dirty="0"/>
          </a:p>
        </p:txBody>
      </p:sp>
      <p:pic>
        <p:nvPicPr>
          <p:cNvPr id="6" name="图片 5">
            <a:extLst>
              <a:ext uri="{FF2B5EF4-FFF2-40B4-BE49-F238E27FC236}">
                <a16:creationId xmlns:a16="http://schemas.microsoft.com/office/drawing/2014/main" id="{6922BAAE-7E0E-0486-BC84-D7EF74708E28}"/>
              </a:ext>
            </a:extLst>
          </p:cNvPr>
          <p:cNvPicPr>
            <a:picLocks noChangeAspect="1"/>
          </p:cNvPicPr>
          <p:nvPr/>
        </p:nvPicPr>
        <p:blipFill>
          <a:blip r:embed="rId2"/>
          <a:stretch>
            <a:fillRect/>
          </a:stretch>
        </p:blipFill>
        <p:spPr>
          <a:xfrm>
            <a:off x="1115616" y="1526815"/>
            <a:ext cx="6686725" cy="5056547"/>
          </a:xfrm>
          <a:prstGeom prst="rect">
            <a:avLst/>
          </a:prstGeom>
        </p:spPr>
      </p:pic>
    </p:spTree>
    <p:extLst>
      <p:ext uri="{BB962C8B-B14F-4D97-AF65-F5344CB8AC3E}">
        <p14:creationId xmlns:p14="http://schemas.microsoft.com/office/powerpoint/2010/main" val="3514179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F8A64-3C7A-9276-AEBA-50FFAAEAE963}"/>
              </a:ext>
            </a:extLst>
          </p:cNvPr>
          <p:cNvSpPr>
            <a:spLocks noGrp="1"/>
          </p:cNvSpPr>
          <p:nvPr>
            <p:ph type="title"/>
          </p:nvPr>
        </p:nvSpPr>
        <p:spPr/>
        <p:txBody>
          <a:bodyPr/>
          <a:lstStyle/>
          <a:p>
            <a:r>
              <a:rPr lang="en-HK" dirty="0"/>
              <a:t>Demo Video</a:t>
            </a:r>
          </a:p>
        </p:txBody>
      </p:sp>
      <p:sp>
        <p:nvSpPr>
          <p:cNvPr id="3" name="Content Placeholder 2">
            <a:extLst>
              <a:ext uri="{FF2B5EF4-FFF2-40B4-BE49-F238E27FC236}">
                <a16:creationId xmlns:a16="http://schemas.microsoft.com/office/drawing/2014/main" id="{88EA476B-FFEF-AE37-07D9-81A24FAF6524}"/>
              </a:ext>
            </a:extLst>
          </p:cNvPr>
          <p:cNvSpPr>
            <a:spLocks noGrp="1"/>
          </p:cNvSpPr>
          <p:nvPr>
            <p:ph idx="1"/>
          </p:nvPr>
        </p:nvSpPr>
        <p:spPr/>
        <p:txBody>
          <a:bodyPr/>
          <a:lstStyle/>
          <a:p>
            <a:r>
              <a:rPr lang="en-HK" dirty="0"/>
              <a:t>Security goal to be demonstrated: the client’s code submitted to the cloud and running in the security hardware (on the cloud) must not be altered by the cloud provider</a:t>
            </a:r>
          </a:p>
        </p:txBody>
      </p:sp>
      <p:sp>
        <p:nvSpPr>
          <p:cNvPr id="4" name="Slide Number Placeholder 3">
            <a:extLst>
              <a:ext uri="{FF2B5EF4-FFF2-40B4-BE49-F238E27FC236}">
                <a16:creationId xmlns:a16="http://schemas.microsoft.com/office/drawing/2014/main" id="{1F167F24-7D50-8A44-C86D-6125D3341577}"/>
              </a:ext>
            </a:extLst>
          </p:cNvPr>
          <p:cNvSpPr>
            <a:spLocks noGrp="1"/>
          </p:cNvSpPr>
          <p:nvPr>
            <p:ph type="sldNum" sz="quarter" idx="12"/>
          </p:nvPr>
        </p:nvSpPr>
        <p:spPr/>
        <p:txBody>
          <a:bodyPr/>
          <a:lstStyle/>
          <a:p>
            <a:fld id="{D1462865-C5DA-4615-B020-DFBD3C2DE77A}" type="slidenum">
              <a:rPr lang="en-US" smtClean="0"/>
              <a:t>19</a:t>
            </a:fld>
            <a:endParaRPr lang="en-US" dirty="0"/>
          </a:p>
        </p:txBody>
      </p:sp>
    </p:spTree>
    <p:extLst>
      <p:ext uri="{BB962C8B-B14F-4D97-AF65-F5344CB8AC3E}">
        <p14:creationId xmlns:p14="http://schemas.microsoft.com/office/powerpoint/2010/main" val="1197904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5FAD12-4671-0665-5DDC-9EF68CCA487D}"/>
              </a:ext>
            </a:extLst>
          </p:cNvPr>
          <p:cNvSpPr>
            <a:spLocks noGrp="1"/>
          </p:cNvSpPr>
          <p:nvPr>
            <p:ph type="title"/>
          </p:nvPr>
        </p:nvSpPr>
        <p:spPr/>
        <p:txBody>
          <a:bodyPr/>
          <a:lstStyle/>
          <a:p>
            <a:r>
              <a:rPr lang="en-US" altLang="zh-CN" dirty="0"/>
              <a:t>(f) Equipment</a:t>
            </a:r>
            <a:endParaRPr lang="zh-CN" altLang="en-US" dirty="0"/>
          </a:p>
        </p:txBody>
      </p:sp>
      <p:sp>
        <p:nvSpPr>
          <p:cNvPr id="3" name="内容占位符 2">
            <a:extLst>
              <a:ext uri="{FF2B5EF4-FFF2-40B4-BE49-F238E27FC236}">
                <a16:creationId xmlns:a16="http://schemas.microsoft.com/office/drawing/2014/main" id="{22924DD5-A846-3421-A6AC-CFD712EC9402}"/>
              </a:ext>
            </a:extLst>
          </p:cNvPr>
          <p:cNvSpPr>
            <a:spLocks noGrp="1"/>
          </p:cNvSpPr>
          <p:nvPr>
            <p:ph idx="1"/>
          </p:nvPr>
        </p:nvSpPr>
        <p:spPr/>
        <p:txBody>
          <a:bodyPr>
            <a:normAutofit fontScale="55000" lnSpcReduction="20000"/>
          </a:bodyPr>
          <a:lstStyle/>
          <a:p>
            <a:r>
              <a:rPr lang="en-US" altLang="zh-CN" dirty="0"/>
              <a:t>Our study was conducted on ten computers with </a:t>
            </a:r>
            <a:r>
              <a:rPr lang="en-US" altLang="zh-CN" b="1" dirty="0"/>
              <a:t>SGX-equipped</a:t>
            </a:r>
          </a:p>
          <a:p>
            <a:r>
              <a:rPr lang="en-US" altLang="zh-CN" b="1" dirty="0"/>
              <a:t>Intel(R) Xeon(R) CPU E3-1280 v6 with 4 cores, 64GB RAM and 2TB</a:t>
            </a:r>
          </a:p>
          <a:p>
            <a:r>
              <a:rPr lang="en-US" altLang="zh-CN" b="1" dirty="0"/>
              <a:t>SSD</a:t>
            </a:r>
            <a:r>
              <a:rPr lang="en-US" altLang="zh-CN" dirty="0"/>
              <a:t>. All computers form a cluster with 40Gbps network. For the</a:t>
            </a:r>
          </a:p>
          <a:p>
            <a:r>
              <a:rPr lang="en-US" altLang="zh-CN" dirty="0"/>
              <a:t>setup of clients in </a:t>
            </a:r>
            <a:r>
              <a:rPr lang="en-US" altLang="zh-CN" dirty="0" err="1"/>
              <a:t>ZooKeeper</a:t>
            </a:r>
            <a:r>
              <a:rPr lang="en-US" altLang="zh-CN" dirty="0"/>
              <a:t>-Uranus, we ran the clients in host</a:t>
            </a:r>
          </a:p>
          <a:p>
            <a:r>
              <a:rPr lang="en-US" altLang="zh-CN" dirty="0"/>
              <a:t>machines outside the cluster, as clients are trusted and run outside</a:t>
            </a:r>
          </a:p>
          <a:p>
            <a:r>
              <a:rPr lang="en-US" altLang="zh-CN" dirty="0"/>
              <a:t>the cloud in our threat model. ping latency between clients and</a:t>
            </a:r>
          </a:p>
          <a:p>
            <a:r>
              <a:rPr lang="en-US" altLang="zh-CN" dirty="0"/>
              <a:t>servers is 800us. Uranus’s enclave heap size is 80MB to avoid SGX</a:t>
            </a:r>
          </a:p>
          <a:p>
            <a:r>
              <a:rPr lang="en-US" altLang="zh-CN" dirty="0"/>
              <a:t>paging. This heap size setting is common in practice [77].</a:t>
            </a:r>
          </a:p>
          <a:p>
            <a:r>
              <a:rPr lang="en-US" altLang="zh-CN" dirty="0"/>
              <a:t>We compared Spark-Uranus and </a:t>
            </a:r>
            <a:r>
              <a:rPr lang="en-US" altLang="zh-CN" dirty="0" err="1"/>
              <a:t>ZooKeeper</a:t>
            </a:r>
            <a:r>
              <a:rPr lang="en-US" altLang="zh-CN" dirty="0"/>
              <a:t>-Uranus with two</a:t>
            </a:r>
          </a:p>
          <a:p>
            <a:r>
              <a:rPr lang="en-US" altLang="zh-CN" dirty="0"/>
              <a:t>security systems (i.e., Opaque [77] and </a:t>
            </a:r>
            <a:r>
              <a:rPr lang="en-US" altLang="zh-CN" dirty="0" err="1"/>
              <a:t>SecureKeeper</a:t>
            </a:r>
            <a:r>
              <a:rPr lang="en-US" altLang="zh-CN" dirty="0"/>
              <a:t> [28]) and two</a:t>
            </a:r>
          </a:p>
          <a:p>
            <a:r>
              <a:rPr lang="en-US" altLang="zh-CN" dirty="0"/>
              <a:t>native and insecure applications (i.e., Spark [76] and </a:t>
            </a:r>
            <a:r>
              <a:rPr lang="en-US" altLang="zh-CN" dirty="0" err="1"/>
              <a:t>ZooKeeper</a:t>
            </a:r>
            <a:r>
              <a:rPr lang="en-US" altLang="zh-CN" dirty="0"/>
              <a:t> [13]).</a:t>
            </a:r>
          </a:p>
          <a:p>
            <a:r>
              <a:rPr lang="en-US" altLang="zh-CN" dirty="0"/>
              <a:t>We ran Spark-Uranus with all applications using Uranus’s JIT</a:t>
            </a:r>
          </a:p>
          <a:p>
            <a:r>
              <a:rPr lang="en-US" altLang="zh-CN" dirty="0"/>
              <a:t>compiler (§4.2) by default. We used ten machines for each query,</a:t>
            </a:r>
          </a:p>
          <a:p>
            <a:r>
              <a:rPr lang="en-US" altLang="zh-CN" dirty="0"/>
              <a:t>and each machine runs one enclave with four threads by default.</a:t>
            </a:r>
          </a:p>
          <a:p>
            <a:r>
              <a:rPr lang="en-US" altLang="zh-CN" dirty="0"/>
              <a:t>For Spark-Uranus, we included all 8 queries evaluated in Opaque.</a:t>
            </a:r>
            <a:endParaRPr lang="zh-CN" altLang="en-US" dirty="0"/>
          </a:p>
        </p:txBody>
      </p:sp>
      <p:sp>
        <p:nvSpPr>
          <p:cNvPr id="4" name="灯片编号占位符 3">
            <a:extLst>
              <a:ext uri="{FF2B5EF4-FFF2-40B4-BE49-F238E27FC236}">
                <a16:creationId xmlns:a16="http://schemas.microsoft.com/office/drawing/2014/main" id="{42AAB6BF-B17B-F2E8-6446-3F30F95F9CB7}"/>
              </a:ext>
            </a:extLst>
          </p:cNvPr>
          <p:cNvSpPr>
            <a:spLocks noGrp="1"/>
          </p:cNvSpPr>
          <p:nvPr>
            <p:ph type="sldNum" sz="quarter" idx="12"/>
          </p:nvPr>
        </p:nvSpPr>
        <p:spPr/>
        <p:txBody>
          <a:bodyPr/>
          <a:lstStyle/>
          <a:p>
            <a:fld id="{D1462865-C5DA-4615-B020-DFBD3C2DE77A}" type="slidenum">
              <a:rPr lang="en-US" smtClean="0"/>
              <a:t>20</a:t>
            </a:fld>
            <a:endParaRPr lang="en-US" dirty="0"/>
          </a:p>
        </p:txBody>
      </p:sp>
    </p:spTree>
    <p:extLst>
      <p:ext uri="{BB962C8B-B14F-4D97-AF65-F5344CB8AC3E}">
        <p14:creationId xmlns:p14="http://schemas.microsoft.com/office/powerpoint/2010/main" val="2969798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F12644-B5FA-6885-0EAC-D46359A082AF}"/>
              </a:ext>
            </a:extLst>
          </p:cNvPr>
          <p:cNvSpPr>
            <a:spLocks noGrp="1"/>
          </p:cNvSpPr>
          <p:nvPr>
            <p:ph type="title"/>
          </p:nvPr>
        </p:nvSpPr>
        <p:spPr/>
        <p:txBody>
          <a:bodyPr>
            <a:normAutofit fontScale="90000"/>
          </a:bodyPr>
          <a:lstStyle/>
          <a:p>
            <a:r>
              <a:rPr lang="en-US" altLang="zh-CN" dirty="0"/>
              <a:t>(b) Detailed Research Progress:</a:t>
            </a:r>
            <a:br>
              <a:rPr lang="en-US" altLang="zh-CN" dirty="0"/>
            </a:br>
            <a:r>
              <a:rPr lang="en-US" altLang="zh-CN" dirty="0"/>
              <a:t>Future Plans</a:t>
            </a:r>
            <a:endParaRPr lang="zh-CN" altLang="en-US" dirty="0"/>
          </a:p>
        </p:txBody>
      </p:sp>
      <p:sp>
        <p:nvSpPr>
          <p:cNvPr id="3" name="内容占位符 2">
            <a:extLst>
              <a:ext uri="{FF2B5EF4-FFF2-40B4-BE49-F238E27FC236}">
                <a16:creationId xmlns:a16="http://schemas.microsoft.com/office/drawing/2014/main" id="{C06E0E17-B309-4882-5FC9-134201855405}"/>
              </a:ext>
            </a:extLst>
          </p:cNvPr>
          <p:cNvSpPr>
            <a:spLocks noGrp="1"/>
          </p:cNvSpPr>
          <p:nvPr>
            <p:ph idx="1"/>
          </p:nvPr>
        </p:nvSpPr>
        <p:spPr/>
        <p:txBody>
          <a:bodyPr>
            <a:normAutofit/>
          </a:bodyPr>
          <a:lstStyle/>
          <a:p>
            <a:r>
              <a:rPr lang="zh-TW" altLang="en-US" dirty="0"/>
              <a:t>（</a:t>
            </a:r>
            <a:r>
              <a:rPr lang="en-US" altLang="zh-TW" dirty="0"/>
              <a:t>01/06/2023 -- 30/11/2023</a:t>
            </a:r>
            <a:r>
              <a:rPr lang="zh-CN" altLang="en-US" dirty="0"/>
              <a:t>，进行中</a:t>
            </a:r>
            <a:r>
              <a:rPr lang="zh-TW" altLang="en-US" dirty="0"/>
              <a:t>）</a:t>
            </a:r>
          </a:p>
          <a:p>
            <a:r>
              <a:rPr lang="en-US" altLang="zh-TW" dirty="0"/>
              <a:t>3. </a:t>
            </a:r>
            <a:r>
              <a:rPr lang="zh-TW" altLang="en-US" dirty="0"/>
              <a:t>基於大數據語義的計算機內存運行空間之高效率重用協議，全球首次支持在可信執行環境內運行典型大數據規模的數據集。</a:t>
            </a:r>
            <a:endParaRPr lang="en-US" altLang="zh-TW" dirty="0"/>
          </a:p>
          <a:p>
            <a:r>
              <a:rPr lang="zh-TW" altLang="en-US" dirty="0"/>
              <a:t>（</a:t>
            </a:r>
            <a:r>
              <a:rPr lang="en-US" altLang="zh-TW" dirty="0"/>
              <a:t>01/12/2023 -- 31/05/2024</a:t>
            </a:r>
            <a:r>
              <a:rPr lang="zh-CN" altLang="en-US" dirty="0"/>
              <a:t>，即将开始</a:t>
            </a:r>
            <a:r>
              <a:rPr lang="zh-TW" altLang="en-US" dirty="0"/>
              <a:t>）</a:t>
            </a:r>
          </a:p>
          <a:p>
            <a:r>
              <a:rPr lang="en-US" altLang="zh-TW" dirty="0"/>
              <a:t>4. </a:t>
            </a:r>
            <a:r>
              <a:rPr lang="zh-TW" altLang="en-US" dirty="0"/>
              <a:t>與本項目跨境合作方協調完成</a:t>
            </a:r>
            <a:r>
              <a:rPr lang="en-US" altLang="zh-TW" dirty="0"/>
              <a:t>UTEE</a:t>
            </a:r>
            <a:r>
              <a:rPr lang="zh-TW" altLang="en-US" dirty="0"/>
              <a:t>的整體系統的集成、安全特性論證、性能測試，並合作尋找商用示範案例。</a:t>
            </a:r>
            <a:endParaRPr lang="zh-CN" altLang="en-US" dirty="0"/>
          </a:p>
        </p:txBody>
      </p:sp>
      <p:sp>
        <p:nvSpPr>
          <p:cNvPr id="4" name="灯片编号占位符 3">
            <a:extLst>
              <a:ext uri="{FF2B5EF4-FFF2-40B4-BE49-F238E27FC236}">
                <a16:creationId xmlns:a16="http://schemas.microsoft.com/office/drawing/2014/main" id="{575EBB52-CCE1-E79C-9E1C-1B73C88DA58A}"/>
              </a:ext>
            </a:extLst>
          </p:cNvPr>
          <p:cNvSpPr>
            <a:spLocks noGrp="1"/>
          </p:cNvSpPr>
          <p:nvPr>
            <p:ph type="sldNum" sz="quarter" idx="12"/>
          </p:nvPr>
        </p:nvSpPr>
        <p:spPr/>
        <p:txBody>
          <a:bodyPr/>
          <a:lstStyle/>
          <a:p>
            <a:fld id="{D1462865-C5DA-4615-B020-DFBD3C2DE77A}" type="slidenum">
              <a:rPr lang="en-US" smtClean="0"/>
              <a:t>21</a:t>
            </a:fld>
            <a:endParaRPr lang="en-US" dirty="0"/>
          </a:p>
        </p:txBody>
      </p:sp>
    </p:spTree>
    <p:extLst>
      <p:ext uri="{BB962C8B-B14F-4D97-AF65-F5344CB8AC3E}">
        <p14:creationId xmlns:p14="http://schemas.microsoft.com/office/powerpoint/2010/main" val="2580894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F85AF9-E601-33DC-B6B5-D85FA14005A1}"/>
              </a:ext>
            </a:extLst>
          </p:cNvPr>
          <p:cNvSpPr>
            <a:spLocks noGrp="1"/>
          </p:cNvSpPr>
          <p:nvPr>
            <p:ph type="title"/>
          </p:nvPr>
        </p:nvSpPr>
        <p:spPr/>
        <p:txBody>
          <a:bodyPr>
            <a:normAutofit fontScale="90000"/>
          </a:bodyPr>
          <a:lstStyle/>
          <a:p>
            <a:r>
              <a:rPr lang="en-US" altLang="zh-CN" dirty="0"/>
              <a:t>Expectation in Future Plans (the Final Report Submitted to ITF in 2024)</a:t>
            </a:r>
            <a:endParaRPr lang="zh-CN" altLang="en-US" dirty="0"/>
          </a:p>
        </p:txBody>
      </p:sp>
      <p:sp>
        <p:nvSpPr>
          <p:cNvPr id="3" name="内容占位符 2">
            <a:extLst>
              <a:ext uri="{FF2B5EF4-FFF2-40B4-BE49-F238E27FC236}">
                <a16:creationId xmlns:a16="http://schemas.microsoft.com/office/drawing/2014/main" id="{07B9D7FF-9AE5-86B1-C4BB-0F910CDA3932}"/>
              </a:ext>
            </a:extLst>
          </p:cNvPr>
          <p:cNvSpPr>
            <a:spLocks noGrp="1"/>
          </p:cNvSpPr>
          <p:nvPr>
            <p:ph idx="1"/>
          </p:nvPr>
        </p:nvSpPr>
        <p:spPr/>
        <p:txBody>
          <a:bodyPr/>
          <a:lstStyle/>
          <a:p>
            <a:r>
              <a:rPr lang="en-US" altLang="zh-CN" dirty="0"/>
              <a:t>No new industrial release links</a:t>
            </a:r>
          </a:p>
          <a:p>
            <a:pPr lvl="1"/>
            <a:r>
              <a:rPr lang="en-US" altLang="zh-CN" dirty="0"/>
              <a:t>This was expected to be done in 2024, but we are ahead of the progress, already released now</a:t>
            </a:r>
          </a:p>
          <a:p>
            <a:pPr lvl="1"/>
            <a:r>
              <a:rPr lang="en-US" altLang="zh-CN" dirty="0"/>
              <a:t>https://www.huaweicloud.com/product/tics.html</a:t>
            </a:r>
          </a:p>
          <a:p>
            <a:r>
              <a:rPr lang="en-US" altLang="zh-CN" dirty="0"/>
              <a:t>Implementing the “(b) Future Plans” in ITF</a:t>
            </a:r>
          </a:p>
          <a:p>
            <a:r>
              <a:rPr lang="en-US" altLang="zh-CN" dirty="0"/>
              <a:t>More publications</a:t>
            </a:r>
          </a:p>
          <a:p>
            <a:r>
              <a:rPr lang="en-US" altLang="zh-CN" dirty="0"/>
              <a:t>More contract research projects from Huawei</a:t>
            </a:r>
            <a:endParaRPr lang="zh-CN" altLang="en-US" dirty="0"/>
          </a:p>
        </p:txBody>
      </p:sp>
      <p:sp>
        <p:nvSpPr>
          <p:cNvPr id="4" name="灯片编号占位符 3">
            <a:extLst>
              <a:ext uri="{FF2B5EF4-FFF2-40B4-BE49-F238E27FC236}">
                <a16:creationId xmlns:a16="http://schemas.microsoft.com/office/drawing/2014/main" id="{B7C72F0E-9AA1-45B9-1E46-3257534E44AF}"/>
              </a:ext>
            </a:extLst>
          </p:cNvPr>
          <p:cNvSpPr>
            <a:spLocks noGrp="1"/>
          </p:cNvSpPr>
          <p:nvPr>
            <p:ph type="sldNum" sz="quarter" idx="12"/>
          </p:nvPr>
        </p:nvSpPr>
        <p:spPr/>
        <p:txBody>
          <a:bodyPr/>
          <a:lstStyle/>
          <a:p>
            <a:fld id="{D1462865-C5DA-4615-B020-DFBD3C2DE77A}" type="slidenum">
              <a:rPr lang="en-US" smtClean="0"/>
              <a:t>22</a:t>
            </a:fld>
            <a:endParaRPr lang="en-US" dirty="0"/>
          </a:p>
        </p:txBody>
      </p:sp>
    </p:spTree>
    <p:extLst>
      <p:ext uri="{BB962C8B-B14F-4D97-AF65-F5344CB8AC3E}">
        <p14:creationId xmlns:p14="http://schemas.microsoft.com/office/powerpoint/2010/main" val="3313016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54FD-A110-0168-1080-1B0E05DB68CF}"/>
              </a:ext>
            </a:extLst>
          </p:cNvPr>
          <p:cNvSpPr>
            <a:spLocks noGrp="1"/>
          </p:cNvSpPr>
          <p:nvPr>
            <p:ph type="title"/>
          </p:nvPr>
        </p:nvSpPr>
        <p:spPr/>
        <p:txBody>
          <a:bodyPr/>
          <a:lstStyle/>
          <a:p>
            <a:r>
              <a:rPr lang="en-HK" dirty="0"/>
              <a:t>Thanks and Questions! </a:t>
            </a:r>
            <a:r>
              <a:rPr lang="en-HK" dirty="0">
                <a:sym typeface="Wingdings" panose="05000000000000000000" pitchFamily="2" charset="2"/>
              </a:rPr>
              <a:t></a:t>
            </a:r>
            <a:endParaRPr lang="en-HK" dirty="0"/>
          </a:p>
        </p:txBody>
      </p:sp>
      <p:sp>
        <p:nvSpPr>
          <p:cNvPr id="3" name="Content Placeholder 2">
            <a:extLst>
              <a:ext uri="{FF2B5EF4-FFF2-40B4-BE49-F238E27FC236}">
                <a16:creationId xmlns:a16="http://schemas.microsoft.com/office/drawing/2014/main" id="{19DE9850-A6F9-5939-4AD1-18E5930E65EA}"/>
              </a:ext>
            </a:extLst>
          </p:cNvPr>
          <p:cNvSpPr>
            <a:spLocks noGrp="1"/>
          </p:cNvSpPr>
          <p:nvPr>
            <p:ph idx="1"/>
          </p:nvPr>
        </p:nvSpPr>
        <p:spPr/>
        <p:txBody>
          <a:bodyPr/>
          <a:lstStyle/>
          <a:p>
            <a:endParaRPr lang="en-HK"/>
          </a:p>
        </p:txBody>
      </p:sp>
      <p:sp>
        <p:nvSpPr>
          <p:cNvPr id="4" name="Slide Number Placeholder 3">
            <a:extLst>
              <a:ext uri="{FF2B5EF4-FFF2-40B4-BE49-F238E27FC236}">
                <a16:creationId xmlns:a16="http://schemas.microsoft.com/office/drawing/2014/main" id="{0FD86625-BC6F-F0E6-5B75-E3991F58782C}"/>
              </a:ext>
            </a:extLst>
          </p:cNvPr>
          <p:cNvSpPr>
            <a:spLocks noGrp="1"/>
          </p:cNvSpPr>
          <p:nvPr>
            <p:ph type="sldNum" sz="quarter" idx="12"/>
          </p:nvPr>
        </p:nvSpPr>
        <p:spPr/>
        <p:txBody>
          <a:bodyPr/>
          <a:lstStyle/>
          <a:p>
            <a:fld id="{D1462865-C5DA-4615-B020-DFBD3C2DE77A}" type="slidenum">
              <a:rPr lang="en-US" smtClean="0"/>
              <a:t>23</a:t>
            </a:fld>
            <a:endParaRPr lang="en-US" dirty="0"/>
          </a:p>
        </p:txBody>
      </p:sp>
    </p:spTree>
    <p:extLst>
      <p:ext uri="{BB962C8B-B14F-4D97-AF65-F5344CB8AC3E}">
        <p14:creationId xmlns:p14="http://schemas.microsoft.com/office/powerpoint/2010/main" val="9958745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1075</TotalTime>
  <Words>2657</Words>
  <Application>Microsoft Office PowerPoint</Application>
  <PresentationFormat>On-screen Show (4:3)</PresentationFormat>
  <Paragraphs>211</Paragraphs>
  <Slides>23</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system-ui</vt:lpstr>
      <vt:lpstr>Arial</vt:lpstr>
      <vt:lpstr>Calibri</vt:lpstr>
      <vt:lpstr>Office Theme</vt:lpstr>
      <vt:lpstr>UTEE: A Secure, Efficient, and Portable Distributed Bigdata Computing System on Heterogeneous Trusted Execution Devices</vt:lpstr>
      <vt:lpstr>Trusted Execution Environment (TEE) Become Available in ARM/AMD/Intel CPUs, But Extremely Hard to Use</vt:lpstr>
      <vt:lpstr>Ubiquitous TEE: A Synergistic Eco-system Between TEE &amp; Java (UTEE’s own components are in green)</vt:lpstr>
      <vt:lpstr>The Rest of My Talk</vt:lpstr>
      <vt:lpstr>(a) The Project Team Members: PIs and My Four RPG students</vt:lpstr>
      <vt:lpstr>(b) Detailed Research Progress: Milestones, Workplans, Dates</vt:lpstr>
      <vt:lpstr>(b) Detailed Research Progress: Achieved Technical Targets with Dates</vt:lpstr>
      <vt:lpstr>(c) Research Results: In Relation to Deliverables (Part 1/2)</vt:lpstr>
      <vt:lpstr>(c) Research Results: In Relation to Deliverables (Part 2/2)</vt:lpstr>
      <vt:lpstr>(d) Achievements To-date: Publications</vt:lpstr>
      <vt:lpstr>Publications</vt:lpstr>
      <vt:lpstr>(d) Achievements: Patent Submitted since Submitting the ITF Proposal</vt:lpstr>
      <vt:lpstr>(d) Achievements To-date: New Research Grants from Huawei</vt:lpstr>
      <vt:lpstr>(e) Project Dissemination:  Industry Release &amp; Impact</vt:lpstr>
      <vt:lpstr>(e) Project Dissemination: Impact Case Letter (Part 1/2)</vt:lpstr>
      <vt:lpstr>(e) Project Dessemination: Impact Case Letter (Part 2/2)</vt:lpstr>
      <vt:lpstr>(f) Snapshot of the TICS Website</vt:lpstr>
      <vt:lpstr>Secure Computing with Protection of Client Cloud against Cloud Provider</vt:lpstr>
      <vt:lpstr>Demo Video</vt:lpstr>
      <vt:lpstr>(f) Equipment</vt:lpstr>
      <vt:lpstr>(b) Detailed Research Progress: Future Plans</vt:lpstr>
      <vt:lpstr>Expectation in Future Plans (the Final Report Submitted to ITF in 2024)</vt:lpstr>
      <vt:lpstr>Thanks and 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KE project that has achieved demonstrable impact</dc:title>
  <dc:creator>Fontaine</dc:creator>
  <cp:lastModifiedBy>Heming Cui</cp:lastModifiedBy>
  <cp:revision>419</cp:revision>
  <cp:lastPrinted>2018-02-14T07:41:26Z</cp:lastPrinted>
  <dcterms:created xsi:type="dcterms:W3CDTF">2014-11-12T08:54:38Z</dcterms:created>
  <dcterms:modified xsi:type="dcterms:W3CDTF">2023-12-05T04:39:31Z</dcterms:modified>
</cp:coreProperties>
</file>