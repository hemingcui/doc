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24" r:id="rId2"/>
    <p:sldId id="426" r:id="rId3"/>
    <p:sldId id="425" r:id="rId4"/>
    <p:sldId id="2147471709" r:id="rId5"/>
    <p:sldId id="2147471722" r:id="rId6"/>
    <p:sldId id="2147471721" r:id="rId7"/>
    <p:sldId id="463" r:id="rId8"/>
    <p:sldId id="464" r:id="rId9"/>
    <p:sldId id="278" r:id="rId10"/>
    <p:sldId id="471" r:id="rId11"/>
    <p:sldId id="282" r:id="rId12"/>
    <p:sldId id="465" r:id="rId13"/>
    <p:sldId id="473" r:id="rId14"/>
    <p:sldId id="472" r:id="rId15"/>
    <p:sldId id="462" r:id="rId16"/>
    <p:sldId id="442" r:id="rId17"/>
    <p:sldId id="444" r:id="rId18"/>
    <p:sldId id="2147471723" r:id="rId19"/>
    <p:sldId id="467" r:id="rId20"/>
    <p:sldId id="460" r:id="rId21"/>
    <p:sldId id="365" r:id="rId22"/>
    <p:sldId id="2147471724" r:id="rId23"/>
    <p:sldId id="438"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B570"/>
    <a:srgbClr val="FAAAAA"/>
    <a:srgbClr val="F5BBBA"/>
    <a:srgbClr val="F9CECD"/>
    <a:srgbClr val="DAE9FC"/>
    <a:srgbClr val="98D077"/>
    <a:srgbClr val="FFB570"/>
    <a:srgbClr val="015F84"/>
    <a:srgbClr val="F9FC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1D3E66-8553-7E4F-A620-A0E9AB39D5D3}" v="1074" dt="2025-05-22T04:34:03.007"/>
    <p1510:client id="{E24432A5-C8FA-D4B2-E9C4-54D1608FBD5E}" v="163" dt="2025-05-21T19:16:15.76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92"/>
    <p:restoredTop sz="63565" autoAdjust="0"/>
  </p:normalViewPr>
  <p:slideViewPr>
    <p:cSldViewPr snapToGrid="0">
      <p:cViewPr varScale="1">
        <p:scale>
          <a:sx n="38" d="100"/>
          <a:sy n="38" d="100"/>
        </p:scale>
        <p:origin x="1077" y="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B5812-7596-4F47-841D-A58A40D631F0}" type="datetimeFigureOut">
              <a:rPr lang="zh-CN" altLang="en-US" smtClean="0"/>
              <a:t>2025/5/29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ECF23E-1084-4E2D-8560-7CEFBDC4ABB0}" type="slidenum">
              <a:rPr lang="zh-CN" altLang="en-US" smtClean="0"/>
              <a:t>‹#›</a:t>
            </a:fld>
            <a:endParaRPr lang="zh-CN" altLang="en-US"/>
          </a:p>
        </p:txBody>
      </p:sp>
    </p:spTree>
    <p:extLst>
      <p:ext uri="{BB962C8B-B14F-4D97-AF65-F5344CB8AC3E}">
        <p14:creationId xmlns:p14="http://schemas.microsoft.com/office/powerpoint/2010/main" val="936222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1</a:t>
            </a:fld>
            <a:endParaRPr lang="zh-CN" altLang="en-US"/>
          </a:p>
        </p:txBody>
      </p:sp>
    </p:spTree>
    <p:extLst>
      <p:ext uri="{BB962C8B-B14F-4D97-AF65-F5344CB8AC3E}">
        <p14:creationId xmlns:p14="http://schemas.microsoft.com/office/powerpoint/2010/main" val="2043391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2</a:t>
            </a:fld>
            <a:endParaRPr lang="zh-CN" altLang="en-US"/>
          </a:p>
        </p:txBody>
      </p:sp>
    </p:spTree>
    <p:extLst>
      <p:ext uri="{BB962C8B-B14F-4D97-AF65-F5344CB8AC3E}">
        <p14:creationId xmlns:p14="http://schemas.microsoft.com/office/powerpoint/2010/main" val="28879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3</a:t>
            </a:fld>
            <a:endParaRPr lang="zh-CN" altLang="en-US"/>
          </a:p>
        </p:txBody>
      </p:sp>
    </p:spTree>
    <p:extLst>
      <p:ext uri="{BB962C8B-B14F-4D97-AF65-F5344CB8AC3E}">
        <p14:creationId xmlns:p14="http://schemas.microsoft.com/office/powerpoint/2010/main" val="626181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4113-F96A-56AE-40C9-7C569BEAFF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7C37FC-81E1-F22E-B3DB-B6A38121E9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2B3534-AE4A-EA36-47D5-89289BC1166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17EFCC4-2CDA-B63A-E63E-0A52CA34825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470AE3-D97C-4D62-A548-C327EFC41E12}"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t>4</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41245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4113-F96A-56AE-40C9-7C569BEAFF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7C37FC-81E1-F22E-B3DB-B6A38121E9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2B3534-AE4A-EA36-47D5-89289BC1166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7EFCC4-2CDA-B63A-E63E-0A52CA34825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470AE3-D97C-4D62-A548-C327EFC41E12}"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t>5</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10091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82B7-A653-8114-F948-604B995D36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B87B53-B960-783D-AAFB-3DF364E058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B93804-8345-E01A-EFC6-E3B4FE193D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F987D9-D885-C89F-3475-8D9CBF1D0FD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470AE3-D97C-4D62-A548-C327EFC41E12}"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t>6</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46941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FD236067-D5C0-F148-A7BE-A89A50EC6FB4}" type="slidenum">
              <a:rPr lang="en-US" smtClean="0"/>
              <a:t>7</a:t>
            </a:fld>
            <a:endParaRPr lang="en-US"/>
          </a:p>
        </p:txBody>
      </p:sp>
    </p:spTree>
    <p:extLst>
      <p:ext uri="{BB962C8B-B14F-4D97-AF65-F5344CB8AC3E}">
        <p14:creationId xmlns:p14="http://schemas.microsoft.com/office/powerpoint/2010/main" val="405323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AE52313-21ED-457B-8FD7-C3DD726AD703}" type="slidenum">
              <a:rPr lang="zh-CN" altLang="en-US" smtClean="0"/>
              <a:t>8</a:t>
            </a:fld>
            <a:endParaRPr lang="zh-CN" altLang="en-US"/>
          </a:p>
        </p:txBody>
      </p:sp>
    </p:spTree>
    <p:extLst>
      <p:ext uri="{BB962C8B-B14F-4D97-AF65-F5344CB8AC3E}">
        <p14:creationId xmlns:p14="http://schemas.microsoft.com/office/powerpoint/2010/main" val="2707928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AE52313-21ED-457B-8FD7-C3DD726AD703}" type="slidenum">
              <a:rPr lang="zh-CN" altLang="en-US" smtClean="0"/>
              <a:t>9</a:t>
            </a:fld>
            <a:endParaRPr lang="zh-CN" altLang="en-US"/>
          </a:p>
        </p:txBody>
      </p:sp>
    </p:spTree>
    <p:extLst>
      <p:ext uri="{BB962C8B-B14F-4D97-AF65-F5344CB8AC3E}">
        <p14:creationId xmlns:p14="http://schemas.microsoft.com/office/powerpoint/2010/main" val="2548940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64EE8-11EA-8E3E-13BD-D273CFCA1F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A56C33-E26D-4366-D3BB-D0A58F1375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645272-6CF7-4915-D202-410D564323E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11B2F51-B7AB-CAA9-0072-4666C26CA0E1}"/>
              </a:ext>
            </a:extLst>
          </p:cNvPr>
          <p:cNvSpPr>
            <a:spLocks noGrp="1"/>
          </p:cNvSpPr>
          <p:nvPr>
            <p:ph type="sldNum" sz="quarter" idx="5"/>
          </p:nvPr>
        </p:nvSpPr>
        <p:spPr/>
        <p:txBody>
          <a:bodyPr/>
          <a:lstStyle/>
          <a:p>
            <a:fld id="{7AE52313-21ED-457B-8FD7-C3DD726AD703}" type="slidenum">
              <a:rPr lang="zh-CN" altLang="en-US" smtClean="0"/>
              <a:t>10</a:t>
            </a:fld>
            <a:endParaRPr lang="zh-CN" altLang="en-US"/>
          </a:p>
        </p:txBody>
      </p:sp>
    </p:spTree>
    <p:extLst>
      <p:ext uri="{BB962C8B-B14F-4D97-AF65-F5344CB8AC3E}">
        <p14:creationId xmlns:p14="http://schemas.microsoft.com/office/powerpoint/2010/main" val="1586751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AE52313-21ED-457B-8FD7-C3DD726AD703}" type="slidenum">
              <a:rPr lang="zh-CN" altLang="en-US" smtClean="0"/>
              <a:t>11</a:t>
            </a:fld>
            <a:endParaRPr lang="zh-CN" altLang="en-US"/>
          </a:p>
        </p:txBody>
      </p:sp>
    </p:spTree>
    <p:extLst>
      <p:ext uri="{BB962C8B-B14F-4D97-AF65-F5344CB8AC3E}">
        <p14:creationId xmlns:p14="http://schemas.microsoft.com/office/powerpoint/2010/main" val="2188926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12</a:t>
            </a:fld>
            <a:endParaRPr lang="zh-CN" altLang="en-US"/>
          </a:p>
        </p:txBody>
      </p:sp>
    </p:spTree>
    <p:extLst>
      <p:ext uri="{BB962C8B-B14F-4D97-AF65-F5344CB8AC3E}">
        <p14:creationId xmlns:p14="http://schemas.microsoft.com/office/powerpoint/2010/main" val="3889504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AE52313-21ED-457B-8FD7-C3DD726AD703}" type="slidenum">
              <a:rPr lang="zh-CN" altLang="en-US" smtClean="0"/>
              <a:t>13</a:t>
            </a:fld>
            <a:endParaRPr lang="zh-CN" altLang="en-US"/>
          </a:p>
        </p:txBody>
      </p:sp>
    </p:spTree>
    <p:extLst>
      <p:ext uri="{BB962C8B-B14F-4D97-AF65-F5344CB8AC3E}">
        <p14:creationId xmlns:p14="http://schemas.microsoft.com/office/powerpoint/2010/main" val="1467641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14</a:t>
            </a:fld>
            <a:endParaRPr lang="zh-CN" altLang="en-US"/>
          </a:p>
        </p:txBody>
      </p:sp>
    </p:spTree>
    <p:extLst>
      <p:ext uri="{BB962C8B-B14F-4D97-AF65-F5344CB8AC3E}">
        <p14:creationId xmlns:p14="http://schemas.microsoft.com/office/powerpoint/2010/main" val="2235233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236067-D5C0-F148-A7BE-A89A50EC6FB4}" type="slidenum">
              <a:rPr lang="en-US" smtClean="0"/>
              <a:t>15</a:t>
            </a:fld>
            <a:endParaRPr lang="en-US"/>
          </a:p>
        </p:txBody>
      </p:sp>
    </p:spTree>
    <p:extLst>
      <p:ext uri="{BB962C8B-B14F-4D97-AF65-F5344CB8AC3E}">
        <p14:creationId xmlns:p14="http://schemas.microsoft.com/office/powerpoint/2010/main" val="1519415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16</a:t>
            </a:fld>
            <a:endParaRPr lang="zh-CN" altLang="en-US"/>
          </a:p>
        </p:txBody>
      </p:sp>
    </p:spTree>
    <p:extLst>
      <p:ext uri="{BB962C8B-B14F-4D97-AF65-F5344CB8AC3E}">
        <p14:creationId xmlns:p14="http://schemas.microsoft.com/office/powerpoint/2010/main" val="96233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17</a:t>
            </a:fld>
            <a:endParaRPr lang="zh-CN" altLang="en-US"/>
          </a:p>
        </p:txBody>
      </p:sp>
    </p:spTree>
    <p:extLst>
      <p:ext uri="{BB962C8B-B14F-4D97-AF65-F5344CB8AC3E}">
        <p14:creationId xmlns:p14="http://schemas.microsoft.com/office/powerpoint/2010/main" val="2439328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331D-8965-F3E8-64B8-121D2FFB4F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D1254E-C218-51CF-1ECB-65748168A5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4A16E6-DCAD-DE2D-A180-ECC5EA67E92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E79D66D-8E2B-ECCE-7195-FAB98374773C}"/>
              </a:ext>
            </a:extLst>
          </p:cNvPr>
          <p:cNvSpPr>
            <a:spLocks noGrp="1"/>
          </p:cNvSpPr>
          <p:nvPr>
            <p:ph type="sldNum" sz="quarter" idx="5"/>
          </p:nvPr>
        </p:nvSpPr>
        <p:spPr/>
        <p:txBody>
          <a:bodyPr/>
          <a:lstStyle/>
          <a:p>
            <a:fld id="{7AE52313-21ED-457B-8FD7-C3DD726AD703}" type="slidenum">
              <a:rPr lang="zh-CN" altLang="en-US" smtClean="0"/>
              <a:t>18</a:t>
            </a:fld>
            <a:endParaRPr lang="zh-CN" altLang="en-US"/>
          </a:p>
        </p:txBody>
      </p:sp>
    </p:spTree>
    <p:extLst>
      <p:ext uri="{BB962C8B-B14F-4D97-AF65-F5344CB8AC3E}">
        <p14:creationId xmlns:p14="http://schemas.microsoft.com/office/powerpoint/2010/main" val="3479470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ECF23E-1084-4E2D-8560-7CEFBDC4ABB0}" type="slidenum">
              <a:rPr lang="zh-CN" altLang="en-US" smtClean="0"/>
              <a:t>19</a:t>
            </a:fld>
            <a:endParaRPr lang="zh-CN" altLang="en-US"/>
          </a:p>
        </p:txBody>
      </p:sp>
    </p:spTree>
    <p:extLst>
      <p:ext uri="{BB962C8B-B14F-4D97-AF65-F5344CB8AC3E}">
        <p14:creationId xmlns:p14="http://schemas.microsoft.com/office/powerpoint/2010/main" val="771349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20</a:t>
            </a:fld>
            <a:endParaRPr lang="zh-CN" altLang="en-US"/>
          </a:p>
        </p:txBody>
      </p:sp>
    </p:spTree>
    <p:extLst>
      <p:ext uri="{BB962C8B-B14F-4D97-AF65-F5344CB8AC3E}">
        <p14:creationId xmlns:p14="http://schemas.microsoft.com/office/powerpoint/2010/main" val="3049589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A134559-8F49-6E71-A6AF-2EC9CC443982}"/>
            </a:ext>
          </a:extLst>
        </p:cNvPr>
        <p:cNvGrpSpPr/>
        <p:nvPr/>
      </p:nvGrpSpPr>
      <p:grpSpPr>
        <a:xfrm>
          <a:off x="0" y="0"/>
          <a:ext cx="0" cy="0"/>
          <a:chOff x="0" y="0"/>
          <a:chExt cx="0" cy="0"/>
        </a:xfrm>
      </p:grpSpPr>
      <p:sp>
        <p:nvSpPr>
          <p:cNvPr id="186" name="Google Shape;186;gf2f8c02597_2_141:notes">
            <a:extLst>
              <a:ext uri="{FF2B5EF4-FFF2-40B4-BE49-F238E27FC236}">
                <a16:creationId xmlns:a16="http://schemas.microsoft.com/office/drawing/2014/main" id="{20A1E629-1823-E857-8274-4A8683C9BF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f2f8c02597_2_141:notes">
            <a:extLst>
              <a:ext uri="{FF2B5EF4-FFF2-40B4-BE49-F238E27FC236}">
                <a16:creationId xmlns:a16="http://schemas.microsoft.com/office/drawing/2014/main" id="{55B52769-BB79-8221-1475-D8D7020E56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spcBef>
                <a:spcPts val="0"/>
              </a:spcBef>
              <a:spcAft>
                <a:spcPts val="0"/>
              </a:spcAft>
            </a:pPr>
            <a:endParaRPr lang="en-HK" sz="3200" b="0" dirty="0">
              <a:effectLst/>
            </a:endParaRPr>
          </a:p>
        </p:txBody>
      </p:sp>
      <p:sp>
        <p:nvSpPr>
          <p:cNvPr id="188" name="Google Shape;188;gf2f8c02597_2_141:notes">
            <a:extLst>
              <a:ext uri="{FF2B5EF4-FFF2-40B4-BE49-F238E27FC236}">
                <a16:creationId xmlns:a16="http://schemas.microsoft.com/office/drawing/2014/main" id="{059B34C7-C704-CBF4-CF1E-CB9A5862A08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21</a:t>
            </a:fld>
            <a:endParaRPr/>
          </a:p>
        </p:txBody>
      </p:sp>
    </p:spTree>
    <p:extLst>
      <p:ext uri="{BB962C8B-B14F-4D97-AF65-F5344CB8AC3E}">
        <p14:creationId xmlns:p14="http://schemas.microsoft.com/office/powerpoint/2010/main" val="204508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22</a:t>
            </a:fld>
            <a:endParaRPr lang="zh-CN" altLang="en-US"/>
          </a:p>
        </p:txBody>
      </p:sp>
    </p:spTree>
    <p:extLst>
      <p:ext uri="{BB962C8B-B14F-4D97-AF65-F5344CB8AC3E}">
        <p14:creationId xmlns:p14="http://schemas.microsoft.com/office/powerpoint/2010/main" val="3007660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CF23E-1084-4E2D-8560-7CEFBDC4ABB0}" type="slidenum">
              <a:rPr lang="zh-CN" altLang="en-US" smtClean="0"/>
              <a:t>23</a:t>
            </a:fld>
            <a:endParaRPr lang="zh-CN" altLang="en-US"/>
          </a:p>
        </p:txBody>
      </p:sp>
    </p:spTree>
    <p:extLst>
      <p:ext uri="{BB962C8B-B14F-4D97-AF65-F5344CB8AC3E}">
        <p14:creationId xmlns:p14="http://schemas.microsoft.com/office/powerpoint/2010/main" val="12453377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图形用户界面, 应用程序&#10;&#10;描述已自动生成">
            <a:extLst>
              <a:ext uri="{FF2B5EF4-FFF2-40B4-BE49-F238E27FC236}">
                <a16:creationId xmlns:a16="http://schemas.microsoft.com/office/drawing/2014/main" id="{B3BD3D5E-451F-4225-815E-3BF50FBC88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9832"/>
            <a:ext cx="12192000" cy="6858000"/>
          </a:xfrm>
          <a:prstGeom prst="rect">
            <a:avLst/>
          </a:prstGeom>
        </p:spPr>
      </p:pic>
      <p:sp>
        <p:nvSpPr>
          <p:cNvPr id="2" name="矩形 1">
            <a:extLst>
              <a:ext uri="{FF2B5EF4-FFF2-40B4-BE49-F238E27FC236}">
                <a16:creationId xmlns:a16="http://schemas.microsoft.com/office/drawing/2014/main" id="{6FD9DC30-C5CB-36E3-3E17-47F61B1C16CA}"/>
              </a:ext>
            </a:extLst>
          </p:cNvPr>
          <p:cNvSpPr/>
          <p:nvPr userDrawn="1"/>
        </p:nvSpPr>
        <p:spPr>
          <a:xfrm>
            <a:off x="0" y="0"/>
            <a:ext cx="2038865" cy="137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9824269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0F5DAA0-182B-49A0-A614-C57FECBD6A8D}"/>
              </a:ext>
            </a:extLst>
          </p:cNvPr>
          <p:cNvPicPr>
            <a:picLocks noChangeAspect="1"/>
          </p:cNvPicPr>
          <p:nvPr userDrawn="1"/>
        </p:nvPicPr>
        <p:blipFill>
          <a:blip r:embed="rId2"/>
          <a:stretch>
            <a:fillRect/>
          </a:stretch>
        </p:blipFill>
        <p:spPr>
          <a:xfrm>
            <a:off x="0" y="0"/>
            <a:ext cx="12192000" cy="967740"/>
          </a:xfrm>
          <a:prstGeom prst="rect">
            <a:avLst/>
          </a:prstGeom>
        </p:spPr>
      </p:pic>
      <p:sp>
        <p:nvSpPr>
          <p:cNvPr id="12" name="Slide Number Placeholder 5">
            <a:extLst>
              <a:ext uri="{FF2B5EF4-FFF2-40B4-BE49-F238E27FC236}">
                <a16:creationId xmlns:a16="http://schemas.microsoft.com/office/drawing/2014/main" id="{1A04B0E4-82F0-4D22-AE2B-9CD0167EED2B}"/>
              </a:ext>
            </a:extLst>
          </p:cNvPr>
          <p:cNvSpPr txBox="1"/>
          <p:nvPr userDrawn="1"/>
        </p:nvSpPr>
        <p:spPr>
          <a:xfrm>
            <a:off x="9547754" y="6439001"/>
            <a:ext cx="2240491" cy="148260"/>
          </a:xfrm>
          <a:prstGeom prst="rect">
            <a:avLst/>
          </a:prstGeom>
        </p:spPr>
        <p:txBody>
          <a:bodyPr lIns="0" tIns="0" rIns="0" bIns="0" anchor="t" anchorCtr="0">
            <a:noAutofit/>
          </a:bodyPr>
          <a:lstStyle>
            <a:defPPr>
              <a:defRPr lang="en-US"/>
            </a:defPPr>
            <a:lvl1pPr marL="0" algn="r" defTabSz="1018540" rtl="0" eaLnBrk="1" latinLnBrk="0" hangingPunct="1">
              <a:defRPr sz="1255" kern="1200">
                <a:solidFill>
                  <a:schemeClr val="tx1"/>
                </a:solidFill>
                <a:latin typeface="Arial" panose="020B0604020202020204" pitchFamily="34" charset="0"/>
                <a:ea typeface="+mn-ea"/>
                <a:cs typeface="Arial" panose="020B0604020202020204" pitchFamily="34" charset="0"/>
              </a:defRPr>
            </a:lvl1pPr>
            <a:lvl2pPr marL="509270" algn="l" defTabSz="1018540" rtl="0" eaLnBrk="1" latinLnBrk="0" hangingPunct="1">
              <a:defRPr sz="2000" kern="1200">
                <a:solidFill>
                  <a:schemeClr val="tx1"/>
                </a:solidFill>
                <a:latin typeface="+mn-lt"/>
                <a:ea typeface="+mn-ea"/>
                <a:cs typeface="+mn-cs"/>
              </a:defRPr>
            </a:lvl2pPr>
            <a:lvl3pPr marL="1018540" algn="l" defTabSz="1018540" rtl="0" eaLnBrk="1" latinLnBrk="0" hangingPunct="1">
              <a:defRPr sz="2000" kern="1200">
                <a:solidFill>
                  <a:schemeClr val="tx1"/>
                </a:solidFill>
                <a:latin typeface="+mn-lt"/>
                <a:ea typeface="+mn-ea"/>
                <a:cs typeface="+mn-cs"/>
              </a:defRPr>
            </a:lvl3pPr>
            <a:lvl4pPr marL="1528445" algn="l" defTabSz="1018540" rtl="0" eaLnBrk="1" latinLnBrk="0" hangingPunct="1">
              <a:defRPr sz="2000" kern="1200">
                <a:solidFill>
                  <a:schemeClr val="tx1"/>
                </a:solidFill>
                <a:latin typeface="+mn-lt"/>
                <a:ea typeface="+mn-ea"/>
                <a:cs typeface="+mn-cs"/>
              </a:defRPr>
            </a:lvl4pPr>
            <a:lvl5pPr marL="2037715" algn="l" defTabSz="1018540" rtl="0" eaLnBrk="1" latinLnBrk="0" hangingPunct="1">
              <a:defRPr sz="2000" kern="1200">
                <a:solidFill>
                  <a:schemeClr val="tx1"/>
                </a:solidFill>
                <a:latin typeface="+mn-lt"/>
                <a:ea typeface="+mn-ea"/>
                <a:cs typeface="+mn-cs"/>
              </a:defRPr>
            </a:lvl5pPr>
            <a:lvl6pPr marL="2546985" algn="l" defTabSz="1018540" rtl="0" eaLnBrk="1" latinLnBrk="0" hangingPunct="1">
              <a:defRPr sz="2000" kern="1200">
                <a:solidFill>
                  <a:schemeClr val="tx1"/>
                </a:solidFill>
                <a:latin typeface="+mn-lt"/>
                <a:ea typeface="+mn-ea"/>
                <a:cs typeface="+mn-cs"/>
              </a:defRPr>
            </a:lvl6pPr>
            <a:lvl7pPr marL="3056255" algn="l" defTabSz="1018540" rtl="0" eaLnBrk="1" latinLnBrk="0" hangingPunct="1">
              <a:defRPr sz="2000" kern="1200">
                <a:solidFill>
                  <a:schemeClr val="tx1"/>
                </a:solidFill>
                <a:latin typeface="+mn-lt"/>
                <a:ea typeface="+mn-ea"/>
                <a:cs typeface="+mn-cs"/>
              </a:defRPr>
            </a:lvl7pPr>
            <a:lvl8pPr marL="3566160" algn="l" defTabSz="1018540" rtl="0" eaLnBrk="1" latinLnBrk="0" hangingPunct="1">
              <a:defRPr sz="2000" kern="1200">
                <a:solidFill>
                  <a:schemeClr val="tx1"/>
                </a:solidFill>
                <a:latin typeface="+mn-lt"/>
                <a:ea typeface="+mn-ea"/>
                <a:cs typeface="+mn-cs"/>
              </a:defRPr>
            </a:lvl8pPr>
            <a:lvl9pPr marL="4075430" algn="l" defTabSz="1018540" rtl="0" eaLnBrk="1" latinLnBrk="0" hangingPunct="1">
              <a:defRPr sz="2000" kern="1200">
                <a:solidFill>
                  <a:schemeClr val="tx1"/>
                </a:solidFill>
                <a:latin typeface="+mn-lt"/>
                <a:ea typeface="+mn-ea"/>
                <a:cs typeface="+mn-cs"/>
              </a:defRPr>
            </a:lvl9pPr>
          </a:lstStyle>
          <a:p>
            <a:pPr marL="0" marR="0" lvl="0" indent="0" algn="r" defTabSz="1018540" rtl="0" eaLnBrk="1" fontAlgn="auto" latinLnBrk="0" hangingPunct="1">
              <a:lnSpc>
                <a:spcPct val="100000"/>
              </a:lnSpc>
              <a:spcBef>
                <a:spcPts val="0"/>
              </a:spcBef>
              <a:spcAft>
                <a:spcPts val="0"/>
              </a:spcAft>
              <a:buClrTx/>
              <a:buSzTx/>
              <a:buFontTx/>
              <a:buNone/>
              <a:defRPr/>
            </a:pPr>
            <a:fld id="{FEBD7F86-1881-4698-8703-FB80B0800997}" type="slidenum">
              <a:rPr kumimoji="0" lang="en-GB" sz="1255" b="0" i="0" u="none" strike="noStrike" kern="1200" cap="none" spc="0" normalizeH="0" baseline="0" noProof="0" smtClean="0">
                <a:ln>
                  <a:noFill/>
                </a:ln>
                <a:solidFill>
                  <a:srgbClr val="025F84"/>
                </a:solidFill>
                <a:effectLst/>
                <a:uLnTx/>
                <a:uFillTx/>
                <a:latin typeface="Arial" panose="020B0604020202020204" pitchFamily="34" charset="0"/>
                <a:ea typeface="+mn-ea"/>
                <a:cs typeface="Arial" panose="020B0604020202020204" pitchFamily="34" charset="0"/>
              </a:rPr>
              <a:t>‹#›</a:t>
            </a:fld>
            <a:endParaRPr kumimoji="0" lang="en-GB" sz="1255" b="0" i="0" u="none" strike="noStrike" kern="1200" cap="none" spc="0" normalizeH="0" baseline="0" noProof="0">
              <a:ln>
                <a:noFill/>
              </a:ln>
              <a:solidFill>
                <a:srgbClr val="025F84"/>
              </a:solidFill>
              <a:effectLst/>
              <a:uLnTx/>
              <a:uFillTx/>
              <a:latin typeface="Arial" panose="020B0604020202020204" pitchFamily="34" charset="0"/>
              <a:ea typeface="+mn-ea"/>
              <a:cs typeface="Arial" panose="020B0604020202020204" pitchFamily="34" charset="0"/>
            </a:endParaRPr>
          </a:p>
        </p:txBody>
      </p:sp>
      <p:sp>
        <p:nvSpPr>
          <p:cNvPr id="2" name="矩形 1">
            <a:extLst>
              <a:ext uri="{FF2B5EF4-FFF2-40B4-BE49-F238E27FC236}">
                <a16:creationId xmlns:a16="http://schemas.microsoft.com/office/drawing/2014/main" id="{0E83C9F9-92E9-0213-EDB5-3A7C5D9F6520}"/>
              </a:ext>
            </a:extLst>
          </p:cNvPr>
          <p:cNvSpPr/>
          <p:nvPr userDrawn="1"/>
        </p:nvSpPr>
        <p:spPr>
          <a:xfrm>
            <a:off x="10688494" y="0"/>
            <a:ext cx="1503506" cy="784545"/>
          </a:xfrm>
          <a:prstGeom prst="rect">
            <a:avLst/>
          </a:prstGeom>
          <a:solidFill>
            <a:srgbClr val="F9FC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744131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43D4765-0C3A-43D9-A472-D32D0BE9090A}"/>
              </a:ext>
            </a:extLst>
          </p:cNvPr>
          <p:cNvPicPr>
            <a:picLocks noChangeAspect="1"/>
          </p:cNvPicPr>
          <p:nvPr userDrawn="1"/>
        </p:nvPicPr>
        <p:blipFill>
          <a:blip r:embed="rId2"/>
          <a:stretch>
            <a:fillRect/>
          </a:stretch>
        </p:blipFill>
        <p:spPr>
          <a:xfrm>
            <a:off x="0" y="0"/>
            <a:ext cx="12192000" cy="967740"/>
          </a:xfrm>
          <a:prstGeom prst="rect">
            <a:avLst/>
          </a:prstGeom>
        </p:spPr>
      </p:pic>
      <p:sp>
        <p:nvSpPr>
          <p:cNvPr id="9" name="文本框 8">
            <a:extLst>
              <a:ext uri="{FF2B5EF4-FFF2-40B4-BE49-F238E27FC236}">
                <a16:creationId xmlns:a16="http://schemas.microsoft.com/office/drawing/2014/main" id="{3B4BBC65-F480-4EFD-AC65-9D0147B843C4}"/>
              </a:ext>
            </a:extLst>
          </p:cNvPr>
          <p:cNvSpPr txBox="1"/>
          <p:nvPr userDrawn="1"/>
        </p:nvSpPr>
        <p:spPr>
          <a:xfrm>
            <a:off x="486497" y="118171"/>
            <a:ext cx="1021746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b="1">
                <a:solidFill>
                  <a:srgbClr val="025F84"/>
                </a:solidFill>
                <a:latin typeface="微软雅黑" panose="020B0503020204020204" pitchFamily="34" charset="-122"/>
                <a:ea typeface="微软雅黑" panose="020B0503020204020204" pitchFamily="34" charset="-122"/>
              </a:rPr>
              <a:t>XX</a:t>
            </a:r>
            <a:endParaRPr kumimoji="0" lang="zh-CN" altLang="en-US" sz="3200" b="1" i="0" u="none" strike="noStrike" kern="1200" cap="none" spc="0" normalizeH="0" baseline="0" noProof="0">
              <a:ln>
                <a:noFill/>
              </a:ln>
              <a:solidFill>
                <a:srgbClr val="025F84"/>
              </a:solidFill>
              <a:effectLst/>
              <a:uLnTx/>
              <a:uFillTx/>
              <a:latin typeface="微软雅黑" panose="020B0503020204020204" pitchFamily="34" charset="-122"/>
              <a:ea typeface="微软雅黑" panose="020B0503020204020204" pitchFamily="34" charset="-122"/>
              <a:cs typeface="+mn-cs"/>
            </a:endParaRPr>
          </a:p>
        </p:txBody>
      </p:sp>
      <p:sp>
        <p:nvSpPr>
          <p:cNvPr id="11" name="Slide Number Placeholder 5">
            <a:extLst>
              <a:ext uri="{FF2B5EF4-FFF2-40B4-BE49-F238E27FC236}">
                <a16:creationId xmlns:a16="http://schemas.microsoft.com/office/drawing/2014/main" id="{FE734457-7088-4CD8-9E29-0D68E9101FED}"/>
              </a:ext>
            </a:extLst>
          </p:cNvPr>
          <p:cNvSpPr txBox="1"/>
          <p:nvPr userDrawn="1"/>
        </p:nvSpPr>
        <p:spPr>
          <a:xfrm>
            <a:off x="9547754" y="6439001"/>
            <a:ext cx="2240491" cy="148260"/>
          </a:xfrm>
          <a:prstGeom prst="rect">
            <a:avLst/>
          </a:prstGeom>
        </p:spPr>
        <p:txBody>
          <a:bodyPr lIns="0" tIns="0" rIns="0" bIns="0" anchor="t" anchorCtr="0">
            <a:noAutofit/>
          </a:bodyPr>
          <a:lstStyle>
            <a:defPPr>
              <a:defRPr lang="en-US"/>
            </a:defPPr>
            <a:lvl1pPr marL="0" algn="r" defTabSz="1018540" rtl="0" eaLnBrk="1" latinLnBrk="0" hangingPunct="1">
              <a:defRPr sz="1255" kern="1200">
                <a:solidFill>
                  <a:schemeClr val="tx1"/>
                </a:solidFill>
                <a:latin typeface="Arial" panose="020B0604020202020204" pitchFamily="34" charset="0"/>
                <a:ea typeface="+mn-ea"/>
                <a:cs typeface="Arial" panose="020B0604020202020204" pitchFamily="34" charset="0"/>
              </a:defRPr>
            </a:lvl1pPr>
            <a:lvl2pPr marL="509270" algn="l" defTabSz="1018540" rtl="0" eaLnBrk="1" latinLnBrk="0" hangingPunct="1">
              <a:defRPr sz="2000" kern="1200">
                <a:solidFill>
                  <a:schemeClr val="tx1"/>
                </a:solidFill>
                <a:latin typeface="+mn-lt"/>
                <a:ea typeface="+mn-ea"/>
                <a:cs typeface="+mn-cs"/>
              </a:defRPr>
            </a:lvl2pPr>
            <a:lvl3pPr marL="1018540" algn="l" defTabSz="1018540" rtl="0" eaLnBrk="1" latinLnBrk="0" hangingPunct="1">
              <a:defRPr sz="2000" kern="1200">
                <a:solidFill>
                  <a:schemeClr val="tx1"/>
                </a:solidFill>
                <a:latin typeface="+mn-lt"/>
                <a:ea typeface="+mn-ea"/>
                <a:cs typeface="+mn-cs"/>
              </a:defRPr>
            </a:lvl3pPr>
            <a:lvl4pPr marL="1528445" algn="l" defTabSz="1018540" rtl="0" eaLnBrk="1" latinLnBrk="0" hangingPunct="1">
              <a:defRPr sz="2000" kern="1200">
                <a:solidFill>
                  <a:schemeClr val="tx1"/>
                </a:solidFill>
                <a:latin typeface="+mn-lt"/>
                <a:ea typeface="+mn-ea"/>
                <a:cs typeface="+mn-cs"/>
              </a:defRPr>
            </a:lvl4pPr>
            <a:lvl5pPr marL="2037715" algn="l" defTabSz="1018540" rtl="0" eaLnBrk="1" latinLnBrk="0" hangingPunct="1">
              <a:defRPr sz="2000" kern="1200">
                <a:solidFill>
                  <a:schemeClr val="tx1"/>
                </a:solidFill>
                <a:latin typeface="+mn-lt"/>
                <a:ea typeface="+mn-ea"/>
                <a:cs typeface="+mn-cs"/>
              </a:defRPr>
            </a:lvl5pPr>
            <a:lvl6pPr marL="2546985" algn="l" defTabSz="1018540" rtl="0" eaLnBrk="1" latinLnBrk="0" hangingPunct="1">
              <a:defRPr sz="2000" kern="1200">
                <a:solidFill>
                  <a:schemeClr val="tx1"/>
                </a:solidFill>
                <a:latin typeface="+mn-lt"/>
                <a:ea typeface="+mn-ea"/>
                <a:cs typeface="+mn-cs"/>
              </a:defRPr>
            </a:lvl6pPr>
            <a:lvl7pPr marL="3056255" algn="l" defTabSz="1018540" rtl="0" eaLnBrk="1" latinLnBrk="0" hangingPunct="1">
              <a:defRPr sz="2000" kern="1200">
                <a:solidFill>
                  <a:schemeClr val="tx1"/>
                </a:solidFill>
                <a:latin typeface="+mn-lt"/>
                <a:ea typeface="+mn-ea"/>
                <a:cs typeface="+mn-cs"/>
              </a:defRPr>
            </a:lvl7pPr>
            <a:lvl8pPr marL="3566160" algn="l" defTabSz="1018540" rtl="0" eaLnBrk="1" latinLnBrk="0" hangingPunct="1">
              <a:defRPr sz="2000" kern="1200">
                <a:solidFill>
                  <a:schemeClr val="tx1"/>
                </a:solidFill>
                <a:latin typeface="+mn-lt"/>
                <a:ea typeface="+mn-ea"/>
                <a:cs typeface="+mn-cs"/>
              </a:defRPr>
            </a:lvl8pPr>
            <a:lvl9pPr marL="4075430" algn="l" defTabSz="1018540" rtl="0" eaLnBrk="1" latinLnBrk="0" hangingPunct="1">
              <a:defRPr sz="2000" kern="1200">
                <a:solidFill>
                  <a:schemeClr val="tx1"/>
                </a:solidFill>
                <a:latin typeface="+mn-lt"/>
                <a:ea typeface="+mn-ea"/>
                <a:cs typeface="+mn-cs"/>
              </a:defRPr>
            </a:lvl9pPr>
          </a:lstStyle>
          <a:p>
            <a:pPr marL="0" marR="0" lvl="0" indent="0" algn="r" defTabSz="1018540" rtl="0" eaLnBrk="1" fontAlgn="auto" latinLnBrk="0" hangingPunct="1">
              <a:lnSpc>
                <a:spcPct val="100000"/>
              </a:lnSpc>
              <a:spcBef>
                <a:spcPts val="0"/>
              </a:spcBef>
              <a:spcAft>
                <a:spcPts val="0"/>
              </a:spcAft>
              <a:buClrTx/>
              <a:buSzTx/>
              <a:buFontTx/>
              <a:buNone/>
              <a:defRPr/>
            </a:pPr>
            <a:fld id="{FEBD7F86-1881-4698-8703-FB80B0800997}" type="slidenum">
              <a:rPr kumimoji="0" lang="en-GB" sz="1255" b="0" i="0" u="none" strike="noStrike" kern="1200" cap="none" spc="0" normalizeH="0" baseline="0" noProof="0" smtClean="0">
                <a:ln>
                  <a:noFill/>
                </a:ln>
                <a:solidFill>
                  <a:srgbClr val="025F84"/>
                </a:solidFill>
                <a:effectLst/>
                <a:uLnTx/>
                <a:uFillTx/>
                <a:latin typeface="Arial" panose="020B0604020202020204" pitchFamily="34" charset="0"/>
                <a:ea typeface="+mn-ea"/>
                <a:cs typeface="Arial" panose="020B0604020202020204" pitchFamily="34" charset="0"/>
              </a:rPr>
              <a:t>‹#›</a:t>
            </a:fld>
            <a:endParaRPr kumimoji="0" lang="en-GB" sz="1255" b="0" i="0" u="none" strike="noStrike" kern="1200" cap="none" spc="0" normalizeH="0" baseline="0" noProof="0">
              <a:ln>
                <a:noFill/>
              </a:ln>
              <a:solidFill>
                <a:srgbClr val="025F84"/>
              </a:solidFill>
              <a:effectLst/>
              <a:uLnTx/>
              <a:uFillTx/>
              <a:latin typeface="Arial" panose="020B0604020202020204" pitchFamily="34" charset="0"/>
              <a:ea typeface="+mn-ea"/>
              <a:cs typeface="Arial" panose="020B0604020202020204" pitchFamily="34" charset="0"/>
            </a:endParaRPr>
          </a:p>
        </p:txBody>
      </p:sp>
      <p:sp>
        <p:nvSpPr>
          <p:cNvPr id="2" name="矩形 1">
            <a:extLst>
              <a:ext uri="{FF2B5EF4-FFF2-40B4-BE49-F238E27FC236}">
                <a16:creationId xmlns:a16="http://schemas.microsoft.com/office/drawing/2014/main" id="{B25AB823-50EB-E95F-775F-E0E47F64E342}"/>
              </a:ext>
            </a:extLst>
          </p:cNvPr>
          <p:cNvSpPr/>
          <p:nvPr userDrawn="1"/>
        </p:nvSpPr>
        <p:spPr>
          <a:xfrm>
            <a:off x="10688494" y="0"/>
            <a:ext cx="1503506" cy="784545"/>
          </a:xfrm>
          <a:prstGeom prst="rect">
            <a:avLst/>
          </a:prstGeom>
          <a:solidFill>
            <a:srgbClr val="F9FC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923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2E84B1F-04EC-898D-5552-C8B4EFD67FC3}"/>
              </a:ext>
            </a:extLst>
          </p:cNvPr>
          <p:cNvPicPr>
            <a:picLocks noChangeAspect="1"/>
          </p:cNvPicPr>
          <p:nvPr userDrawn="1"/>
        </p:nvPicPr>
        <p:blipFill>
          <a:blip r:embed="rId2"/>
          <a:stretch>
            <a:fillRect/>
          </a:stretch>
        </p:blipFill>
        <p:spPr>
          <a:xfrm>
            <a:off x="0" y="0"/>
            <a:ext cx="12192000" cy="967740"/>
          </a:xfrm>
          <a:prstGeom prst="rect">
            <a:avLst/>
          </a:prstGeom>
        </p:spPr>
      </p:pic>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280800" y="90000"/>
            <a:ext cx="8362800" cy="709200"/>
          </a:xfrm>
        </p:spPr>
        <p:txBody>
          <a:bodyPr>
            <a:noAutofit/>
          </a:bodyPr>
          <a:lstStyle>
            <a:lvl1pPr>
              <a:defRPr kumimoji="1" lang="en-US" sz="4000" b="1" kern="1200" dirty="0">
                <a:solidFill>
                  <a:srgbClr val="025F84"/>
                </a:solidFill>
                <a:latin typeface="+mn-lt"/>
                <a:ea typeface="PingFang SC Medium" panose="020B0400000000000000" pitchFamily="34"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54536" y="1550505"/>
            <a:ext cx="10980000" cy="4630840"/>
          </a:xfrm>
        </p:spPr>
        <p:txBody>
          <a:bodyPr>
            <a:normAutofit/>
          </a:bodyPr>
          <a:lstStyle>
            <a:lvl1pPr>
              <a:defRPr sz="2800">
                <a:latin typeface="Century Gothic" panose="020B0502020202020204" pitchFamily="34" charset="0"/>
              </a:defRPr>
            </a:lvl1pPr>
            <a:lvl2pPr>
              <a:defRPr sz="2400">
                <a:latin typeface="Century Gothic" panose="020B0502020202020204" pitchFamily="34" charset="0"/>
              </a:defRPr>
            </a:lvl2pPr>
            <a:lvl3pPr>
              <a:defRPr sz="2000">
                <a:latin typeface="Century Gothic" panose="020B0502020202020204" pitchFamily="34" charset="0"/>
              </a:defRPr>
            </a:lvl3pPr>
            <a:lvl4pPr>
              <a:defRPr sz="1800">
                <a:latin typeface="Century Gothic" panose="020B0502020202020204" pitchFamily="34" charset="0"/>
              </a:defRPr>
            </a:lvl4pPr>
            <a:lvl5pPr>
              <a:defRPr sz="1800">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HK"/>
              <a:t>2</a:t>
            </a:r>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891336" y="6440574"/>
            <a:ext cx="3060000" cy="365125"/>
          </a:xfrm>
        </p:spPr>
        <p:txBody>
          <a:bodyPr rIns="0"/>
          <a:lstStyle/>
          <a:p>
            <a:fld id="{A7CD31F4-64FA-4BA0-9498-67783267A8C8}" type="slidenum">
              <a:rPr lang="en-US" smtClean="0"/>
              <a:t>‹#›</a:t>
            </a:fld>
            <a:endParaRPr lang="en-US"/>
          </a:p>
        </p:txBody>
      </p:sp>
      <p:sp>
        <p:nvSpPr>
          <p:cNvPr id="11" name="矩形 10">
            <a:extLst>
              <a:ext uri="{FF2B5EF4-FFF2-40B4-BE49-F238E27FC236}">
                <a16:creationId xmlns:a16="http://schemas.microsoft.com/office/drawing/2014/main" id="{9D56B0CB-F8A9-E6E0-7ACA-CB77837C353A}"/>
              </a:ext>
            </a:extLst>
          </p:cNvPr>
          <p:cNvSpPr/>
          <p:nvPr userDrawn="1"/>
        </p:nvSpPr>
        <p:spPr>
          <a:xfrm>
            <a:off x="10688494" y="0"/>
            <a:ext cx="1503506" cy="784545"/>
          </a:xfrm>
          <a:prstGeom prst="rect">
            <a:avLst/>
          </a:prstGeom>
          <a:solidFill>
            <a:srgbClr val="F9FC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759207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F2879-63B7-A349-8C2C-64BFD241CC3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DBAB340-378B-7D41-BDB9-EE057053A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71A4D1C-4EE6-6E40-9071-641AECF305BF}"/>
              </a:ext>
            </a:extLst>
          </p:cNvPr>
          <p:cNvSpPr>
            <a:spLocks noGrp="1"/>
          </p:cNvSpPr>
          <p:nvPr>
            <p:ph type="dt" sz="half" idx="10"/>
          </p:nvPr>
        </p:nvSpPr>
        <p:spPr/>
        <p:txBody>
          <a:bodyPr/>
          <a:lstStyle/>
          <a:p>
            <a:fld id="{2F17ADB8-E565-E749-B66E-9933B59DD905}" type="datetime1">
              <a:rPr lang="zh-CN" altLang="en-US" smtClean="0"/>
              <a:t>2025/5/29</a:t>
            </a:fld>
            <a:endParaRPr lang="en-US"/>
          </a:p>
        </p:txBody>
      </p:sp>
      <p:sp>
        <p:nvSpPr>
          <p:cNvPr id="5" name="Footer Placeholder 4">
            <a:extLst>
              <a:ext uri="{FF2B5EF4-FFF2-40B4-BE49-F238E27FC236}">
                <a16:creationId xmlns:a16="http://schemas.microsoft.com/office/drawing/2014/main" id="{E8312358-C939-B246-85AD-2527E408BE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79C46-80F3-F94F-AFDB-BBBE4C8D818D}"/>
              </a:ext>
            </a:extLst>
          </p:cNvPr>
          <p:cNvSpPr>
            <a:spLocks noGrp="1"/>
          </p:cNvSpPr>
          <p:nvPr>
            <p:ph type="sldNum" sz="quarter" idx="12"/>
          </p:nvPr>
        </p:nvSpPr>
        <p:spPr/>
        <p:txBody>
          <a:bodyPr/>
          <a:lstStyle/>
          <a:p>
            <a:fld id="{365FC2E9-8E8C-8247-A50E-F8E5ABE194FE}" type="slidenum">
              <a:rPr lang="en-US" smtClean="0"/>
              <a:t>‹#›</a:t>
            </a:fld>
            <a:endParaRPr lang="en-US"/>
          </a:p>
        </p:txBody>
      </p:sp>
    </p:spTree>
    <p:extLst>
      <p:ext uri="{BB962C8B-B14F-4D97-AF65-F5344CB8AC3E}">
        <p14:creationId xmlns:p14="http://schemas.microsoft.com/office/powerpoint/2010/main" val="151275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1">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024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标题和内容" userDrawn="1">
  <p:cSld name="标题和内容">
    <p:spTree>
      <p:nvGrpSpPr>
        <p:cNvPr id="1" name="Shape 62"/>
        <p:cNvGrpSpPr/>
        <p:nvPr/>
      </p:nvGrpSpPr>
      <p:grpSpPr>
        <a:xfrm>
          <a:off x="0" y="0"/>
          <a:ext cx="0" cy="0"/>
          <a:chOff x="0" y="0"/>
          <a:chExt cx="0" cy="0"/>
        </a:xfrm>
      </p:grpSpPr>
      <p:sp>
        <p:nvSpPr>
          <p:cNvPr id="64" name="Google Shape;64;p15"/>
          <p:cNvSpPr txBox="1">
            <a:spLocks noGrp="1"/>
          </p:cNvSpPr>
          <p:nvPr>
            <p:ph type="body" idx="1"/>
          </p:nvPr>
        </p:nvSpPr>
        <p:spPr>
          <a:xfrm>
            <a:off x="838203" y="1071885"/>
            <a:ext cx="10515600" cy="5105083"/>
          </a:xfrm>
          <a:prstGeom prst="rect">
            <a:avLst/>
          </a:prstGeom>
          <a:noFill/>
          <a:ln>
            <a:noFill/>
          </a:ln>
        </p:spPr>
        <p:txBody>
          <a:bodyPr spcFirstLastPara="1" wrap="square" lIns="68575" tIns="34275" rIns="68575" bIns="34275" anchor="t" anchorCtr="0">
            <a:normAutofit/>
          </a:bodyPr>
          <a:lstStyle>
            <a:lvl1pPr marL="253992" lvl="0" indent="-253992" algn="l">
              <a:lnSpc>
                <a:spcPct val="90000"/>
              </a:lnSpc>
              <a:spcBef>
                <a:spcPts val="1067"/>
              </a:spcBef>
              <a:spcAft>
                <a:spcPts val="0"/>
              </a:spcAft>
              <a:buClr>
                <a:schemeClr val="dk1"/>
              </a:buClr>
              <a:buSzPts val="1400"/>
              <a:buFont typeface="Wingdings" panose="05000000000000000000" pitchFamily="2" charset="2"/>
              <a:buChar char="l"/>
              <a:defRPr/>
            </a:lvl1pPr>
            <a:lvl2pPr marL="1219160" lvl="1" indent="-423320" algn="l">
              <a:lnSpc>
                <a:spcPct val="90000"/>
              </a:lnSpc>
              <a:spcBef>
                <a:spcPts val="533"/>
              </a:spcBef>
              <a:spcAft>
                <a:spcPts val="0"/>
              </a:spcAft>
              <a:buClr>
                <a:schemeClr val="dk1"/>
              </a:buClr>
              <a:buSzPts val="1400"/>
              <a:buChar char="•"/>
              <a:defRPr/>
            </a:lvl2pPr>
            <a:lvl3pPr marL="1828741" lvl="2" indent="-423320" algn="l">
              <a:lnSpc>
                <a:spcPct val="90000"/>
              </a:lnSpc>
              <a:spcBef>
                <a:spcPts val="533"/>
              </a:spcBef>
              <a:spcAft>
                <a:spcPts val="0"/>
              </a:spcAft>
              <a:buClr>
                <a:schemeClr val="dk1"/>
              </a:buClr>
              <a:buSzPts val="1400"/>
              <a:buChar char="•"/>
              <a:defRPr/>
            </a:lvl3pPr>
            <a:lvl4pPr marL="2438321" lvl="3" indent="-423320" algn="l">
              <a:lnSpc>
                <a:spcPct val="90000"/>
              </a:lnSpc>
              <a:spcBef>
                <a:spcPts val="533"/>
              </a:spcBef>
              <a:spcAft>
                <a:spcPts val="0"/>
              </a:spcAft>
              <a:buClr>
                <a:schemeClr val="dk1"/>
              </a:buClr>
              <a:buSzPts val="1400"/>
              <a:buChar char="•"/>
              <a:defRPr/>
            </a:lvl4pPr>
            <a:lvl5pPr marL="3047901" lvl="4" indent="-423320" algn="l">
              <a:lnSpc>
                <a:spcPct val="90000"/>
              </a:lnSpc>
              <a:spcBef>
                <a:spcPts val="533"/>
              </a:spcBef>
              <a:spcAft>
                <a:spcPts val="0"/>
              </a:spcAft>
              <a:buClr>
                <a:schemeClr val="dk1"/>
              </a:buClr>
              <a:buSzPts val="1400"/>
              <a:buChar char="•"/>
              <a:defRPr/>
            </a:lvl5pPr>
            <a:lvl6pPr marL="3657481" lvl="5" indent="-423320" algn="l">
              <a:lnSpc>
                <a:spcPct val="90000"/>
              </a:lnSpc>
              <a:spcBef>
                <a:spcPts val="533"/>
              </a:spcBef>
              <a:spcAft>
                <a:spcPts val="0"/>
              </a:spcAft>
              <a:buClr>
                <a:schemeClr val="dk1"/>
              </a:buClr>
              <a:buSzPts val="1400"/>
              <a:buChar char="•"/>
              <a:defRPr/>
            </a:lvl6pPr>
            <a:lvl7pPr marL="4267061" lvl="6" indent="-423320" algn="l">
              <a:lnSpc>
                <a:spcPct val="90000"/>
              </a:lnSpc>
              <a:spcBef>
                <a:spcPts val="533"/>
              </a:spcBef>
              <a:spcAft>
                <a:spcPts val="0"/>
              </a:spcAft>
              <a:buClr>
                <a:schemeClr val="dk1"/>
              </a:buClr>
              <a:buSzPts val="1400"/>
              <a:buChar char="•"/>
              <a:defRPr/>
            </a:lvl7pPr>
            <a:lvl8pPr marL="4876642" lvl="7" indent="-423320" algn="l">
              <a:lnSpc>
                <a:spcPct val="90000"/>
              </a:lnSpc>
              <a:spcBef>
                <a:spcPts val="533"/>
              </a:spcBef>
              <a:spcAft>
                <a:spcPts val="0"/>
              </a:spcAft>
              <a:buClr>
                <a:schemeClr val="dk1"/>
              </a:buClr>
              <a:buSzPts val="1400"/>
              <a:buChar char="•"/>
              <a:defRPr/>
            </a:lvl8pPr>
            <a:lvl9pPr marL="5486222" lvl="8" indent="-423320" algn="l">
              <a:lnSpc>
                <a:spcPct val="90000"/>
              </a:lnSpc>
              <a:spcBef>
                <a:spcPts val="533"/>
              </a:spcBef>
              <a:spcAft>
                <a:spcPts val="0"/>
              </a:spcAft>
              <a:buClr>
                <a:schemeClr val="dk1"/>
              </a:buClr>
              <a:buSzPts val="1400"/>
              <a:buChar char="•"/>
              <a:defRPr/>
            </a:lvl9pPr>
          </a:lstStyle>
          <a:p>
            <a:endParaRPr/>
          </a:p>
        </p:txBody>
      </p:sp>
      <p:sp>
        <p:nvSpPr>
          <p:cNvPr id="2" name="标题 1">
            <a:extLst>
              <a:ext uri="{FF2B5EF4-FFF2-40B4-BE49-F238E27FC236}">
                <a16:creationId xmlns:a16="http://schemas.microsoft.com/office/drawing/2014/main" id="{D0E733F6-3A98-4F64-8CAA-D01258E864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181BADD-50CB-4235-A280-98D66D737CFF}"/>
              </a:ext>
            </a:extLst>
          </p:cNvPr>
          <p:cNvSpPr>
            <a:spLocks noGrp="1"/>
          </p:cNvSpPr>
          <p:nvPr>
            <p:ph type="dt" idx="10"/>
          </p:nvPr>
        </p:nvSpPr>
        <p:spPr/>
        <p:txBody>
          <a:bodyPr/>
          <a:lstStyle/>
          <a:p>
            <a:endParaRPr lang="zh-CN" altLang="en-US"/>
          </a:p>
        </p:txBody>
      </p:sp>
      <p:sp>
        <p:nvSpPr>
          <p:cNvPr id="4" name="页脚占位符 3">
            <a:extLst>
              <a:ext uri="{FF2B5EF4-FFF2-40B4-BE49-F238E27FC236}">
                <a16:creationId xmlns:a16="http://schemas.microsoft.com/office/drawing/2014/main" id="{7B1B7305-5583-4E7A-ABB5-479E867FBB90}"/>
              </a:ext>
            </a:extLst>
          </p:cNvPr>
          <p:cNvSpPr>
            <a:spLocks noGrp="1"/>
          </p:cNvSpPr>
          <p:nvPr>
            <p:ph type="ftr" idx="11"/>
          </p:nvPr>
        </p:nvSpPr>
        <p:spPr/>
        <p:txBody>
          <a:bodyPr/>
          <a:lstStyle/>
          <a:p>
            <a:endParaRPr lang="zh-CN" altLang="en-US"/>
          </a:p>
        </p:txBody>
      </p:sp>
      <p:sp>
        <p:nvSpPr>
          <p:cNvPr id="5" name="灯片编号占位符 4">
            <a:extLst>
              <a:ext uri="{FF2B5EF4-FFF2-40B4-BE49-F238E27FC236}">
                <a16:creationId xmlns:a16="http://schemas.microsoft.com/office/drawing/2014/main" id="{F644BFDB-A2DE-41D7-87B9-C7E864565305}"/>
              </a:ext>
            </a:extLst>
          </p:cNvPr>
          <p:cNvSpPr>
            <a:spLocks noGrp="1"/>
          </p:cNvSpPr>
          <p:nvPr>
            <p:ph type="sldNum" idx="12"/>
          </p:nvPr>
        </p:nvSpPr>
        <p:spPr/>
        <p:txBody>
          <a:bodyPr/>
          <a:lstStyle>
            <a:lvl1pPr>
              <a:defRPr sz="1333">
                <a:solidFill>
                  <a:schemeClr val="tx1">
                    <a:lumMod val="75000"/>
                    <a:lumOff val="25000"/>
                  </a:schemeClr>
                </a:solidFill>
              </a:defRPr>
            </a:lvl1pPr>
          </a:lstStyle>
          <a:p>
            <a:fld id="{00000000-1234-1234-1234-123412341234}" type="slidenum">
              <a:rPr lang="en-US" altLang="zh-CN" smtClean="0"/>
              <a:pPr/>
              <a:t>‹#›</a:t>
            </a:fld>
            <a:endParaRPr lang="zh-CN" altLang="en-US"/>
          </a:p>
        </p:txBody>
      </p:sp>
    </p:spTree>
    <p:extLst>
      <p:ext uri="{BB962C8B-B14F-4D97-AF65-F5344CB8AC3E}">
        <p14:creationId xmlns:p14="http://schemas.microsoft.com/office/powerpoint/2010/main" val="1232014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CE04C1A-11DA-4C5E-9D10-F87AB1608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0C4D2D-BFD7-45BE-8DDB-E3493CFF62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07A773-E26C-4788-B3DB-5B400CBC49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6ADBC6-DECA-4C40-A733-6EAC4905EFD9}"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D11A0400-DFA1-4DF7-98D4-A19927B851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54F53EF-6AC2-4B46-82EF-50E52FBDC1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20E2C-ACCF-4A16-A15B-9DBAE0A67A38}" type="slidenum">
              <a:rPr lang="zh-CN" altLang="en-US" smtClean="0"/>
              <a:t>‹#›</a:t>
            </a:fld>
            <a:endParaRPr lang="zh-CN" altLang="en-US"/>
          </a:p>
        </p:txBody>
      </p:sp>
    </p:spTree>
    <p:extLst>
      <p:ext uri="{BB962C8B-B14F-4D97-AF65-F5344CB8AC3E}">
        <p14:creationId xmlns:p14="http://schemas.microsoft.com/office/powerpoint/2010/main" val="3619771099"/>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9" r:id="rId4"/>
    <p:sldLayoutId id="2147483661" r:id="rId5"/>
    <p:sldLayoutId id="2147483662" r:id="rId6"/>
    <p:sldLayoutId id="214748366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6.xml"/><Relationship Id="rId7" Type="http://schemas.openxmlformats.org/officeDocument/2006/relationships/image" Target="../media/image9.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21.xml"/><Relationship Id="rId7"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图形用户界面, 应用程序&#10;&#10;描述已自动生成">
            <a:extLst>
              <a:ext uri="{FF2B5EF4-FFF2-40B4-BE49-F238E27FC236}">
                <a16:creationId xmlns:a16="http://schemas.microsoft.com/office/drawing/2014/main" id="{A1206A7C-92FF-0F48-B023-AC7EC3DA4A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文本框 3">
            <a:extLst>
              <a:ext uri="{FF2B5EF4-FFF2-40B4-BE49-F238E27FC236}">
                <a16:creationId xmlns:a16="http://schemas.microsoft.com/office/drawing/2014/main" id="{84ECD35E-96D1-A54C-A357-BFD8283FD0D3}"/>
              </a:ext>
            </a:extLst>
          </p:cNvPr>
          <p:cNvSpPr txBox="1"/>
          <p:nvPr/>
        </p:nvSpPr>
        <p:spPr>
          <a:xfrm>
            <a:off x="144682" y="2216592"/>
            <a:ext cx="7287399" cy="2612382"/>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1" lang="zh-CN" altLang="en-US" sz="3200" b="1" dirty="0">
                <a:solidFill>
                  <a:schemeClr val="accent1"/>
                </a:solidFill>
                <a:latin typeface="PingFang SC Medium" panose="020B0400000000000000" pitchFamily="34" charset="-122"/>
                <a:ea typeface="PingFang SC Medium" panose="020B0400000000000000" pitchFamily="34" charset="-122"/>
              </a:rPr>
              <a:t>大模型多维并行分布式训练系统</a:t>
            </a:r>
            <a:endParaRPr kumimoji="1" lang="en-US" altLang="zh-CN" sz="3200" b="1" dirty="0">
              <a:solidFill>
                <a:schemeClr val="accent1"/>
              </a:solidFill>
              <a:latin typeface="PingFang SC Medium" panose="020B0400000000000000" pitchFamily="34" charset="-122"/>
              <a:ea typeface="PingFang SC Medium" panose="020B0400000000000000" pitchFamily="34"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endParaRPr kumimoji="1" lang="en-US" altLang="zh-CN" sz="3200" b="1" dirty="0">
              <a:solidFill>
                <a:schemeClr val="accent1"/>
              </a:solidFill>
              <a:latin typeface="PingFang SC Medium" panose="020B0400000000000000" pitchFamily="34" charset="-122"/>
              <a:ea typeface="PingFang SC Medium" panose="020B0400000000000000" pitchFamily="34"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1" lang="zh-CN" altLang="en-US" sz="2400" i="0" u="none" strike="noStrike" kern="1200" cap="none" spc="0" normalizeH="0" baseline="0" noProof="0" dirty="0">
                <a:ln>
                  <a:noFill/>
                </a:ln>
                <a:solidFill>
                  <a:schemeClr val="accent1"/>
                </a:solidFill>
                <a:effectLst/>
                <a:uLnTx/>
                <a:uFillTx/>
                <a:latin typeface="PingFang SC Medium" panose="020B0400000000000000" pitchFamily="34" charset="-122"/>
                <a:ea typeface="PingFang SC Medium" panose="020B0400000000000000" pitchFamily="34" charset="-122"/>
                <a:cs typeface="+mn-cs"/>
              </a:rPr>
              <a:t>崔鹤鸣</a:t>
            </a:r>
            <a:endParaRPr kumimoji="1" lang="en-US" altLang="zh-CN" sz="2400" i="0" u="none" strike="noStrike" kern="1200" cap="none" spc="0" normalizeH="0" baseline="0" noProof="0" dirty="0">
              <a:ln>
                <a:noFill/>
              </a:ln>
              <a:solidFill>
                <a:schemeClr val="accent1"/>
              </a:solidFill>
              <a:effectLst/>
              <a:uLnTx/>
              <a:uFillTx/>
              <a:latin typeface="PingFang SC Medium" panose="020B0400000000000000" pitchFamily="34" charset="-122"/>
              <a:ea typeface="PingFang SC Medium" panose="020B0400000000000000"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1" lang="zh-CN" altLang="en-US" sz="2400" dirty="0">
                <a:solidFill>
                  <a:schemeClr val="accent1"/>
                </a:solidFill>
                <a:latin typeface="PingFang SC Medium" panose="020B0400000000000000" pitchFamily="34" charset="-122"/>
                <a:ea typeface="PingFang SC Medium" panose="020B0400000000000000" pitchFamily="34" charset="-122"/>
              </a:rPr>
              <a:t>香港大学计算机系 副教授</a:t>
            </a:r>
            <a:endParaRPr kumimoji="1" lang="en-US" altLang="zh-CN" sz="2400" i="0" u="none" strike="noStrike" kern="1200" cap="none" spc="0" normalizeH="0" baseline="0" noProof="0" dirty="0">
              <a:ln>
                <a:noFill/>
              </a:ln>
              <a:solidFill>
                <a:schemeClr val="accent1"/>
              </a:solidFill>
              <a:effectLst/>
              <a:uLnTx/>
              <a:uFillTx/>
              <a:latin typeface="PingFang SC Medium" panose="020B0400000000000000" pitchFamily="34" charset="-122"/>
              <a:ea typeface="PingFang SC Medium" panose="020B0400000000000000" pitchFamily="34" charset="-122"/>
              <a:cs typeface="+mn-cs"/>
            </a:endParaRPr>
          </a:p>
        </p:txBody>
      </p:sp>
      <p:sp>
        <p:nvSpPr>
          <p:cNvPr id="2" name="矩形 1">
            <a:extLst>
              <a:ext uri="{FF2B5EF4-FFF2-40B4-BE49-F238E27FC236}">
                <a16:creationId xmlns:a16="http://schemas.microsoft.com/office/drawing/2014/main" id="{BDBE01B6-E472-4EAB-E33D-87B7F5A51FDF}"/>
              </a:ext>
            </a:extLst>
          </p:cNvPr>
          <p:cNvSpPr/>
          <p:nvPr/>
        </p:nvSpPr>
        <p:spPr>
          <a:xfrm>
            <a:off x="0" y="0"/>
            <a:ext cx="2038865" cy="137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813072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870CDB-58CB-4615-8DCB-D9018B21E280}"/>
              </a:ext>
            </a:extLst>
          </p:cNvPr>
          <p:cNvSpPr txBox="1"/>
          <p:nvPr/>
        </p:nvSpPr>
        <p:spPr>
          <a:xfrm>
            <a:off x="281016" y="88578"/>
            <a:ext cx="10217468" cy="707886"/>
          </a:xfrm>
          <a:prstGeom prst="rect">
            <a:avLst/>
          </a:prstGeom>
          <a:noFill/>
        </p:spPr>
        <p:txBody>
          <a:bodyPr wrap="square" rtlCol="0">
            <a:spAutoFit/>
          </a:bodyPr>
          <a:lstStyle/>
          <a:p>
            <a:pPr>
              <a:defRPr/>
            </a:pPr>
            <a:r>
              <a:rPr kumimoji="1" lang="zh-CN" altLang="en-US" sz="4000" b="1">
                <a:solidFill>
                  <a:srgbClr val="025F84"/>
                </a:solidFill>
                <a:ea typeface="PingFang SC Medium" panose="020B0400000000000000" pitchFamily="34" charset="-122"/>
              </a:rPr>
              <a:t>大模型：越来越普及化、复杂化、动态化</a:t>
            </a:r>
            <a:endParaRPr kumimoji="1" lang="en-US" altLang="zh-CN" sz="4000" b="1">
              <a:solidFill>
                <a:srgbClr val="025F84"/>
              </a:solidFill>
              <a:ea typeface="PingFang SC Medium" panose="020B0400000000000000" pitchFamily="34" charset="-122"/>
            </a:endParaRPr>
          </a:p>
        </p:txBody>
      </p:sp>
      <p:sp>
        <p:nvSpPr>
          <p:cNvPr id="2" name="内容占位符 2">
            <a:extLst>
              <a:ext uri="{FF2B5EF4-FFF2-40B4-BE49-F238E27FC236}">
                <a16:creationId xmlns:a16="http://schemas.microsoft.com/office/drawing/2014/main" id="{CFB4085C-FF84-4299-B157-E165953CB1FD}"/>
              </a:ext>
            </a:extLst>
          </p:cNvPr>
          <p:cNvSpPr>
            <a:spLocks noGrp="1"/>
          </p:cNvSpPr>
          <p:nvPr/>
        </p:nvSpPr>
        <p:spPr bwMode="auto">
          <a:xfrm>
            <a:off x="281016" y="1105169"/>
            <a:ext cx="11622962" cy="5601829"/>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dirty="0">
                <a:solidFill>
                  <a:srgbClr val="015F84"/>
                </a:solidFill>
                <a:ea typeface="PingFang SC Medium" panose="020B0400000000000000"/>
              </a:rPr>
              <a:t>大模型</a:t>
            </a:r>
            <a:r>
              <a:rPr kumimoji="1" lang="zh-CN" altLang="en-US" sz="1600" dirty="0">
                <a:solidFill>
                  <a:srgbClr val="015F84"/>
                </a:solidFill>
                <a:ea typeface="PingFang SC Medium" panose="020B0400000000000000"/>
              </a:rPr>
              <a:t>越来越普及</a:t>
            </a:r>
            <a:endParaRPr kumimoji="1" lang="zh-CN" altLang="en-US" sz="1600" b="0" dirty="0">
              <a:solidFill>
                <a:srgbClr val="015F84"/>
              </a:solidFill>
              <a:ea typeface="PingFang SC Medium" panose="020B0400000000000000"/>
            </a:endParaRPr>
          </a:p>
          <a:p>
            <a:pPr lvl="1"/>
            <a:r>
              <a:rPr kumimoji="1" lang="zh-CN" altLang="en-US" sz="1400" dirty="0">
                <a:solidFill>
                  <a:srgbClr val="015F84"/>
                </a:solidFill>
                <a:ea typeface="PingFang SC Medium" panose="020B0400000000000000"/>
              </a:rPr>
              <a:t>中文文本处理：</a:t>
            </a:r>
            <a:r>
              <a:rPr kumimoji="1" lang="en-US" altLang="zh-CN" sz="1400" dirty="0">
                <a:solidFill>
                  <a:srgbClr val="015F84"/>
                </a:solidFill>
                <a:ea typeface="PingFang SC Medium" panose="020B0400000000000000"/>
              </a:rPr>
              <a:t>CPM-2</a:t>
            </a:r>
            <a:r>
              <a:rPr kumimoji="1" lang="zh-CN" altLang="en-US" sz="1400" dirty="0">
                <a:solidFill>
                  <a:srgbClr val="015F84"/>
                </a:solidFill>
                <a:ea typeface="PingFang SC Medium" panose="020B0400000000000000"/>
              </a:rPr>
              <a:t>（参数量</a:t>
            </a:r>
            <a:r>
              <a:rPr kumimoji="1" lang="en-US" altLang="zh-CN" sz="1400" dirty="0">
                <a:solidFill>
                  <a:srgbClr val="015F84"/>
                </a:solidFill>
                <a:ea typeface="PingFang SC Medium" panose="020B0400000000000000"/>
              </a:rPr>
              <a:t>110</a:t>
            </a:r>
            <a:r>
              <a:rPr kumimoji="1" lang="zh-CN" altLang="en-US" sz="1400" dirty="0">
                <a:solidFill>
                  <a:srgbClr val="015F84"/>
                </a:solidFill>
                <a:ea typeface="PingFang SC Medium" panose="020B0400000000000000"/>
              </a:rPr>
              <a:t>亿，</a:t>
            </a:r>
            <a:r>
              <a:rPr lang="en" altLang="zh-CN" sz="1400" dirty="0">
                <a:solidFill>
                  <a:srgbClr val="015F84"/>
                </a:solidFill>
                <a:ea typeface="PingFang SC Medium" panose="020B0400000000000000"/>
              </a:rPr>
              <a:t>WMT20-enzh</a:t>
            </a:r>
            <a:r>
              <a:rPr lang="zh-CN" altLang="en-US" sz="1400" dirty="0">
                <a:solidFill>
                  <a:srgbClr val="015F84"/>
                </a:solidFill>
                <a:ea typeface="PingFang SC Medium" panose="020B0400000000000000"/>
              </a:rPr>
              <a:t> </a:t>
            </a:r>
            <a:r>
              <a:rPr lang="en-US" altLang="zh-CN" sz="1400" dirty="0">
                <a:solidFill>
                  <a:srgbClr val="015F84"/>
                </a:solidFill>
                <a:ea typeface="PingFang SC Medium" panose="020B0400000000000000"/>
              </a:rPr>
              <a:t>BLEU</a:t>
            </a:r>
            <a:r>
              <a:rPr lang="zh-CN" altLang="en-US" sz="1400" dirty="0">
                <a:solidFill>
                  <a:srgbClr val="015F84"/>
                </a:solidFill>
                <a:ea typeface="PingFang SC Medium" panose="020B0400000000000000"/>
              </a:rPr>
              <a:t> </a:t>
            </a:r>
            <a:r>
              <a:rPr lang="en-US" altLang="zh-CN" sz="1400" dirty="0">
                <a:solidFill>
                  <a:srgbClr val="015F84"/>
                </a:solidFill>
                <a:ea typeface="PingFang SC Medium" panose="020B0400000000000000"/>
              </a:rPr>
              <a:t>262</a:t>
            </a:r>
            <a:r>
              <a:rPr kumimoji="1" lang="en-US" altLang="zh-CN" sz="1400" dirty="0">
                <a:solidFill>
                  <a:srgbClr val="015F84"/>
                </a:solidFill>
                <a:ea typeface="PingFang SC Medium" panose="020B0400000000000000"/>
              </a:rPr>
              <a:t>0</a:t>
            </a:r>
            <a:r>
              <a:rPr kumimoji="1" lang="zh-CN" altLang="en-US" sz="1400" dirty="0">
                <a:solidFill>
                  <a:srgbClr val="015F84"/>
                </a:solidFill>
                <a:ea typeface="PingFang SC Medium" panose="020B0400000000000000"/>
              </a:rPr>
              <a:t>亿</a:t>
            </a:r>
            <a:r>
              <a:rPr lang="zh-CN" altLang="en-US" sz="1400" dirty="0">
                <a:solidFill>
                  <a:srgbClr val="015F84"/>
                </a:solidFill>
                <a:ea typeface="PingFang SC Medium" panose="020B0400000000000000"/>
              </a:rPr>
              <a:t>）</a:t>
            </a:r>
            <a:endParaRPr kumimoji="1" lang="en-US" altLang="zh-CN" sz="1400" dirty="0">
              <a:solidFill>
                <a:srgbClr val="015F84"/>
              </a:solidFill>
              <a:ea typeface="PingFang SC Medium" panose="020B0400000000000000"/>
            </a:endParaRPr>
          </a:p>
          <a:p>
            <a:pPr lvl="1"/>
            <a:r>
              <a:rPr kumimoji="1" lang="zh-CN" altLang="en-US" sz="1400" dirty="0">
                <a:solidFill>
                  <a:srgbClr val="015F84"/>
                </a:solidFill>
                <a:ea typeface="PingFang SC Medium" panose="020B0400000000000000"/>
              </a:rPr>
              <a:t>文本处理：</a:t>
            </a:r>
            <a:r>
              <a:rPr kumimoji="1" lang="en-US" altLang="zh-CN" sz="1400" dirty="0">
                <a:solidFill>
                  <a:srgbClr val="015F84"/>
                </a:solidFill>
                <a:ea typeface="PingFang SC Medium" panose="020B0400000000000000"/>
              </a:rPr>
              <a:t>Turing-NLG</a:t>
            </a:r>
            <a:r>
              <a:rPr kumimoji="1" lang="zh-CN" altLang="en-US" sz="1400" dirty="0">
                <a:solidFill>
                  <a:srgbClr val="015F84"/>
                </a:solidFill>
                <a:ea typeface="PingFang SC Medium" panose="020B0400000000000000"/>
              </a:rPr>
              <a:t>（参数量</a:t>
            </a:r>
            <a:r>
              <a:rPr kumimoji="1" lang="en-US" altLang="zh-CN" sz="1400" dirty="0">
                <a:solidFill>
                  <a:srgbClr val="015F84"/>
                </a:solidFill>
                <a:ea typeface="PingFang SC Medium" panose="020B0400000000000000"/>
              </a:rPr>
              <a:t>17.20</a:t>
            </a:r>
            <a:r>
              <a:rPr kumimoji="1" lang="zh-CN" altLang="en-US" sz="1400" dirty="0">
                <a:solidFill>
                  <a:srgbClr val="015F84"/>
                </a:solidFill>
                <a:ea typeface="PingFang SC Medium" panose="020B0400000000000000"/>
              </a:rPr>
              <a:t>亿），</a:t>
            </a:r>
            <a:r>
              <a:rPr kumimoji="1" lang="en-US" altLang="zh-CN" sz="1400" dirty="0">
                <a:solidFill>
                  <a:srgbClr val="015F84"/>
                </a:solidFill>
                <a:ea typeface="PingFang SC Medium" panose="020B0400000000000000"/>
              </a:rPr>
              <a:t>GPT-3</a:t>
            </a:r>
            <a:r>
              <a:rPr kumimoji="1" lang="zh-CN" altLang="en-US" sz="1400" dirty="0">
                <a:solidFill>
                  <a:srgbClr val="015F84"/>
                </a:solidFill>
                <a:ea typeface="PingFang SC Medium" panose="020B0400000000000000"/>
              </a:rPr>
              <a:t>（参数量</a:t>
            </a:r>
            <a:r>
              <a:rPr kumimoji="1" lang="en-US" altLang="zh-CN" sz="1400" dirty="0">
                <a:solidFill>
                  <a:srgbClr val="015F84"/>
                </a:solidFill>
                <a:ea typeface="PingFang SC Medium" panose="020B0400000000000000"/>
              </a:rPr>
              <a:t>1750</a:t>
            </a:r>
            <a:r>
              <a:rPr kumimoji="1" lang="zh-CN" altLang="en-US" sz="1400" dirty="0">
                <a:solidFill>
                  <a:srgbClr val="015F84"/>
                </a:solidFill>
                <a:ea typeface="PingFang SC Medium" panose="020B0400000000000000"/>
              </a:rPr>
              <a:t>亿，甚至上万亿）</a:t>
            </a:r>
            <a:endParaRPr kumimoji="1" lang="en-US" altLang="zh-CN" sz="1400" dirty="0">
              <a:solidFill>
                <a:srgbClr val="015F84"/>
              </a:solidFill>
              <a:ea typeface="PingFang SC Medium" panose="020B0400000000000000"/>
            </a:endParaRPr>
          </a:p>
          <a:p>
            <a:pPr lvl="1"/>
            <a:r>
              <a:rPr lang="zh-CN" altLang="en" sz="1400" dirty="0">
                <a:solidFill>
                  <a:srgbClr val="015F84"/>
                </a:solidFill>
                <a:ea typeface="PingFang SC Medium" panose="020B0400000000000000"/>
              </a:rPr>
              <a:t>图像</a:t>
            </a:r>
            <a:r>
              <a:rPr lang="zh-CN" altLang="en-US" sz="1400" dirty="0">
                <a:solidFill>
                  <a:srgbClr val="015F84"/>
                </a:solidFill>
                <a:ea typeface="PingFang SC Medium" panose="020B0400000000000000"/>
              </a:rPr>
              <a:t>分类：</a:t>
            </a:r>
            <a:r>
              <a:rPr lang="en" altLang="zh-CN" sz="1400" dirty="0">
                <a:solidFill>
                  <a:srgbClr val="015F84"/>
                </a:solidFill>
                <a:ea typeface="PingFang SC Medium" panose="020B0400000000000000"/>
              </a:rPr>
              <a:t>ViT-G/14</a:t>
            </a:r>
            <a:r>
              <a:rPr lang="zh-CN" altLang="en-US" sz="1400" dirty="0">
                <a:solidFill>
                  <a:srgbClr val="015F84"/>
                </a:solidFill>
                <a:ea typeface="PingFang SC Medium" panose="020B0400000000000000"/>
              </a:rPr>
              <a:t>（参数量</a:t>
            </a:r>
            <a:r>
              <a:rPr lang="en-US" altLang="zh-CN" sz="1400" dirty="0">
                <a:solidFill>
                  <a:srgbClr val="015F84"/>
                </a:solidFill>
                <a:ea typeface="PingFang SC Medium" panose="020B0400000000000000"/>
              </a:rPr>
              <a:t>18</a:t>
            </a:r>
            <a:r>
              <a:rPr kumimoji="1" lang="zh-CN" altLang="en-US" sz="1400" dirty="0">
                <a:solidFill>
                  <a:srgbClr val="015F84"/>
                </a:solidFill>
                <a:ea typeface="PingFang SC Medium" panose="020B0400000000000000"/>
              </a:rPr>
              <a:t>亿</a:t>
            </a:r>
            <a:r>
              <a:rPr lang="zh-CN" altLang="en-US" sz="1400" dirty="0">
                <a:solidFill>
                  <a:srgbClr val="015F84"/>
                </a:solidFill>
                <a:ea typeface="PingFang SC Medium" panose="020B0400000000000000"/>
              </a:rPr>
              <a:t>，</a:t>
            </a:r>
            <a:r>
              <a:rPr lang="en-US" altLang="zh-CN" sz="1400" dirty="0">
                <a:solidFill>
                  <a:srgbClr val="015F84"/>
                </a:solidFill>
                <a:ea typeface="PingFang SC Medium" panose="020B0400000000000000"/>
              </a:rPr>
              <a:t>ImageNet</a:t>
            </a:r>
            <a:r>
              <a:rPr lang="zh-CN" altLang="en-US" sz="1400" dirty="0">
                <a:solidFill>
                  <a:srgbClr val="015F84"/>
                </a:solidFill>
                <a:ea typeface="PingFang SC Medium" panose="020B0400000000000000"/>
              </a:rPr>
              <a:t>推理精度</a:t>
            </a:r>
            <a:r>
              <a:rPr lang="en-US" altLang="zh-CN" sz="1400" dirty="0">
                <a:solidFill>
                  <a:srgbClr val="015F84"/>
                </a:solidFill>
                <a:ea typeface="PingFang SC Medium" panose="020B0400000000000000"/>
              </a:rPr>
              <a:t>90.45%</a:t>
            </a:r>
            <a:r>
              <a:rPr lang="zh-CN" altLang="en-US" sz="1400" dirty="0">
                <a:solidFill>
                  <a:srgbClr val="015F84"/>
                </a:solidFill>
                <a:ea typeface="PingFang SC Medium" panose="020B0400000000000000"/>
              </a:rPr>
              <a:t>）</a:t>
            </a:r>
            <a:endParaRPr lang="en-US" altLang="zh-CN" sz="1400" dirty="0">
              <a:solidFill>
                <a:srgbClr val="015F84"/>
              </a:solidFill>
              <a:ea typeface="PingFang SC Medium" panose="020B0400000000000000"/>
            </a:endParaRPr>
          </a:p>
          <a:p>
            <a:pPr lvl="1"/>
            <a:r>
              <a:rPr kumimoji="1" lang="zh-CN" altLang="en-US" sz="1400" b="0" dirty="0">
                <a:solidFill>
                  <a:srgbClr val="015F84"/>
                </a:solidFill>
                <a:latin typeface="+mj-ea"/>
                <a:ea typeface="PingFang SC Medium" panose="020B0400000000000000"/>
              </a:rPr>
              <a:t>更多的大模型的新型设计</a:t>
            </a:r>
            <a:r>
              <a:rPr kumimoji="1" lang="zh-CN" altLang="en-US" sz="1400" dirty="0">
                <a:solidFill>
                  <a:srgbClr val="015F84"/>
                </a:solidFill>
                <a:latin typeface="+mj-ea"/>
                <a:ea typeface="PingFang SC Medium" panose="020B0400000000000000"/>
              </a:rPr>
              <a:t>及其应用</a:t>
            </a:r>
            <a:r>
              <a:rPr kumimoji="1" lang="zh-CN" altLang="en-US" sz="1400" b="0" dirty="0">
                <a:solidFill>
                  <a:srgbClr val="015F84"/>
                </a:solidFill>
                <a:latin typeface="+mj-ea"/>
                <a:ea typeface="PingFang SC Medium" panose="020B0400000000000000"/>
              </a:rPr>
              <a:t>，正在各行各业，不断涌现：例如</a:t>
            </a:r>
            <a:r>
              <a:rPr kumimoji="1" lang="en-US" altLang="zh-CN" sz="1400" b="0" dirty="0">
                <a:solidFill>
                  <a:srgbClr val="015F84"/>
                </a:solidFill>
                <a:latin typeface="+mj-ea"/>
                <a:ea typeface="PingFang SC Medium" panose="020B0400000000000000"/>
              </a:rPr>
              <a:t>Qwen3, DeepSeekV3/3.5, Pangu-2, Llama 4, Mistral, Gemini 2.5</a:t>
            </a:r>
            <a:endParaRPr lang="en-US" altLang="zh-CN" sz="1400" dirty="0">
              <a:solidFill>
                <a:srgbClr val="015F84"/>
              </a:solidFill>
              <a:ea typeface="PingFang SC Medium" panose="020B0400000000000000"/>
            </a:endParaRPr>
          </a:p>
          <a:p>
            <a:r>
              <a:rPr kumimoji="1" lang="zh-CN" altLang="en-US" sz="1600" dirty="0">
                <a:solidFill>
                  <a:srgbClr val="015F84"/>
                </a:solidFill>
                <a:ea typeface="PingFang SC Medium" panose="020B0400000000000000"/>
              </a:rPr>
              <a:t>每个大模型越来越复杂化：</a:t>
            </a:r>
            <a:r>
              <a:rPr kumimoji="1" lang="zh-CN" altLang="en-US" sz="1600" b="0" dirty="0">
                <a:solidFill>
                  <a:srgbClr val="015F84"/>
                </a:solidFill>
                <a:ea typeface="PingFang SC Medium" panose="020B0400000000000000"/>
              </a:rPr>
              <a:t>参数建模容量极大</a:t>
            </a:r>
            <a:endParaRPr kumimoji="1" lang="en-US" altLang="zh-CN" sz="1600" dirty="0">
              <a:solidFill>
                <a:srgbClr val="015F84"/>
              </a:solidFill>
              <a:ea typeface="PingFang SC Medium" panose="020B0400000000000000"/>
            </a:endParaRPr>
          </a:p>
          <a:p>
            <a:pPr lvl="1"/>
            <a:r>
              <a:rPr kumimoji="1" lang="zh-CN" altLang="en-US" sz="1400" b="0" dirty="0">
                <a:solidFill>
                  <a:srgbClr val="015F84"/>
                </a:solidFill>
                <a:ea typeface="PingFang SC Medium" panose="020B0400000000000000"/>
              </a:rPr>
              <a:t>越来越</a:t>
            </a:r>
            <a:r>
              <a:rPr kumimoji="1" lang="zh-CN" altLang="en-US" sz="1400" b="1" dirty="0">
                <a:solidFill>
                  <a:srgbClr val="015F84"/>
                </a:solidFill>
                <a:ea typeface="PingFang SC Medium" panose="020B0400000000000000"/>
              </a:rPr>
              <a:t>长</a:t>
            </a:r>
            <a:r>
              <a:rPr kumimoji="1" lang="zh-CN" altLang="en-US" sz="1400" b="0" dirty="0">
                <a:solidFill>
                  <a:srgbClr val="015F84"/>
                </a:solidFill>
                <a:ea typeface="PingFang SC Medium" panose="020B0400000000000000"/>
              </a:rPr>
              <a:t>（神经网络层越来越多），越来越</a:t>
            </a:r>
            <a:r>
              <a:rPr kumimoji="1" lang="zh-CN" altLang="en-US" sz="1400" b="1" dirty="0">
                <a:solidFill>
                  <a:srgbClr val="015F84"/>
                </a:solidFill>
                <a:ea typeface="PingFang SC Medium" panose="020B0400000000000000"/>
              </a:rPr>
              <a:t>宽</a:t>
            </a:r>
            <a:r>
              <a:rPr kumimoji="1" lang="zh-CN" altLang="en-US" sz="1400" b="0" dirty="0">
                <a:solidFill>
                  <a:srgbClr val="015F84"/>
                </a:solidFill>
                <a:ea typeface="PingFang SC Medium" panose="020B0400000000000000"/>
              </a:rPr>
              <a:t>（每一层的神经运算符越来越多）：百</a:t>
            </a:r>
            <a:r>
              <a:rPr kumimoji="1" lang="en-US" altLang="zh-CN" sz="1400" b="0" dirty="0">
                <a:solidFill>
                  <a:srgbClr val="015F84"/>
                </a:solidFill>
                <a:ea typeface="PingFang SC Medium" panose="020B0400000000000000"/>
              </a:rPr>
              <a:t>/</a:t>
            </a:r>
            <a:r>
              <a:rPr kumimoji="1" lang="zh-CN" altLang="en-US" sz="1400" dirty="0">
                <a:solidFill>
                  <a:srgbClr val="015F84"/>
                </a:solidFill>
                <a:ea typeface="PingFang SC Medium" panose="020B0400000000000000"/>
              </a:rPr>
              <a:t>千</a:t>
            </a:r>
            <a:r>
              <a:rPr kumimoji="1" lang="en-US" altLang="zh-CN" sz="1400" dirty="0">
                <a:solidFill>
                  <a:srgbClr val="015F84"/>
                </a:solidFill>
                <a:ea typeface="PingFang SC Medium" panose="020B0400000000000000"/>
              </a:rPr>
              <a:t>/</a:t>
            </a:r>
            <a:r>
              <a:rPr kumimoji="1" lang="zh-CN" altLang="en-US" sz="1400" dirty="0">
                <a:solidFill>
                  <a:srgbClr val="015F84"/>
                </a:solidFill>
                <a:ea typeface="PingFang SC Medium" panose="020B0400000000000000"/>
              </a:rPr>
              <a:t>万亿参数</a:t>
            </a:r>
            <a:endParaRPr kumimoji="1" lang="en-US" altLang="zh-CN" sz="1400" b="0" dirty="0">
              <a:solidFill>
                <a:srgbClr val="015F84"/>
              </a:solidFill>
              <a:ea typeface="PingFang SC Medium" panose="020B0400000000000000"/>
            </a:endParaRPr>
          </a:p>
          <a:p>
            <a:pPr lvl="1"/>
            <a:r>
              <a:rPr kumimoji="1" lang="zh-CN" altLang="en-US" sz="1400" dirty="0">
                <a:solidFill>
                  <a:srgbClr val="015F84"/>
                </a:solidFill>
                <a:ea typeface="PingFang SC Medium" panose="020B0400000000000000"/>
              </a:rPr>
              <a:t>必须部署于数百、上</a:t>
            </a:r>
            <a:r>
              <a:rPr kumimoji="1" lang="zh-CN" altLang="en-US" sz="1400" b="0" dirty="0">
                <a:solidFill>
                  <a:srgbClr val="015F84"/>
                </a:solidFill>
                <a:ea typeface="PingFang SC Medium" panose="020B0400000000000000"/>
              </a:rPr>
              <a:t>千张高端</a:t>
            </a:r>
            <a:r>
              <a:rPr kumimoji="1" lang="en-US" altLang="zh-CN" sz="1400" b="0" dirty="0">
                <a:solidFill>
                  <a:srgbClr val="015F84"/>
                </a:solidFill>
                <a:ea typeface="PingFang SC Medium" panose="020B0400000000000000"/>
              </a:rPr>
              <a:t>GPU</a:t>
            </a:r>
            <a:r>
              <a:rPr kumimoji="1" lang="zh-CN" altLang="en-US" sz="1400" b="0" dirty="0">
                <a:solidFill>
                  <a:srgbClr val="015F84"/>
                </a:solidFill>
                <a:ea typeface="PingFang SC Medium" panose="020B0400000000000000"/>
              </a:rPr>
              <a:t>卡（又称为“训练芯片”），进行分布式训练数天至</a:t>
            </a:r>
            <a:r>
              <a:rPr kumimoji="1" lang="zh-CN" altLang="en-US" sz="1400" dirty="0">
                <a:solidFill>
                  <a:srgbClr val="015F84"/>
                </a:solidFill>
                <a:ea typeface="PingFang SC Medium" panose="020B0400000000000000"/>
              </a:rPr>
              <a:t>数</a:t>
            </a:r>
            <a:r>
              <a:rPr kumimoji="1" lang="zh-CN" altLang="en-US" sz="1400" b="0" dirty="0">
                <a:solidFill>
                  <a:srgbClr val="015F84"/>
                </a:solidFill>
                <a:ea typeface="PingFang SC Medium" panose="020B0400000000000000"/>
              </a:rPr>
              <a:t>十天</a:t>
            </a:r>
            <a:endParaRPr kumimoji="1" lang="en-US" altLang="zh-CN" sz="1400" b="0" dirty="0">
              <a:solidFill>
                <a:srgbClr val="015F84"/>
              </a:solidFill>
              <a:ea typeface="PingFang SC Medium" panose="020B0400000000000000"/>
            </a:endParaRPr>
          </a:p>
          <a:p>
            <a:r>
              <a:rPr kumimoji="1" lang="zh-CN" altLang="en-US" sz="1600" dirty="0">
                <a:solidFill>
                  <a:srgbClr val="015F84"/>
                </a:solidFill>
                <a:ea typeface="PingFang SC Medium" panose="020B0400000000000000"/>
              </a:rPr>
              <a:t>每个大模型</a:t>
            </a:r>
            <a:r>
              <a:rPr lang="zh-CN" altLang="en-US" sz="1600" dirty="0">
                <a:solidFill>
                  <a:srgbClr val="015F84"/>
                </a:solidFill>
                <a:ea typeface="PingFang SC Medium" panose="020B0400000000000000"/>
              </a:rPr>
              <a:t>越来越稀疏化，动态化</a:t>
            </a:r>
            <a:r>
              <a:rPr lang="zh-CN" altLang="en-US" sz="1600" b="0" dirty="0">
                <a:solidFill>
                  <a:srgbClr val="015F84"/>
                </a:solidFill>
                <a:ea typeface="PingFang SC Medium" panose="020B0400000000000000"/>
              </a:rPr>
              <a:t>：以“</a:t>
            </a:r>
            <a:r>
              <a:rPr lang="zh-CN" altLang="en-US" sz="1600" dirty="0">
                <a:solidFill>
                  <a:srgbClr val="015F84"/>
                </a:solidFill>
                <a:ea typeface="PingFang SC Medium" panose="020B0400000000000000"/>
              </a:rPr>
              <a:t>超网</a:t>
            </a:r>
            <a:r>
              <a:rPr lang="en-US" altLang="zh-CN" sz="1600" dirty="0">
                <a:solidFill>
                  <a:srgbClr val="015F84"/>
                </a:solidFill>
                <a:ea typeface="PingFang SC Medium" panose="020B0400000000000000"/>
              </a:rPr>
              <a:t>-</a:t>
            </a:r>
            <a:r>
              <a:rPr lang="zh-CN" altLang="en-US" sz="1600" dirty="0">
                <a:solidFill>
                  <a:srgbClr val="015F84"/>
                </a:solidFill>
                <a:ea typeface="PingFang SC Medium" panose="020B0400000000000000"/>
              </a:rPr>
              <a:t>子网</a:t>
            </a:r>
            <a:r>
              <a:rPr lang="zh-CN" altLang="en-US" sz="1600" b="0" dirty="0">
                <a:solidFill>
                  <a:srgbClr val="015F84"/>
                </a:solidFill>
                <a:ea typeface="PingFang SC Medium" panose="020B0400000000000000"/>
              </a:rPr>
              <a:t>”（“</a:t>
            </a:r>
            <a:r>
              <a:rPr lang="zh-CN" altLang="en-US" sz="1600" dirty="0">
                <a:solidFill>
                  <a:srgbClr val="015F84"/>
                </a:solidFill>
                <a:ea typeface="PingFang SC Medium" panose="020B0400000000000000"/>
              </a:rPr>
              <a:t>超模型</a:t>
            </a:r>
            <a:r>
              <a:rPr lang="en-US" altLang="zh-CN" sz="1600" dirty="0">
                <a:solidFill>
                  <a:srgbClr val="015F84"/>
                </a:solidFill>
                <a:ea typeface="PingFang SC Medium" panose="020B0400000000000000"/>
              </a:rPr>
              <a:t>-</a:t>
            </a:r>
            <a:r>
              <a:rPr lang="zh-CN" altLang="en-US" sz="1600" dirty="0">
                <a:solidFill>
                  <a:srgbClr val="015F84"/>
                </a:solidFill>
                <a:ea typeface="PingFang SC Medium" panose="020B0400000000000000"/>
              </a:rPr>
              <a:t>子模型</a:t>
            </a:r>
            <a:r>
              <a:rPr lang="zh-CN" altLang="en-US" sz="1600" b="0" dirty="0">
                <a:solidFill>
                  <a:srgbClr val="015F84"/>
                </a:solidFill>
                <a:ea typeface="PingFang SC Medium" panose="020B0400000000000000"/>
              </a:rPr>
              <a:t>”）方式构建，以使各子模型可适应不同计算机设备</a:t>
            </a:r>
            <a:endParaRPr lang="en-US" altLang="zh-CN" sz="1600" dirty="0">
              <a:solidFill>
                <a:srgbClr val="015F84"/>
              </a:solidFill>
              <a:ea typeface="PingFang SC Medium" panose="020B0400000000000000"/>
            </a:endParaRPr>
          </a:p>
          <a:p>
            <a:pPr lvl="1"/>
            <a:r>
              <a:rPr lang="zh-CN" altLang="en-US" sz="1400" dirty="0">
                <a:solidFill>
                  <a:srgbClr val="015F84"/>
                </a:solidFill>
                <a:ea typeface="PingFang SC Medium" panose="020B0400000000000000"/>
              </a:rPr>
              <a:t>例如，神经网络搜索（</a:t>
            </a:r>
            <a:r>
              <a:rPr lang="en-US" altLang="zh-CN" sz="1400" dirty="0">
                <a:solidFill>
                  <a:srgbClr val="015F84"/>
                </a:solidFill>
                <a:ea typeface="PingFang SC Medium" panose="020B0400000000000000"/>
              </a:rPr>
              <a:t>Neural Architecture Search</a:t>
            </a:r>
            <a:r>
              <a:rPr lang="zh-CN" altLang="en-US" sz="1400" dirty="0">
                <a:solidFill>
                  <a:srgbClr val="015F84"/>
                </a:solidFill>
                <a:ea typeface="PingFang SC Medium" panose="020B0400000000000000"/>
              </a:rPr>
              <a:t>，或</a:t>
            </a:r>
            <a:r>
              <a:rPr lang="en-US" altLang="zh-CN" sz="1400" dirty="0">
                <a:solidFill>
                  <a:srgbClr val="015F84"/>
                </a:solidFill>
                <a:ea typeface="PingFang SC Medium" panose="020B0400000000000000"/>
              </a:rPr>
              <a:t>NAS</a:t>
            </a:r>
            <a:r>
              <a:rPr lang="zh-CN" altLang="en-US" sz="1400" dirty="0">
                <a:solidFill>
                  <a:srgbClr val="015F84"/>
                </a:solidFill>
                <a:ea typeface="PingFang SC Medium" panose="020B0400000000000000"/>
              </a:rPr>
              <a:t>），混合专家网络（</a:t>
            </a:r>
            <a:r>
              <a:rPr lang="en-US" altLang="zh-CN" sz="1400" dirty="0">
                <a:solidFill>
                  <a:srgbClr val="015F84"/>
                </a:solidFill>
                <a:ea typeface="PingFang SC Medium" panose="020B0400000000000000"/>
              </a:rPr>
              <a:t>Mixture Of Experts</a:t>
            </a:r>
            <a:r>
              <a:rPr lang="zh-CN" altLang="en-US" sz="1400" dirty="0">
                <a:solidFill>
                  <a:srgbClr val="015F84"/>
                </a:solidFill>
                <a:ea typeface="PingFang SC Medium" panose="020B0400000000000000"/>
              </a:rPr>
              <a:t>，或</a:t>
            </a:r>
            <a:r>
              <a:rPr lang="en-US" altLang="zh-CN" sz="1400" dirty="0">
                <a:solidFill>
                  <a:srgbClr val="015F84"/>
                </a:solidFill>
                <a:ea typeface="PingFang SC Medium" panose="020B0400000000000000"/>
              </a:rPr>
              <a:t>MOE</a:t>
            </a:r>
            <a:r>
              <a:rPr lang="zh-CN" altLang="en-US" sz="1400" dirty="0">
                <a:solidFill>
                  <a:srgbClr val="015F84"/>
                </a:solidFill>
                <a:ea typeface="PingFang SC Medium" panose="020B0400000000000000"/>
              </a:rPr>
              <a:t>，例如</a:t>
            </a:r>
            <a:r>
              <a:rPr lang="en-US" altLang="zh-CN" sz="1400" dirty="0">
                <a:solidFill>
                  <a:srgbClr val="015F84"/>
                </a:solidFill>
                <a:ea typeface="PingFang SC Medium" panose="020B0400000000000000"/>
              </a:rPr>
              <a:t>DeepSeek</a:t>
            </a:r>
            <a:r>
              <a:rPr lang="zh-CN" altLang="en-US" sz="1400" dirty="0">
                <a:solidFill>
                  <a:srgbClr val="015F84"/>
                </a:solidFill>
                <a:ea typeface="PingFang SC Medium" panose="020B0400000000000000"/>
              </a:rPr>
              <a:t>），以及多模态</a:t>
            </a:r>
            <a:endParaRPr lang="en" altLang="zh-CN" sz="1400" b="0" dirty="0">
              <a:solidFill>
                <a:srgbClr val="015F84"/>
              </a:solidFill>
              <a:ea typeface="PingFang SC Medium" panose="020B0400000000000000"/>
            </a:endParaRPr>
          </a:p>
          <a:p>
            <a:r>
              <a:rPr kumimoji="1" lang="zh-CN" altLang="en-US" sz="1600" b="0" dirty="0">
                <a:solidFill>
                  <a:srgbClr val="015F84"/>
                </a:solidFill>
                <a:ea typeface="PingFang SC Medium" panose="020B0400000000000000"/>
              </a:rPr>
              <a:t>国际国内很多著名</a:t>
            </a:r>
            <a:r>
              <a:rPr kumimoji="1" lang="en-US" altLang="zh-CN" sz="1600" b="0" dirty="0">
                <a:solidFill>
                  <a:srgbClr val="015F84"/>
                </a:solidFill>
                <a:ea typeface="PingFang SC Medium" panose="020B0400000000000000"/>
              </a:rPr>
              <a:t>IT</a:t>
            </a:r>
            <a:r>
              <a:rPr kumimoji="1" lang="zh-CN" altLang="en-US" sz="1600" b="0" dirty="0">
                <a:solidFill>
                  <a:srgbClr val="015F84"/>
                </a:solidFill>
                <a:ea typeface="PingFang SC Medium" panose="020B0400000000000000"/>
              </a:rPr>
              <a:t>企业和科研机构，纷纷投资重点研究针对大模型的三维训练系统</a:t>
            </a:r>
            <a:endParaRPr kumimoji="1" lang="en-US" altLang="zh-CN" sz="1600" b="0" dirty="0">
              <a:solidFill>
                <a:srgbClr val="015F84"/>
              </a:solidFill>
              <a:ea typeface="PingFang SC Medium" panose="020B0400000000000000"/>
            </a:endParaRPr>
          </a:p>
          <a:p>
            <a:pPr lvl="1"/>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例如，</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Nvidia Megatron-LM[SC </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21]</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Microsoft &amp; Stanford </a:t>
            </a:r>
            <a:r>
              <a:rPr kumimoji="1" lang="en-US" altLang="zh-CN" sz="1400" b="0" dirty="0" err="1">
                <a:solidFill>
                  <a:srgbClr val="015F84"/>
                </a:solidFill>
                <a:latin typeface="Arial" panose="020B0604020202020204" pitchFamily="34" charset="0"/>
                <a:ea typeface="PingFang SC Medium" panose="020B0400000000000000"/>
                <a:cs typeface="Arial" panose="020B0604020202020204" pitchFamily="34" charset="0"/>
              </a:rPr>
              <a:t>DeepSpeed</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 3D</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[KDD '21]</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Google Pathways[</a:t>
            </a:r>
            <a:r>
              <a:rPr kumimoji="1" lang="en-US" altLang="zh-CN" sz="1400" dirty="0" err="1">
                <a:solidFill>
                  <a:srgbClr val="015F84"/>
                </a:solidFill>
                <a:latin typeface="Arial" panose="020B0604020202020204" pitchFamily="34" charset="0"/>
                <a:ea typeface="PingFang SC Medium" panose="020B0400000000000000"/>
                <a:cs typeface="Arial" panose="020B0604020202020204" pitchFamily="34" charset="0"/>
              </a:rPr>
              <a:t>MLSys</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 '22]</a:t>
            </a:r>
          </a:p>
          <a:p>
            <a:pPr lvl="1"/>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训练一个大模型</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 </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最高分配数百</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Gbps </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网络带宽）的实例，</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需几百张</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GPU</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训练芯片卡，每张卡</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ALU</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算力极大、内存却极小（上百</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GB</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），云环境下，哪怕每个租户可租得上千</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GPU</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，“每个租户的网络容量”也是瓶颈，仅为上百</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Gbps</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，导致训练每个大模型</a:t>
            </a:r>
            <a:r>
              <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rPr>
              <a:t>GPU</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算力利用率仅</a:t>
            </a:r>
            <a:r>
              <a:rPr kumimoji="1" lang="en-US" altLang="zh-CN" sz="1400" b="1" dirty="0">
                <a:solidFill>
                  <a:srgbClr val="015F84"/>
                </a:solidFill>
                <a:latin typeface="Arial" panose="020B0604020202020204" pitchFamily="34" charset="0"/>
                <a:ea typeface="PingFang SC Medium" panose="020B0400000000000000"/>
                <a:cs typeface="Arial" panose="020B0604020202020204" pitchFamily="34" charset="0"/>
              </a:rPr>
              <a:t>~30%</a:t>
            </a:r>
            <a:endParaRPr kumimoji="1" lang="en-US" altLang="zh-CN" sz="1400" dirty="0">
              <a:solidFill>
                <a:srgbClr val="015F84"/>
              </a:solidFill>
              <a:latin typeface="Arial" panose="020B0604020202020204" pitchFamily="34" charset="0"/>
              <a:ea typeface="PingFang SC Medium" panose="020B0400000000000000"/>
              <a:cs typeface="Arial" panose="020B0604020202020204" pitchFamily="34" charset="0"/>
            </a:endParaRPr>
          </a:p>
          <a:p>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虽然极个别的大企业或科研机构（例如华为、微软和谷歌）提供了开源的预训练大模型</a:t>
            </a:r>
            <a:endParaRPr kumimoji="1" lang="en-US" altLang="zh-CN" sz="1600" b="0" dirty="0">
              <a:solidFill>
                <a:srgbClr val="015F84"/>
              </a:solidFill>
              <a:latin typeface="Arial" panose="020B0604020202020204" pitchFamily="34" charset="0"/>
              <a:ea typeface="PingFang SC Medium" panose="020B0400000000000000"/>
              <a:cs typeface="Arial" panose="020B0604020202020204" pitchFamily="34" charset="0"/>
            </a:endParaRPr>
          </a:p>
          <a:p>
            <a:pPr lvl="1"/>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每个中小企业和机构，</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在超算中心和云租用</a:t>
            </a:r>
            <a:r>
              <a:rPr kumimoji="1" lang="en-US" altLang="zh-CN" sz="1400" b="0" dirty="0">
                <a:solidFill>
                  <a:srgbClr val="015F84"/>
                </a:solidFill>
                <a:latin typeface="Arial" panose="020B0604020202020204" pitchFamily="34" charset="0"/>
                <a:ea typeface="PingFang SC Medium" panose="020B0400000000000000"/>
                <a:cs typeface="Arial" panose="020B0604020202020204" pitchFamily="34" charset="0"/>
              </a:rPr>
              <a:t>GPU</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，根据私有数据集，频繁泛化微调（</a:t>
            </a:r>
            <a:r>
              <a:rPr kumimoji="1" lang="zh-CN" altLang="en-US" sz="1400" dirty="0">
                <a:solidFill>
                  <a:srgbClr val="015F84"/>
                </a:solidFill>
                <a:latin typeface="Arial" panose="020B0604020202020204" pitchFamily="34" charset="0"/>
                <a:ea typeface="PingFang SC Medium" panose="020B0400000000000000"/>
                <a:cs typeface="Arial" panose="020B0604020202020204" pitchFamily="34" charset="0"/>
              </a:rPr>
              <a:t>或“后</a:t>
            </a:r>
            <a:r>
              <a:rPr kumimoji="1" lang="zh-CN" altLang="en-US" sz="1400" b="0" dirty="0">
                <a:solidFill>
                  <a:srgbClr val="015F84"/>
                </a:solidFill>
                <a:latin typeface="Arial" panose="020B0604020202020204" pitchFamily="34" charset="0"/>
                <a:ea typeface="PingFang SC Medium" panose="020B0400000000000000"/>
                <a:cs typeface="Arial" panose="020B0604020202020204" pitchFamily="34" charset="0"/>
              </a:rPr>
              <a:t>训练”）大模型：</a:t>
            </a:r>
            <a:r>
              <a:rPr kumimoji="1" lang="zh-CN" altLang="en-US" sz="1400" b="1" dirty="0">
                <a:solidFill>
                  <a:srgbClr val="015F84"/>
                </a:solidFill>
                <a:latin typeface="Arial" panose="020B0604020202020204" pitchFamily="34" charset="0"/>
                <a:ea typeface="PingFang SC Medium" panose="020B0400000000000000"/>
                <a:cs typeface="Arial" panose="020B0604020202020204" pitchFamily="34" charset="0"/>
              </a:rPr>
              <a:t>按企业各自每个训练实例计费</a:t>
            </a:r>
            <a:endParaRPr kumimoji="1" lang="en-US" altLang="zh-CN" sz="1400" b="1" dirty="0">
              <a:solidFill>
                <a:srgbClr val="015F84"/>
              </a:solidFill>
              <a:latin typeface="Arial" panose="020B0604020202020204" pitchFamily="34" charset="0"/>
              <a:ea typeface="PingFang SC Medium" panose="020B0400000000000000"/>
              <a:cs typeface="Arial" panose="020B0604020202020204" pitchFamily="34" charset="0"/>
            </a:endParaRPr>
          </a:p>
          <a:p>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我作为项目主持人，非常感谢科技部（国家科技重大专项 支撑项目，</a:t>
            </a:r>
            <a:r>
              <a:rPr kumimoji="1" lang="en-US" altLang="zh-CN" sz="1600" b="0" dirty="0">
                <a:solidFill>
                  <a:srgbClr val="015F84"/>
                </a:solidFill>
                <a:latin typeface="Arial" panose="020B0604020202020204" pitchFamily="34" charset="0"/>
                <a:ea typeface="PingFang SC Medium" panose="020B0400000000000000"/>
                <a:cs typeface="Arial" panose="020B0604020202020204" pitchFamily="34" charset="0"/>
              </a:rPr>
              <a:t>CNY </a:t>
            </a:r>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a:t>
            </a:r>
            <a:r>
              <a:rPr kumimoji="1" lang="en-US" altLang="zh-CN" sz="1600" b="0" dirty="0">
                <a:solidFill>
                  <a:srgbClr val="015F84"/>
                </a:solidFill>
                <a:latin typeface="Arial" panose="020B0604020202020204" pitchFamily="34" charset="0"/>
                <a:ea typeface="PingFang SC Medium" panose="020B0400000000000000"/>
                <a:cs typeface="Arial" panose="020B0604020202020204" pitchFamily="34" charset="0"/>
              </a:rPr>
              <a:t>1.1</a:t>
            </a:r>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亿，</a:t>
            </a:r>
            <a:r>
              <a:rPr kumimoji="1" lang="en-US" altLang="zh-CN" sz="1600" b="0" dirty="0">
                <a:solidFill>
                  <a:srgbClr val="015F84"/>
                </a:solidFill>
                <a:latin typeface="+mj-ea"/>
                <a:ea typeface="PingFang SC Medium" panose="020B0400000000000000"/>
              </a:rPr>
              <a:t>2022ZD0160200</a:t>
            </a:r>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）和香港科研资助局科研影响力基金（</a:t>
            </a:r>
            <a:r>
              <a:rPr kumimoji="1" lang="en-US" altLang="zh-CN" sz="1600" b="0" dirty="0">
                <a:solidFill>
                  <a:srgbClr val="015F84"/>
                </a:solidFill>
                <a:latin typeface="+mj-ea"/>
                <a:ea typeface="PingFang SC Medium" panose="020B0400000000000000"/>
              </a:rPr>
              <a:t> HK Research Grant Council,</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Research</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Impact</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Fund,</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Arial" panose="020B0604020202020204" pitchFamily="34" charset="0"/>
                <a:ea typeface="PingFang SC Medium" panose="020B0400000000000000"/>
                <a:cs typeface="Arial" panose="020B0604020202020204" pitchFamily="34" charset="0"/>
              </a:rPr>
              <a:t>HKD $540</a:t>
            </a:r>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万）资助</a:t>
            </a:r>
          </a:p>
        </p:txBody>
      </p:sp>
    </p:spTree>
    <p:extLst>
      <p:ext uri="{BB962C8B-B14F-4D97-AF65-F5344CB8AC3E}">
        <p14:creationId xmlns:p14="http://schemas.microsoft.com/office/powerpoint/2010/main" val="4034084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870CDB-58CB-4615-8DCB-D9018B21E280}"/>
              </a:ext>
            </a:extLst>
          </p:cNvPr>
          <p:cNvSpPr txBox="1"/>
          <p:nvPr/>
        </p:nvSpPr>
        <p:spPr>
          <a:xfrm>
            <a:off x="281016" y="88578"/>
            <a:ext cx="10217468" cy="707886"/>
          </a:xfrm>
          <a:prstGeom prst="rect">
            <a:avLst/>
          </a:prstGeom>
          <a:noFill/>
        </p:spPr>
        <p:txBody>
          <a:bodyPr wrap="square" rtlCol="0">
            <a:spAutoFit/>
          </a:bodyPr>
          <a:lstStyle/>
          <a:p>
            <a:pPr>
              <a:defRPr/>
            </a:pPr>
            <a:r>
              <a:rPr kumimoji="1" lang="zh-CN" altLang="en-US" sz="4000" b="1">
                <a:solidFill>
                  <a:srgbClr val="025F84"/>
                </a:solidFill>
                <a:ea typeface="PingFang SC Medium" panose="020B0400000000000000" pitchFamily="34" charset="-122"/>
              </a:rPr>
              <a:t>百亿级参数以上模型：普遍需三维并行训练</a:t>
            </a:r>
            <a:endParaRPr kumimoji="1" lang="en-US" altLang="zh-CN" sz="4000" b="1">
              <a:solidFill>
                <a:srgbClr val="025F84"/>
              </a:solidFill>
              <a:ea typeface="PingFang SC Medium" panose="020B0400000000000000" pitchFamily="34" charset="-122"/>
            </a:endParaRPr>
          </a:p>
        </p:txBody>
      </p:sp>
      <p:sp>
        <p:nvSpPr>
          <p:cNvPr id="2" name="内容占位符 2">
            <a:extLst>
              <a:ext uri="{FF2B5EF4-FFF2-40B4-BE49-F238E27FC236}">
                <a16:creationId xmlns:a16="http://schemas.microsoft.com/office/drawing/2014/main" id="{CFB4085C-FF84-4299-B157-E165953CB1FD}"/>
              </a:ext>
            </a:extLst>
          </p:cNvPr>
          <p:cNvSpPr>
            <a:spLocks noGrp="1"/>
          </p:cNvSpPr>
          <p:nvPr/>
        </p:nvSpPr>
        <p:spPr bwMode="auto">
          <a:xfrm>
            <a:off x="959125" y="1050825"/>
            <a:ext cx="10061257" cy="5218113"/>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a:solidFill>
                  <a:srgbClr val="015F84"/>
                </a:solidFill>
                <a:latin typeface="+mj-ea"/>
                <a:ea typeface="PingFang SC Medium" panose="020B0400000000000000"/>
              </a:rPr>
              <a:t>对于每个大模型，为适应其“深、宽、训练数据集大”，训练系统普遍采用三维并行训练</a:t>
            </a:r>
            <a:endParaRPr kumimoji="1" lang="en-US" altLang="zh-CN" sz="1600" b="0">
              <a:solidFill>
                <a:srgbClr val="015F84"/>
              </a:solidFill>
              <a:latin typeface="+mj-ea"/>
              <a:ea typeface="PingFang SC Medium" panose="020B0400000000000000"/>
            </a:endParaRPr>
          </a:p>
          <a:p>
            <a:pPr lvl="1"/>
            <a:r>
              <a:rPr kumimoji="1" lang="zh-CN" altLang="en-US" sz="1400">
                <a:solidFill>
                  <a:srgbClr val="015F84"/>
                </a:solidFill>
                <a:latin typeface="+mj-ea"/>
                <a:ea typeface="PingFang SC Medium" panose="020B0400000000000000"/>
              </a:rPr>
              <a:t>用于训练大模型的</a:t>
            </a:r>
            <a:r>
              <a:rPr kumimoji="1" lang="zh-CN" altLang="en-US" sz="1400" b="1">
                <a:solidFill>
                  <a:srgbClr val="015F84"/>
                </a:solidFill>
                <a:latin typeface="+mj-ea"/>
                <a:ea typeface="PingFang SC Medium" panose="020B0400000000000000"/>
              </a:rPr>
              <a:t>核心维度</a:t>
            </a:r>
            <a:r>
              <a:rPr kumimoji="1" lang="zh-CN" altLang="en-US" sz="1400">
                <a:solidFill>
                  <a:srgbClr val="015F84"/>
                </a:solidFill>
                <a:latin typeface="+mj-ea"/>
                <a:ea typeface="PingFang SC Medium" panose="020B0400000000000000"/>
              </a:rPr>
              <a:t>：</a:t>
            </a:r>
            <a:r>
              <a:rPr kumimoji="1" lang="zh-CN" altLang="en-US" sz="1400" b="0">
                <a:solidFill>
                  <a:srgbClr val="015F84"/>
                </a:solidFill>
                <a:latin typeface="+mj-ea"/>
                <a:ea typeface="PingFang SC Medium" panose="020B0400000000000000"/>
              </a:rPr>
              <a:t>流水线模型并行（</a:t>
            </a:r>
            <a:r>
              <a:rPr kumimoji="1" lang="en-US" altLang="zh-CN" sz="1400" b="0">
                <a:solidFill>
                  <a:srgbClr val="015F84"/>
                </a:solidFill>
                <a:latin typeface="+mj-ea"/>
                <a:ea typeface="PingFang SC Medium" panose="020B0400000000000000"/>
              </a:rPr>
              <a:t>Pipeline Parallel</a:t>
            </a:r>
            <a:r>
              <a:rPr kumimoji="1" lang="zh-CN" altLang="en-US" sz="1400" b="0">
                <a:solidFill>
                  <a:srgbClr val="015F84"/>
                </a:solidFill>
                <a:latin typeface="+mj-ea"/>
                <a:ea typeface="PingFang SC Medium" panose="020B0400000000000000"/>
              </a:rPr>
              <a:t>，或</a:t>
            </a:r>
            <a:r>
              <a:rPr kumimoji="1" lang="en-US" altLang="zh-CN" sz="1400" b="0">
                <a:solidFill>
                  <a:srgbClr val="015F84"/>
                </a:solidFill>
                <a:latin typeface="+mj-ea"/>
                <a:ea typeface="PingFang SC Medium" panose="020B0400000000000000"/>
              </a:rPr>
              <a:t>PP</a:t>
            </a:r>
            <a:r>
              <a:rPr kumimoji="1" lang="zh-CN" altLang="en-US" sz="1400" b="0">
                <a:solidFill>
                  <a:srgbClr val="015F84"/>
                </a:solidFill>
                <a:latin typeface="+mj-ea"/>
                <a:ea typeface="PingFang SC Medium" panose="020B0400000000000000"/>
              </a:rPr>
              <a:t>，适应每个大模型的神经网络层越来越多</a:t>
            </a:r>
            <a:r>
              <a:rPr lang="zh-CN" altLang="en-US" sz="1400">
                <a:solidFill>
                  <a:srgbClr val="015F84"/>
                </a:solidFill>
                <a:ea typeface="PingFang SC Medium" panose="020B0400000000000000"/>
              </a:rPr>
              <a:t>）</a:t>
            </a:r>
            <a:endParaRPr kumimoji="1" lang="en-US" altLang="zh-CN" sz="1400" b="0">
              <a:solidFill>
                <a:srgbClr val="015F84"/>
              </a:solidFill>
              <a:latin typeface="+mj-ea"/>
              <a:ea typeface="PingFang SC Medium" panose="020B0400000000000000"/>
            </a:endParaRPr>
          </a:p>
          <a:p>
            <a:pPr lvl="2"/>
            <a:r>
              <a:rPr lang="zh-CN" altLang="en-US" sz="1400">
                <a:solidFill>
                  <a:srgbClr val="015F84"/>
                </a:solidFill>
                <a:ea typeface="PingFang SC Medium" panose="020B0400000000000000"/>
              </a:rPr>
              <a:t>将一个大模型的所有层，以流水线方式，按纵向切分（如</a:t>
            </a:r>
            <a:r>
              <a:rPr lang="en-US" altLang="zh-CN" sz="1400">
                <a:solidFill>
                  <a:srgbClr val="015F84"/>
                </a:solidFill>
                <a:ea typeface="PingFang SC Medium" panose="020B0400000000000000"/>
              </a:rPr>
              <a:t>L0</a:t>
            </a:r>
            <a:r>
              <a:rPr lang="zh-CN" altLang="en-US" sz="1400">
                <a:solidFill>
                  <a:srgbClr val="015F84"/>
                </a:solidFill>
                <a:ea typeface="PingFang SC Medium" panose="020B0400000000000000"/>
              </a:rPr>
              <a:t>及</a:t>
            </a:r>
            <a:r>
              <a:rPr lang="en-US" altLang="zh-CN" sz="1400">
                <a:solidFill>
                  <a:srgbClr val="015F84"/>
                </a:solidFill>
                <a:ea typeface="PingFang SC Medium" panose="020B0400000000000000"/>
              </a:rPr>
              <a:t>L1</a:t>
            </a:r>
            <a:r>
              <a:rPr lang="zh-CN" altLang="en-US" sz="1400">
                <a:solidFill>
                  <a:srgbClr val="015F84"/>
                </a:solidFill>
                <a:ea typeface="PingFang SC Medium" panose="020B0400000000000000"/>
              </a:rPr>
              <a:t>，和</a:t>
            </a:r>
            <a:r>
              <a:rPr lang="en-US" altLang="zh-CN" sz="1400">
                <a:solidFill>
                  <a:srgbClr val="015F84"/>
                </a:solidFill>
                <a:ea typeface="PingFang SC Medium" panose="020B0400000000000000"/>
              </a:rPr>
              <a:t>L2</a:t>
            </a:r>
            <a:r>
              <a:rPr lang="zh-CN" altLang="en-US" sz="1400">
                <a:solidFill>
                  <a:srgbClr val="015F84"/>
                </a:solidFill>
                <a:ea typeface="PingFang SC Medium" panose="020B0400000000000000"/>
              </a:rPr>
              <a:t>及</a:t>
            </a:r>
            <a:r>
              <a:rPr lang="en-US" altLang="zh-CN" sz="1400">
                <a:solidFill>
                  <a:srgbClr val="015F84"/>
                </a:solidFill>
                <a:ea typeface="PingFang SC Medium" panose="020B0400000000000000"/>
              </a:rPr>
              <a:t>L3</a:t>
            </a:r>
            <a:r>
              <a:rPr lang="zh-CN" altLang="en-US" sz="1400">
                <a:solidFill>
                  <a:srgbClr val="015F84"/>
                </a:solidFill>
                <a:ea typeface="PingFang SC Medium" panose="020B0400000000000000"/>
              </a:rPr>
              <a:t>），分别置于两个流水线分段（两个</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a:t>
            </a:r>
            <a:endParaRPr lang="en-US" altLang="zh-CN" sz="1400">
              <a:solidFill>
                <a:srgbClr val="015F84"/>
              </a:solidFill>
              <a:ea typeface="PingFang SC Medium" panose="020B0400000000000000"/>
            </a:endParaRPr>
          </a:p>
          <a:p>
            <a:pPr lvl="2"/>
            <a:r>
              <a:rPr lang="zh-CN" altLang="en-US" sz="1400">
                <a:solidFill>
                  <a:srgbClr val="015F84"/>
                </a:solidFill>
                <a:ea typeface="PingFang SC Medium" panose="020B0400000000000000"/>
              </a:rPr>
              <a:t>通信开销小，用于扩展训练至多机，但存在流水线气泡（</a:t>
            </a:r>
            <a:r>
              <a:rPr lang="en-US" altLang="zh-CN" sz="1400">
                <a:solidFill>
                  <a:srgbClr val="015F84"/>
                </a:solidFill>
                <a:ea typeface="PingFang SC Medium" panose="020B0400000000000000"/>
              </a:rPr>
              <a:t>GPU ALU</a:t>
            </a:r>
            <a:r>
              <a:rPr lang="zh-CN" altLang="en-US" sz="1400">
                <a:solidFill>
                  <a:srgbClr val="015F84"/>
                </a:solidFill>
                <a:ea typeface="PingFang SC Medium" panose="020B0400000000000000"/>
              </a:rPr>
              <a:t>算力利用率低）</a:t>
            </a:r>
            <a:endParaRPr lang="en-US" altLang="zh-CN" sz="1400">
              <a:solidFill>
                <a:srgbClr val="015F84"/>
              </a:solidFill>
              <a:ea typeface="PingFang SC Medium" panose="020B0400000000000000"/>
            </a:endParaRPr>
          </a:p>
          <a:p>
            <a:pPr lvl="1"/>
            <a:r>
              <a:rPr lang="zh-CN" altLang="en-US" sz="1400">
                <a:solidFill>
                  <a:srgbClr val="015F84"/>
                </a:solidFill>
                <a:ea typeface="PingFang SC Medium" panose="020B0400000000000000"/>
              </a:rPr>
              <a:t>张量模型并行</a:t>
            </a:r>
            <a:r>
              <a:rPr kumimoji="1" lang="zh-CN" altLang="en-US" sz="1400" b="0">
                <a:solidFill>
                  <a:srgbClr val="015F84"/>
                </a:solidFill>
                <a:latin typeface="+mj-ea"/>
                <a:ea typeface="PingFang SC Medium" panose="020B0400000000000000"/>
              </a:rPr>
              <a:t>（</a:t>
            </a:r>
            <a:r>
              <a:rPr kumimoji="1" lang="en-US" altLang="zh-CN" sz="1400" b="0">
                <a:solidFill>
                  <a:srgbClr val="015F84"/>
                </a:solidFill>
                <a:latin typeface="+mj-ea"/>
                <a:ea typeface="PingFang SC Medium" panose="020B0400000000000000"/>
              </a:rPr>
              <a:t> Tensor Parallel</a:t>
            </a:r>
            <a:r>
              <a:rPr kumimoji="1" lang="zh-CN" altLang="en-US" sz="1400" b="0">
                <a:solidFill>
                  <a:srgbClr val="015F84"/>
                </a:solidFill>
                <a:latin typeface="+mj-ea"/>
                <a:ea typeface="PingFang SC Medium" panose="020B0400000000000000"/>
              </a:rPr>
              <a:t>，或</a:t>
            </a:r>
            <a:r>
              <a:rPr kumimoji="1" lang="en-US" altLang="zh-CN" sz="1400" b="0">
                <a:solidFill>
                  <a:srgbClr val="015F84"/>
                </a:solidFill>
                <a:latin typeface="+mj-ea"/>
                <a:ea typeface="PingFang SC Medium" panose="020B0400000000000000"/>
              </a:rPr>
              <a:t>TP</a:t>
            </a:r>
            <a:r>
              <a:rPr kumimoji="1" lang="zh-CN" altLang="en-US" sz="1400" b="0">
                <a:solidFill>
                  <a:srgbClr val="015F84"/>
                </a:solidFill>
                <a:latin typeface="+mj-ea"/>
                <a:ea typeface="PingFang SC Medium" panose="020B0400000000000000"/>
              </a:rPr>
              <a:t>，适应每个神经网络层</a:t>
            </a:r>
            <a:r>
              <a:rPr kumimoji="1" lang="zh-CN" altLang="en-US" sz="1400">
                <a:solidFill>
                  <a:srgbClr val="015F84"/>
                </a:solidFill>
                <a:latin typeface="+mj-ea"/>
                <a:ea typeface="PingFang SC Medium" panose="020B0400000000000000"/>
              </a:rPr>
              <a:t>的运算符</a:t>
            </a:r>
            <a:r>
              <a:rPr kumimoji="1" lang="zh-CN" altLang="en-US" sz="1400" b="0">
                <a:solidFill>
                  <a:srgbClr val="015F84"/>
                </a:solidFill>
                <a:latin typeface="+mj-ea"/>
                <a:ea typeface="PingFang SC Medium" panose="020B0400000000000000"/>
              </a:rPr>
              <a:t>越来越多</a:t>
            </a:r>
            <a:r>
              <a:rPr lang="zh-CN" altLang="en-US" sz="1400">
                <a:solidFill>
                  <a:srgbClr val="015F84"/>
                </a:solidFill>
                <a:ea typeface="PingFang SC Medium" panose="020B0400000000000000"/>
              </a:rPr>
              <a:t>）</a:t>
            </a:r>
            <a:endParaRPr lang="en-US" altLang="zh-CN" sz="1400">
              <a:solidFill>
                <a:srgbClr val="015F84"/>
              </a:solidFill>
              <a:ea typeface="PingFang SC Medium" panose="020B0400000000000000"/>
            </a:endParaRPr>
          </a:p>
          <a:p>
            <a:pPr lvl="2"/>
            <a:r>
              <a:rPr lang="zh-CN" altLang="en-US" sz="1400">
                <a:solidFill>
                  <a:srgbClr val="015F84"/>
                </a:solidFill>
                <a:ea typeface="PingFang SC Medium" panose="020B0400000000000000"/>
              </a:rPr>
              <a:t>每一层（如</a:t>
            </a:r>
            <a:r>
              <a:rPr lang="en-US" altLang="zh-CN" sz="1400">
                <a:solidFill>
                  <a:srgbClr val="015F84"/>
                </a:solidFill>
                <a:ea typeface="PingFang SC Medium" panose="020B0400000000000000"/>
              </a:rPr>
              <a:t>L0</a:t>
            </a:r>
            <a:r>
              <a:rPr lang="zh-CN" altLang="en-US" sz="1400">
                <a:solidFill>
                  <a:srgbClr val="015F84"/>
                </a:solidFill>
                <a:ea typeface="PingFang SC Medium" panose="020B0400000000000000"/>
              </a:rPr>
              <a:t>的</a:t>
            </a:r>
            <a:r>
              <a:rPr lang="en-US" altLang="zh-CN" sz="1400">
                <a:solidFill>
                  <a:srgbClr val="015F84"/>
                </a:solidFill>
                <a:ea typeface="PingFang SC Medium" panose="020B0400000000000000"/>
              </a:rPr>
              <a:t>p0</a:t>
            </a:r>
            <a:r>
              <a:rPr lang="zh-CN" altLang="en-US" sz="1400">
                <a:solidFill>
                  <a:srgbClr val="015F84"/>
                </a:solidFill>
                <a:ea typeface="PingFang SC Medium" panose="020B0400000000000000"/>
              </a:rPr>
              <a:t>和</a:t>
            </a:r>
            <a:r>
              <a:rPr lang="en-US" altLang="zh-CN" sz="1400">
                <a:solidFill>
                  <a:srgbClr val="015F84"/>
                </a:solidFill>
                <a:ea typeface="PingFang SC Medium" panose="020B0400000000000000"/>
              </a:rPr>
              <a:t>p1</a:t>
            </a:r>
            <a:r>
              <a:rPr lang="zh-CN" altLang="en-US" sz="1400">
                <a:solidFill>
                  <a:srgbClr val="015F84"/>
                </a:solidFill>
                <a:ea typeface="PingFang SC Medium" panose="020B0400000000000000"/>
              </a:rPr>
              <a:t>），按横向切分到单机内不同</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，同步每层的输出，通信开销极大（只适用于单机内</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a:t>
            </a:r>
            <a:endParaRPr lang="en-US" altLang="zh-CN" sz="1400">
              <a:solidFill>
                <a:srgbClr val="015F84"/>
              </a:solidFill>
              <a:ea typeface="PingFang SC Medium" panose="020B0400000000000000"/>
            </a:endParaRPr>
          </a:p>
          <a:p>
            <a:pPr lvl="1"/>
            <a:r>
              <a:rPr lang="zh-CN" altLang="en-US" sz="1400">
                <a:solidFill>
                  <a:srgbClr val="015F84"/>
                </a:solidFill>
                <a:ea typeface="PingFang SC Medium" panose="020B0400000000000000"/>
              </a:rPr>
              <a:t>数据并行</a:t>
            </a:r>
            <a:r>
              <a:rPr kumimoji="1" lang="zh-CN" altLang="en-US" sz="1400" b="0">
                <a:solidFill>
                  <a:srgbClr val="015F84"/>
                </a:solidFill>
                <a:latin typeface="+mj-ea"/>
                <a:ea typeface="PingFang SC Medium" panose="020B0400000000000000"/>
              </a:rPr>
              <a:t>（</a:t>
            </a:r>
            <a:r>
              <a:rPr kumimoji="1" lang="en-US" altLang="zh-CN" sz="1400" b="0">
                <a:solidFill>
                  <a:srgbClr val="015F84"/>
                </a:solidFill>
                <a:latin typeface="+mj-ea"/>
                <a:ea typeface="PingFang SC Medium" panose="020B0400000000000000"/>
              </a:rPr>
              <a:t> Data Parallel</a:t>
            </a:r>
            <a:r>
              <a:rPr kumimoji="1" lang="zh-CN" altLang="en-US" sz="1400" b="0">
                <a:solidFill>
                  <a:srgbClr val="015F84"/>
                </a:solidFill>
                <a:latin typeface="+mj-ea"/>
                <a:ea typeface="PingFang SC Medium" panose="020B0400000000000000"/>
              </a:rPr>
              <a:t>，或</a:t>
            </a:r>
            <a:r>
              <a:rPr kumimoji="1" lang="en-US" altLang="zh-CN" sz="1400">
                <a:solidFill>
                  <a:srgbClr val="015F84"/>
                </a:solidFill>
                <a:latin typeface="+mj-ea"/>
                <a:ea typeface="PingFang SC Medium" panose="020B0400000000000000"/>
              </a:rPr>
              <a:t>D</a:t>
            </a:r>
            <a:r>
              <a:rPr kumimoji="1" lang="en-US" altLang="zh-CN" sz="1400" b="0">
                <a:solidFill>
                  <a:srgbClr val="015F84"/>
                </a:solidFill>
                <a:latin typeface="+mj-ea"/>
                <a:ea typeface="PingFang SC Medium" panose="020B0400000000000000"/>
              </a:rPr>
              <a:t>P</a:t>
            </a:r>
            <a:r>
              <a:rPr kumimoji="1" lang="zh-CN" altLang="en-US" sz="1400" b="0">
                <a:solidFill>
                  <a:srgbClr val="015F84"/>
                </a:solidFill>
                <a:latin typeface="+mj-ea"/>
                <a:ea typeface="PingFang SC Medium" panose="020B0400000000000000"/>
              </a:rPr>
              <a:t>，适应每个训练数据集越来越大）</a:t>
            </a:r>
            <a:endParaRPr kumimoji="1" lang="en-US" altLang="zh-CN" sz="1400" b="0">
              <a:solidFill>
                <a:srgbClr val="015F84"/>
              </a:solidFill>
              <a:latin typeface="+mj-ea"/>
              <a:ea typeface="PingFang SC Medium" panose="020B0400000000000000"/>
            </a:endParaRPr>
          </a:p>
          <a:p>
            <a:pPr lvl="2"/>
            <a:r>
              <a:rPr lang="zh-CN" altLang="en-US" sz="1400">
                <a:solidFill>
                  <a:srgbClr val="015F84"/>
                </a:solidFill>
                <a:ea typeface="PingFang SC Medium" panose="020B0400000000000000"/>
              </a:rPr>
              <a:t>将每层的子集（如</a:t>
            </a:r>
            <a:r>
              <a:rPr lang="en-US" altLang="zh-CN" sz="1400">
                <a:solidFill>
                  <a:srgbClr val="015F84"/>
                </a:solidFill>
                <a:ea typeface="PingFang SC Medium" panose="020B0400000000000000"/>
              </a:rPr>
              <a:t>L0</a:t>
            </a:r>
            <a:r>
              <a:rPr lang="zh-CN" altLang="en-US" sz="1400">
                <a:solidFill>
                  <a:srgbClr val="015F84"/>
                </a:solidFill>
                <a:ea typeface="PingFang SC Medium" panose="020B0400000000000000"/>
              </a:rPr>
              <a:t>的</a:t>
            </a:r>
            <a:r>
              <a:rPr lang="en-US" altLang="zh-CN" sz="1400">
                <a:solidFill>
                  <a:srgbClr val="015F84"/>
                </a:solidFill>
                <a:ea typeface="PingFang SC Medium" panose="020B0400000000000000"/>
              </a:rPr>
              <a:t>p0</a:t>
            </a:r>
            <a:r>
              <a:rPr lang="zh-CN" altLang="en-US" sz="1400">
                <a:solidFill>
                  <a:srgbClr val="015F84"/>
                </a:solidFill>
                <a:ea typeface="PingFang SC Medium" panose="020B0400000000000000"/>
              </a:rPr>
              <a:t>），按横向备份至不同机的</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；使不同的</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内的同一备份，处理训练数据集的不同子集</a:t>
            </a:r>
            <a:endParaRPr lang="en-US" altLang="zh-CN" sz="1400">
              <a:solidFill>
                <a:srgbClr val="015F84"/>
              </a:solidFill>
              <a:ea typeface="PingFang SC Medium" panose="020B0400000000000000"/>
            </a:endParaRPr>
          </a:p>
          <a:p>
            <a:pPr lvl="2"/>
            <a:r>
              <a:rPr lang="zh-CN" altLang="en-US" sz="1400">
                <a:solidFill>
                  <a:srgbClr val="015F84"/>
                </a:solidFill>
                <a:ea typeface="PingFang SC Medium" panose="020B0400000000000000"/>
              </a:rPr>
              <a:t>每</a:t>
            </a:r>
            <a:r>
              <a:rPr lang="en-US" altLang="zh-CN" sz="1400">
                <a:solidFill>
                  <a:srgbClr val="015F84"/>
                </a:solidFill>
                <a:ea typeface="PingFang SC Medium" panose="020B0400000000000000"/>
              </a:rPr>
              <a:t>GPU</a:t>
            </a:r>
            <a:r>
              <a:rPr lang="zh-CN" altLang="en-US" sz="1400">
                <a:solidFill>
                  <a:srgbClr val="015F84"/>
                </a:solidFill>
                <a:ea typeface="PingFang SC Medium" panose="020B0400000000000000"/>
              </a:rPr>
              <a:t>同时注入多个数据点（如</a:t>
            </a:r>
            <a:r>
              <a:rPr lang="en-US" altLang="zh-CN" sz="1400">
                <a:solidFill>
                  <a:srgbClr val="015F84"/>
                </a:solidFill>
                <a:ea typeface="PingFang SC Medium" panose="020B0400000000000000"/>
              </a:rPr>
              <a:t>512</a:t>
            </a:r>
            <a:r>
              <a:rPr lang="zh-CN" altLang="en-US" sz="1400">
                <a:solidFill>
                  <a:srgbClr val="015F84"/>
                </a:solidFill>
                <a:ea typeface="PingFang SC Medium" panose="020B0400000000000000"/>
              </a:rPr>
              <a:t>），然后利用网络通信，同步全局批计算后的梯度，可扩展训练至多机的</a:t>
            </a:r>
            <a:r>
              <a:rPr lang="en-US" altLang="zh-CN" sz="1400">
                <a:solidFill>
                  <a:srgbClr val="015F84"/>
                </a:solidFill>
                <a:ea typeface="PingFang SC Medium" panose="020B0400000000000000"/>
              </a:rPr>
              <a:t>GPU</a:t>
            </a:r>
          </a:p>
          <a:p>
            <a:pPr lvl="1"/>
            <a:r>
              <a:rPr lang="zh-CN" altLang="en-US" sz="1400" b="1">
                <a:solidFill>
                  <a:srgbClr val="015F84"/>
                </a:solidFill>
                <a:ea typeface="PingFang SC Medium" panose="020B0400000000000000"/>
              </a:rPr>
              <a:t>三维并行将大模型训练高效扩展至几百（</a:t>
            </a:r>
            <a:r>
              <a:rPr lang="en-US" altLang="zh-CN" sz="1400" b="1">
                <a:solidFill>
                  <a:srgbClr val="015F84"/>
                </a:solidFill>
                <a:ea typeface="PingFang SC Medium" panose="020B0400000000000000"/>
              </a:rPr>
              <a:t>8*8*8</a:t>
            </a:r>
            <a:r>
              <a:rPr lang="zh-CN" altLang="en-US" sz="1400" b="1">
                <a:solidFill>
                  <a:srgbClr val="015F84"/>
                </a:solidFill>
                <a:ea typeface="PingFang SC Medium" panose="020B0400000000000000"/>
              </a:rPr>
              <a:t>）、上千</a:t>
            </a:r>
            <a:r>
              <a:rPr lang="en-US" altLang="zh-CN" sz="1400" b="1">
                <a:solidFill>
                  <a:srgbClr val="015F84"/>
                </a:solidFill>
                <a:ea typeface="PingFang SC Medium" panose="020B0400000000000000"/>
              </a:rPr>
              <a:t>GPU</a:t>
            </a:r>
            <a:r>
              <a:rPr lang="zh-CN" altLang="en-US" sz="1400" b="1">
                <a:solidFill>
                  <a:srgbClr val="015F84"/>
                </a:solidFill>
                <a:ea typeface="PingFang SC Medium" panose="020B0400000000000000"/>
              </a:rPr>
              <a:t>，使超大参数大模型，可容纳至这些</a:t>
            </a:r>
            <a:r>
              <a:rPr lang="en-US" altLang="zh-CN" sz="1400" b="1">
                <a:solidFill>
                  <a:srgbClr val="015F84"/>
                </a:solidFill>
                <a:ea typeface="PingFang SC Medium" panose="020B0400000000000000"/>
              </a:rPr>
              <a:t>GPU</a:t>
            </a:r>
            <a:r>
              <a:rPr lang="zh-CN" altLang="en-US" sz="1400" b="1">
                <a:solidFill>
                  <a:srgbClr val="015F84"/>
                </a:solidFill>
                <a:ea typeface="PingFang SC Medium" panose="020B0400000000000000"/>
              </a:rPr>
              <a:t>的内存和处理单元</a:t>
            </a:r>
          </a:p>
        </p:txBody>
      </p:sp>
      <p:sp>
        <p:nvSpPr>
          <p:cNvPr id="4" name="圆角矩形 3">
            <a:extLst>
              <a:ext uri="{FF2B5EF4-FFF2-40B4-BE49-F238E27FC236}">
                <a16:creationId xmlns:a16="http://schemas.microsoft.com/office/drawing/2014/main" id="{3BBF42E6-9198-4C4E-B8B2-A9915DCDD861}"/>
              </a:ext>
            </a:extLst>
          </p:cNvPr>
          <p:cNvSpPr/>
          <p:nvPr/>
        </p:nvSpPr>
        <p:spPr>
          <a:xfrm>
            <a:off x="2472249" y="4666521"/>
            <a:ext cx="2242765" cy="1895865"/>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5" name="文本框 4">
            <a:extLst>
              <a:ext uri="{FF2B5EF4-FFF2-40B4-BE49-F238E27FC236}">
                <a16:creationId xmlns:a16="http://schemas.microsoft.com/office/drawing/2014/main" id="{B0932F09-CDF7-4CA4-B03A-35EC303F27AF}"/>
              </a:ext>
            </a:extLst>
          </p:cNvPr>
          <p:cNvSpPr txBox="1"/>
          <p:nvPr/>
        </p:nvSpPr>
        <p:spPr>
          <a:xfrm>
            <a:off x="3218778" y="6566652"/>
            <a:ext cx="715052"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Stage 0</a:t>
            </a:r>
            <a:endParaRPr lang="zh-CN" altLang="en-US" sz="1200"/>
          </a:p>
        </p:txBody>
      </p:sp>
      <p:sp>
        <p:nvSpPr>
          <p:cNvPr id="6" name="八边形 5">
            <a:extLst>
              <a:ext uri="{FF2B5EF4-FFF2-40B4-BE49-F238E27FC236}">
                <a16:creationId xmlns:a16="http://schemas.microsoft.com/office/drawing/2014/main" id="{88161FA2-FEA0-42FD-9294-B7E1154BCA1A}"/>
              </a:ext>
            </a:extLst>
          </p:cNvPr>
          <p:cNvSpPr/>
          <p:nvPr/>
        </p:nvSpPr>
        <p:spPr>
          <a:xfrm>
            <a:off x="2634281" y="4821197"/>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7" name="文本框 21">
            <a:extLst>
              <a:ext uri="{FF2B5EF4-FFF2-40B4-BE49-F238E27FC236}">
                <a16:creationId xmlns:a16="http://schemas.microsoft.com/office/drawing/2014/main" id="{43A97F56-C05B-44E4-8D73-2AF767F306FF}"/>
              </a:ext>
            </a:extLst>
          </p:cNvPr>
          <p:cNvSpPr txBox="1"/>
          <p:nvPr/>
        </p:nvSpPr>
        <p:spPr>
          <a:xfrm>
            <a:off x="7162749" y="5285485"/>
            <a:ext cx="741054" cy="369332"/>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pPr algn="ctr"/>
            <a:r>
              <a:rPr lang="en-US" altLang="zh-CN"/>
              <a:t>…</a:t>
            </a:r>
            <a:endParaRPr lang="zh-CN" altLang="en-US"/>
          </a:p>
        </p:txBody>
      </p:sp>
      <p:sp>
        <p:nvSpPr>
          <p:cNvPr id="8" name="文本框 40">
            <a:extLst>
              <a:ext uri="{FF2B5EF4-FFF2-40B4-BE49-F238E27FC236}">
                <a16:creationId xmlns:a16="http://schemas.microsoft.com/office/drawing/2014/main" id="{BE2EAAF4-722E-45FA-BE88-35A824F17FF6}"/>
              </a:ext>
            </a:extLst>
          </p:cNvPr>
          <p:cNvSpPr txBox="1"/>
          <p:nvPr/>
        </p:nvSpPr>
        <p:spPr>
          <a:xfrm>
            <a:off x="1471875" y="5383296"/>
            <a:ext cx="257369" cy="468000"/>
          </a:xfrm>
          <a:prstGeom prst="rect">
            <a:avLst/>
          </a:prstGeom>
          <a:noFill/>
          <a:ln w="12700">
            <a:solidFill>
              <a:schemeClr val="tx1"/>
            </a:solidFill>
          </a:ln>
        </p:spPr>
        <p:txBody>
          <a:bodyPr vert="vert270" wrap="square" lIns="36000" tIns="36000" rIns="36000" bIns="36000"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pPr algn="ctr"/>
            <a:r>
              <a:rPr lang="en-US" altLang="zh-CN" sz="1200"/>
              <a:t>1024</a:t>
            </a:r>
            <a:endParaRPr lang="zh-CN" altLang="en-US" sz="1200"/>
          </a:p>
        </p:txBody>
      </p:sp>
      <p:sp>
        <p:nvSpPr>
          <p:cNvPr id="9" name="文本框 41">
            <a:extLst>
              <a:ext uri="{FF2B5EF4-FFF2-40B4-BE49-F238E27FC236}">
                <a16:creationId xmlns:a16="http://schemas.microsoft.com/office/drawing/2014/main" id="{54BA113C-AEA6-4816-A37C-72EF5949B5EA}"/>
              </a:ext>
            </a:extLst>
          </p:cNvPr>
          <p:cNvSpPr txBox="1"/>
          <p:nvPr/>
        </p:nvSpPr>
        <p:spPr>
          <a:xfrm>
            <a:off x="2059931" y="5851296"/>
            <a:ext cx="257369" cy="360000"/>
          </a:xfrm>
          <a:prstGeom prst="rect">
            <a:avLst/>
          </a:prstGeom>
          <a:noFill/>
          <a:ln w="12700">
            <a:solidFill>
              <a:schemeClr val="tx1"/>
            </a:solidFill>
          </a:ln>
        </p:spPr>
        <p:txBody>
          <a:bodyPr vert="vert270" wrap="square" lIns="36000" tIns="36000" rIns="36000" bIns="36000"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pPr algn="ctr"/>
            <a:r>
              <a:rPr lang="en-US" altLang="zh-CN" sz="1200"/>
              <a:t>512</a:t>
            </a:r>
            <a:endParaRPr lang="zh-CN" altLang="en-US" sz="1200"/>
          </a:p>
        </p:txBody>
      </p:sp>
      <p:sp>
        <p:nvSpPr>
          <p:cNvPr id="10" name="文本框 42">
            <a:extLst>
              <a:ext uri="{FF2B5EF4-FFF2-40B4-BE49-F238E27FC236}">
                <a16:creationId xmlns:a16="http://schemas.microsoft.com/office/drawing/2014/main" id="{7E71D871-0C73-441B-A88B-7541B371BDD9}"/>
              </a:ext>
            </a:extLst>
          </p:cNvPr>
          <p:cNvSpPr txBox="1"/>
          <p:nvPr/>
        </p:nvSpPr>
        <p:spPr>
          <a:xfrm>
            <a:off x="2058357" y="4974765"/>
            <a:ext cx="257369" cy="360000"/>
          </a:xfrm>
          <a:prstGeom prst="rect">
            <a:avLst/>
          </a:prstGeom>
          <a:noFill/>
          <a:ln w="12700">
            <a:solidFill>
              <a:schemeClr val="tx1"/>
            </a:solidFill>
          </a:ln>
        </p:spPr>
        <p:txBody>
          <a:bodyPr vert="vert270" wrap="square" lIns="36000" tIns="36000" rIns="36000" bIns="36000"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pPr algn="ctr"/>
            <a:r>
              <a:rPr lang="en-US" altLang="zh-CN" sz="1200"/>
              <a:t>512</a:t>
            </a:r>
            <a:endParaRPr lang="zh-CN" altLang="en-US" sz="1200"/>
          </a:p>
        </p:txBody>
      </p:sp>
      <p:sp>
        <p:nvSpPr>
          <p:cNvPr id="11" name="文本框 49">
            <a:extLst>
              <a:ext uri="{FF2B5EF4-FFF2-40B4-BE49-F238E27FC236}">
                <a16:creationId xmlns:a16="http://schemas.microsoft.com/office/drawing/2014/main" id="{A343BF5B-11DF-466F-A9B5-D07E4F085C6E}"/>
              </a:ext>
            </a:extLst>
          </p:cNvPr>
          <p:cNvSpPr txBox="1"/>
          <p:nvPr/>
        </p:nvSpPr>
        <p:spPr>
          <a:xfrm>
            <a:off x="8754856" y="4846988"/>
            <a:ext cx="1515130" cy="307777"/>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zh-CN" altLang="en-US" sz="1400">
                <a:latin typeface="PingFang"/>
              </a:rPr>
              <a:t>流水线并行通信</a:t>
            </a:r>
          </a:p>
        </p:txBody>
      </p:sp>
      <p:sp>
        <p:nvSpPr>
          <p:cNvPr id="12" name="文本框 50">
            <a:extLst>
              <a:ext uri="{FF2B5EF4-FFF2-40B4-BE49-F238E27FC236}">
                <a16:creationId xmlns:a16="http://schemas.microsoft.com/office/drawing/2014/main" id="{39641341-DBAB-4F58-8D5B-E25386A65CB5}"/>
              </a:ext>
            </a:extLst>
          </p:cNvPr>
          <p:cNvSpPr txBox="1"/>
          <p:nvPr/>
        </p:nvSpPr>
        <p:spPr>
          <a:xfrm>
            <a:off x="8756752" y="5242853"/>
            <a:ext cx="1513306" cy="307777"/>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zh-CN" altLang="en-US" sz="1400">
                <a:latin typeface="PingFang"/>
              </a:rPr>
              <a:t>数据并行通信</a:t>
            </a:r>
          </a:p>
        </p:txBody>
      </p:sp>
      <p:cxnSp>
        <p:nvCxnSpPr>
          <p:cNvPr id="13" name="直接箭头连接符 12">
            <a:extLst>
              <a:ext uri="{FF2B5EF4-FFF2-40B4-BE49-F238E27FC236}">
                <a16:creationId xmlns:a16="http://schemas.microsoft.com/office/drawing/2014/main" id="{A1648210-87B0-4B89-A6CA-52C3F19F934C}"/>
              </a:ext>
            </a:extLst>
          </p:cNvPr>
          <p:cNvCxnSpPr>
            <a:cxnSpLocks/>
          </p:cNvCxnSpPr>
          <p:nvPr/>
        </p:nvCxnSpPr>
        <p:spPr>
          <a:xfrm flipV="1">
            <a:off x="8301098" y="5000877"/>
            <a:ext cx="360000" cy="1006"/>
          </a:xfrm>
          <a:prstGeom prst="straightConnector1">
            <a:avLst/>
          </a:prstGeom>
          <a:ln w="12700">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CE94CD9-1AC1-42EE-A465-DE86D5054E82}"/>
              </a:ext>
            </a:extLst>
          </p:cNvPr>
          <p:cNvCxnSpPr>
            <a:cxnSpLocks/>
          </p:cNvCxnSpPr>
          <p:nvPr/>
        </p:nvCxnSpPr>
        <p:spPr>
          <a:xfrm flipV="1">
            <a:off x="8311780" y="5377877"/>
            <a:ext cx="360000" cy="3"/>
          </a:xfrm>
          <a:prstGeom prst="straightConnector1">
            <a:avLst/>
          </a:prstGeom>
          <a:ln w="1270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30977EB-BD38-4BCD-A2F8-EF558B99A4B9}"/>
              </a:ext>
            </a:extLst>
          </p:cNvPr>
          <p:cNvCxnSpPr>
            <a:cxnSpLocks/>
          </p:cNvCxnSpPr>
          <p:nvPr/>
        </p:nvCxnSpPr>
        <p:spPr>
          <a:xfrm flipV="1">
            <a:off x="4645006" y="5542740"/>
            <a:ext cx="360000" cy="1006"/>
          </a:xfrm>
          <a:prstGeom prst="straightConnector1">
            <a:avLst/>
          </a:prstGeom>
          <a:ln w="12700">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7B39F69-236C-4CB3-90EB-45A9166E737E}"/>
              </a:ext>
            </a:extLst>
          </p:cNvPr>
          <p:cNvCxnSpPr>
            <a:cxnSpLocks/>
          </p:cNvCxnSpPr>
          <p:nvPr/>
        </p:nvCxnSpPr>
        <p:spPr>
          <a:xfrm flipH="1" flipV="1">
            <a:off x="4625956" y="5687520"/>
            <a:ext cx="360000" cy="1006"/>
          </a:xfrm>
          <a:prstGeom prst="straightConnector1">
            <a:avLst/>
          </a:prstGeom>
          <a:ln w="12700">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80">
            <a:extLst>
              <a:ext uri="{FF2B5EF4-FFF2-40B4-BE49-F238E27FC236}">
                <a16:creationId xmlns:a16="http://schemas.microsoft.com/office/drawing/2014/main" id="{E341F311-39EB-4175-AA7C-B057CC9864B5}"/>
              </a:ext>
            </a:extLst>
          </p:cNvPr>
          <p:cNvSpPr txBox="1"/>
          <p:nvPr/>
        </p:nvSpPr>
        <p:spPr>
          <a:xfrm>
            <a:off x="8770403" y="5642005"/>
            <a:ext cx="1513306" cy="307777"/>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zh-CN" altLang="en-US" sz="1400">
                <a:latin typeface="PingFang"/>
              </a:rPr>
              <a:t>张量并行通信</a:t>
            </a:r>
          </a:p>
        </p:txBody>
      </p:sp>
      <p:sp>
        <p:nvSpPr>
          <p:cNvPr id="18" name="矩形 17">
            <a:extLst>
              <a:ext uri="{FF2B5EF4-FFF2-40B4-BE49-F238E27FC236}">
                <a16:creationId xmlns:a16="http://schemas.microsoft.com/office/drawing/2014/main" id="{09DC4F4E-CF9D-4009-8B6C-531E7AD6E73B}"/>
              </a:ext>
            </a:extLst>
          </p:cNvPr>
          <p:cNvSpPr/>
          <p:nvPr/>
        </p:nvSpPr>
        <p:spPr>
          <a:xfrm>
            <a:off x="2725113" y="487519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L0.p0</a:t>
            </a:r>
            <a:endParaRPr lang="zh-CN" altLang="en-US" sz="1200">
              <a:solidFill>
                <a:schemeClr val="tx1"/>
              </a:solidFill>
            </a:endParaRPr>
          </a:p>
        </p:txBody>
      </p:sp>
      <p:sp>
        <p:nvSpPr>
          <p:cNvPr id="19" name="矩形 18">
            <a:extLst>
              <a:ext uri="{FF2B5EF4-FFF2-40B4-BE49-F238E27FC236}">
                <a16:creationId xmlns:a16="http://schemas.microsoft.com/office/drawing/2014/main" id="{8905FF0A-87AD-4A06-8B96-32D1C04479EE}"/>
              </a:ext>
            </a:extLst>
          </p:cNvPr>
          <p:cNvSpPr/>
          <p:nvPr/>
        </p:nvSpPr>
        <p:spPr>
          <a:xfrm>
            <a:off x="3326955" y="487519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L1.p0</a:t>
            </a:r>
            <a:endParaRPr lang="zh-CN" altLang="en-US" sz="1200">
              <a:solidFill>
                <a:schemeClr val="tx1"/>
              </a:solidFill>
            </a:endParaRPr>
          </a:p>
        </p:txBody>
      </p:sp>
      <p:sp>
        <p:nvSpPr>
          <p:cNvPr id="20" name="矩形 19">
            <a:extLst>
              <a:ext uri="{FF2B5EF4-FFF2-40B4-BE49-F238E27FC236}">
                <a16:creationId xmlns:a16="http://schemas.microsoft.com/office/drawing/2014/main" id="{A3886D67-BB95-4611-AE46-1AC8A22B8BE4}"/>
              </a:ext>
            </a:extLst>
          </p:cNvPr>
          <p:cNvSpPr/>
          <p:nvPr/>
        </p:nvSpPr>
        <p:spPr>
          <a:xfrm>
            <a:off x="3344874" y="4230328"/>
            <a:ext cx="540000"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L0</a:t>
            </a:r>
            <a:endParaRPr lang="zh-CN" altLang="en-US" sz="1200">
              <a:solidFill>
                <a:schemeClr val="tx1"/>
              </a:solidFill>
            </a:endParaRPr>
          </a:p>
        </p:txBody>
      </p:sp>
      <p:sp>
        <p:nvSpPr>
          <p:cNvPr id="21" name="矩形 20">
            <a:extLst>
              <a:ext uri="{FF2B5EF4-FFF2-40B4-BE49-F238E27FC236}">
                <a16:creationId xmlns:a16="http://schemas.microsoft.com/office/drawing/2014/main" id="{BDE6FD1F-F724-49DE-BBA8-536C6CA0D248}"/>
              </a:ext>
            </a:extLst>
          </p:cNvPr>
          <p:cNvSpPr/>
          <p:nvPr/>
        </p:nvSpPr>
        <p:spPr>
          <a:xfrm>
            <a:off x="4117203" y="4227614"/>
            <a:ext cx="540000"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L1</a:t>
            </a:r>
            <a:endParaRPr lang="zh-CN" altLang="en-US" sz="1200">
              <a:solidFill>
                <a:schemeClr val="tx1"/>
              </a:solidFill>
            </a:endParaRPr>
          </a:p>
        </p:txBody>
      </p:sp>
      <p:sp>
        <p:nvSpPr>
          <p:cNvPr id="22" name="八边形 21">
            <a:extLst>
              <a:ext uri="{FF2B5EF4-FFF2-40B4-BE49-F238E27FC236}">
                <a16:creationId xmlns:a16="http://schemas.microsoft.com/office/drawing/2014/main" id="{B76246A6-5956-44A0-B796-B71F61F3C087}"/>
              </a:ext>
            </a:extLst>
          </p:cNvPr>
          <p:cNvSpPr/>
          <p:nvPr/>
        </p:nvSpPr>
        <p:spPr>
          <a:xfrm>
            <a:off x="2634281" y="5210322"/>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23" name="矩形 22">
            <a:extLst>
              <a:ext uri="{FF2B5EF4-FFF2-40B4-BE49-F238E27FC236}">
                <a16:creationId xmlns:a16="http://schemas.microsoft.com/office/drawing/2014/main" id="{31E0FC07-884C-45DF-AFBF-0A2EDB4CCC58}"/>
              </a:ext>
            </a:extLst>
          </p:cNvPr>
          <p:cNvSpPr/>
          <p:nvPr/>
        </p:nvSpPr>
        <p:spPr>
          <a:xfrm>
            <a:off x="2725113" y="526432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L0.p1</a:t>
            </a:r>
            <a:endParaRPr lang="zh-CN" altLang="en-US" sz="1200">
              <a:solidFill>
                <a:schemeClr val="tx1"/>
              </a:solidFill>
            </a:endParaRPr>
          </a:p>
        </p:txBody>
      </p:sp>
      <p:sp>
        <p:nvSpPr>
          <p:cNvPr id="24" name="矩形 23">
            <a:extLst>
              <a:ext uri="{FF2B5EF4-FFF2-40B4-BE49-F238E27FC236}">
                <a16:creationId xmlns:a16="http://schemas.microsoft.com/office/drawing/2014/main" id="{804AED56-AF70-476E-AF02-CD2AB2F3EB80}"/>
              </a:ext>
            </a:extLst>
          </p:cNvPr>
          <p:cNvSpPr/>
          <p:nvPr/>
        </p:nvSpPr>
        <p:spPr>
          <a:xfrm>
            <a:off x="3326955" y="526432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L1.p1</a:t>
            </a:r>
            <a:endParaRPr lang="zh-CN" altLang="en-US" sz="1200">
              <a:solidFill>
                <a:schemeClr val="tx1"/>
              </a:solidFill>
            </a:endParaRPr>
          </a:p>
        </p:txBody>
      </p:sp>
      <p:sp>
        <p:nvSpPr>
          <p:cNvPr id="25" name="圆角矩形 3">
            <a:extLst>
              <a:ext uri="{FF2B5EF4-FFF2-40B4-BE49-F238E27FC236}">
                <a16:creationId xmlns:a16="http://schemas.microsoft.com/office/drawing/2014/main" id="{65A1778D-0A25-4999-9CED-A72649E4747C}"/>
              </a:ext>
            </a:extLst>
          </p:cNvPr>
          <p:cNvSpPr/>
          <p:nvPr/>
        </p:nvSpPr>
        <p:spPr>
          <a:xfrm>
            <a:off x="2593829" y="4752039"/>
            <a:ext cx="1964950" cy="826921"/>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26" name="文本框 93">
            <a:extLst>
              <a:ext uri="{FF2B5EF4-FFF2-40B4-BE49-F238E27FC236}">
                <a16:creationId xmlns:a16="http://schemas.microsoft.com/office/drawing/2014/main" id="{F2C9BA49-A91E-4792-94CC-69D279C2D14D}"/>
              </a:ext>
            </a:extLst>
          </p:cNvPr>
          <p:cNvSpPr txBox="1"/>
          <p:nvPr/>
        </p:nvSpPr>
        <p:spPr>
          <a:xfrm>
            <a:off x="4053926" y="5008533"/>
            <a:ext cx="598117"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DP 0</a:t>
            </a:r>
            <a:endParaRPr lang="zh-CN" altLang="en-US" sz="1200"/>
          </a:p>
        </p:txBody>
      </p:sp>
      <p:sp>
        <p:nvSpPr>
          <p:cNvPr id="27" name="八边形 26">
            <a:extLst>
              <a:ext uri="{FF2B5EF4-FFF2-40B4-BE49-F238E27FC236}">
                <a16:creationId xmlns:a16="http://schemas.microsoft.com/office/drawing/2014/main" id="{23253D62-6C01-424D-ACFF-C6E5ADB5AC5D}"/>
              </a:ext>
            </a:extLst>
          </p:cNvPr>
          <p:cNvSpPr/>
          <p:nvPr/>
        </p:nvSpPr>
        <p:spPr>
          <a:xfrm>
            <a:off x="2646844" y="5715782"/>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28" name="矩形 27">
            <a:extLst>
              <a:ext uri="{FF2B5EF4-FFF2-40B4-BE49-F238E27FC236}">
                <a16:creationId xmlns:a16="http://schemas.microsoft.com/office/drawing/2014/main" id="{4C82150E-0C18-4464-8AC9-1B4EE519A32E}"/>
              </a:ext>
            </a:extLst>
          </p:cNvPr>
          <p:cNvSpPr/>
          <p:nvPr/>
        </p:nvSpPr>
        <p:spPr>
          <a:xfrm>
            <a:off x="2737676" y="576978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L0.p0</a:t>
            </a:r>
            <a:endParaRPr lang="zh-CN" altLang="en-US" sz="1200">
              <a:solidFill>
                <a:schemeClr val="tx1"/>
              </a:solidFill>
            </a:endParaRPr>
          </a:p>
        </p:txBody>
      </p:sp>
      <p:sp>
        <p:nvSpPr>
          <p:cNvPr id="29" name="矩形 28">
            <a:extLst>
              <a:ext uri="{FF2B5EF4-FFF2-40B4-BE49-F238E27FC236}">
                <a16:creationId xmlns:a16="http://schemas.microsoft.com/office/drawing/2014/main" id="{10F8557B-9774-46C7-AD2D-3ECE4E9C4976}"/>
              </a:ext>
            </a:extLst>
          </p:cNvPr>
          <p:cNvSpPr/>
          <p:nvPr/>
        </p:nvSpPr>
        <p:spPr>
          <a:xfrm>
            <a:off x="3339518" y="576978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L1.p0</a:t>
            </a:r>
            <a:endParaRPr lang="zh-CN" altLang="en-US" sz="1200">
              <a:solidFill>
                <a:schemeClr val="tx1"/>
              </a:solidFill>
            </a:endParaRPr>
          </a:p>
        </p:txBody>
      </p:sp>
      <p:sp>
        <p:nvSpPr>
          <p:cNvPr id="30" name="八边形 29">
            <a:extLst>
              <a:ext uri="{FF2B5EF4-FFF2-40B4-BE49-F238E27FC236}">
                <a16:creationId xmlns:a16="http://schemas.microsoft.com/office/drawing/2014/main" id="{49F10EFB-40B3-4EB6-BD65-7FC69EBB8900}"/>
              </a:ext>
            </a:extLst>
          </p:cNvPr>
          <p:cNvSpPr/>
          <p:nvPr/>
        </p:nvSpPr>
        <p:spPr>
          <a:xfrm>
            <a:off x="2646844" y="6104907"/>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31" name="矩形 30">
            <a:extLst>
              <a:ext uri="{FF2B5EF4-FFF2-40B4-BE49-F238E27FC236}">
                <a16:creationId xmlns:a16="http://schemas.microsoft.com/office/drawing/2014/main" id="{C824980C-3EE1-42D9-9AA3-16CE75A86973}"/>
              </a:ext>
            </a:extLst>
          </p:cNvPr>
          <p:cNvSpPr/>
          <p:nvPr/>
        </p:nvSpPr>
        <p:spPr>
          <a:xfrm>
            <a:off x="2737676" y="615890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L0.p1</a:t>
            </a:r>
            <a:endParaRPr lang="zh-CN" altLang="en-US" sz="1200">
              <a:solidFill>
                <a:schemeClr val="tx1"/>
              </a:solidFill>
            </a:endParaRPr>
          </a:p>
        </p:txBody>
      </p:sp>
      <p:sp>
        <p:nvSpPr>
          <p:cNvPr id="32" name="矩形 31">
            <a:extLst>
              <a:ext uri="{FF2B5EF4-FFF2-40B4-BE49-F238E27FC236}">
                <a16:creationId xmlns:a16="http://schemas.microsoft.com/office/drawing/2014/main" id="{27888022-E4C8-4FCB-9B1A-FDD60B438B0E}"/>
              </a:ext>
            </a:extLst>
          </p:cNvPr>
          <p:cNvSpPr/>
          <p:nvPr/>
        </p:nvSpPr>
        <p:spPr>
          <a:xfrm>
            <a:off x="3339518" y="615890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L1.p1</a:t>
            </a:r>
            <a:endParaRPr lang="zh-CN" altLang="en-US" sz="1200">
              <a:solidFill>
                <a:schemeClr val="tx1"/>
              </a:solidFill>
            </a:endParaRPr>
          </a:p>
        </p:txBody>
      </p:sp>
      <p:sp>
        <p:nvSpPr>
          <p:cNvPr id="33" name="圆角矩形 3">
            <a:extLst>
              <a:ext uri="{FF2B5EF4-FFF2-40B4-BE49-F238E27FC236}">
                <a16:creationId xmlns:a16="http://schemas.microsoft.com/office/drawing/2014/main" id="{0FED23C9-74D0-49A5-8FD1-38DC2CB8070D}"/>
              </a:ext>
            </a:extLst>
          </p:cNvPr>
          <p:cNvSpPr/>
          <p:nvPr/>
        </p:nvSpPr>
        <p:spPr>
          <a:xfrm>
            <a:off x="2606392" y="5646624"/>
            <a:ext cx="1964950" cy="826921"/>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34" name="文本框 101">
            <a:extLst>
              <a:ext uri="{FF2B5EF4-FFF2-40B4-BE49-F238E27FC236}">
                <a16:creationId xmlns:a16="http://schemas.microsoft.com/office/drawing/2014/main" id="{BFF52F9B-AEB4-41E9-BD8A-13A5AC61F98F}"/>
              </a:ext>
            </a:extLst>
          </p:cNvPr>
          <p:cNvSpPr txBox="1"/>
          <p:nvPr/>
        </p:nvSpPr>
        <p:spPr>
          <a:xfrm>
            <a:off x="4066489" y="5903118"/>
            <a:ext cx="598117"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DP 1</a:t>
            </a:r>
            <a:endParaRPr lang="zh-CN" altLang="en-US" sz="1200"/>
          </a:p>
        </p:txBody>
      </p:sp>
      <p:sp>
        <p:nvSpPr>
          <p:cNvPr id="35" name="矩形 34">
            <a:extLst>
              <a:ext uri="{FF2B5EF4-FFF2-40B4-BE49-F238E27FC236}">
                <a16:creationId xmlns:a16="http://schemas.microsoft.com/office/drawing/2014/main" id="{DD627555-A4DD-4C88-8CE0-EC9A451AEB9F}"/>
              </a:ext>
            </a:extLst>
          </p:cNvPr>
          <p:cNvSpPr/>
          <p:nvPr/>
        </p:nvSpPr>
        <p:spPr>
          <a:xfrm>
            <a:off x="4947425" y="4232806"/>
            <a:ext cx="540000"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L2</a:t>
            </a:r>
            <a:endParaRPr lang="zh-CN" altLang="en-US" sz="1200">
              <a:solidFill>
                <a:schemeClr val="tx1"/>
              </a:solidFill>
            </a:endParaRPr>
          </a:p>
        </p:txBody>
      </p:sp>
      <p:sp>
        <p:nvSpPr>
          <p:cNvPr id="36" name="矩形 35">
            <a:extLst>
              <a:ext uri="{FF2B5EF4-FFF2-40B4-BE49-F238E27FC236}">
                <a16:creationId xmlns:a16="http://schemas.microsoft.com/office/drawing/2014/main" id="{21AC1060-DDED-48BE-AEA9-F711B5F13F67}"/>
              </a:ext>
            </a:extLst>
          </p:cNvPr>
          <p:cNvSpPr/>
          <p:nvPr/>
        </p:nvSpPr>
        <p:spPr>
          <a:xfrm>
            <a:off x="5719754" y="4230092"/>
            <a:ext cx="540000"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L3</a:t>
            </a:r>
            <a:endParaRPr lang="zh-CN" altLang="en-US" sz="1200">
              <a:solidFill>
                <a:schemeClr val="tx1"/>
              </a:solidFill>
            </a:endParaRPr>
          </a:p>
        </p:txBody>
      </p:sp>
      <p:sp>
        <p:nvSpPr>
          <p:cNvPr id="37" name="圆角矩形 3">
            <a:extLst>
              <a:ext uri="{FF2B5EF4-FFF2-40B4-BE49-F238E27FC236}">
                <a16:creationId xmlns:a16="http://schemas.microsoft.com/office/drawing/2014/main" id="{0CB34F4B-EF70-4875-9B10-1AF18726EE44}"/>
              </a:ext>
            </a:extLst>
          </p:cNvPr>
          <p:cNvSpPr/>
          <p:nvPr/>
        </p:nvSpPr>
        <p:spPr>
          <a:xfrm>
            <a:off x="4897493" y="4666521"/>
            <a:ext cx="2242765" cy="1895865"/>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38" name="文本框 105">
            <a:extLst>
              <a:ext uri="{FF2B5EF4-FFF2-40B4-BE49-F238E27FC236}">
                <a16:creationId xmlns:a16="http://schemas.microsoft.com/office/drawing/2014/main" id="{989E19B8-04B3-4C11-BE50-5BC49ECED6C8}"/>
              </a:ext>
            </a:extLst>
          </p:cNvPr>
          <p:cNvSpPr txBox="1"/>
          <p:nvPr/>
        </p:nvSpPr>
        <p:spPr>
          <a:xfrm>
            <a:off x="5644022" y="6566652"/>
            <a:ext cx="715052"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Stage 1</a:t>
            </a:r>
            <a:endParaRPr lang="zh-CN" altLang="en-US" sz="1200"/>
          </a:p>
        </p:txBody>
      </p:sp>
      <p:sp>
        <p:nvSpPr>
          <p:cNvPr id="39" name="八边形 38">
            <a:extLst>
              <a:ext uri="{FF2B5EF4-FFF2-40B4-BE49-F238E27FC236}">
                <a16:creationId xmlns:a16="http://schemas.microsoft.com/office/drawing/2014/main" id="{D5F90992-CFA3-45DC-8422-944F10818B06}"/>
              </a:ext>
            </a:extLst>
          </p:cNvPr>
          <p:cNvSpPr/>
          <p:nvPr/>
        </p:nvSpPr>
        <p:spPr>
          <a:xfrm>
            <a:off x="5059525" y="4821197"/>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40" name="矩形 39">
            <a:extLst>
              <a:ext uri="{FF2B5EF4-FFF2-40B4-BE49-F238E27FC236}">
                <a16:creationId xmlns:a16="http://schemas.microsoft.com/office/drawing/2014/main" id="{42EFFE08-BEBC-4C55-8BD0-68AFFD61D1E3}"/>
              </a:ext>
            </a:extLst>
          </p:cNvPr>
          <p:cNvSpPr/>
          <p:nvPr/>
        </p:nvSpPr>
        <p:spPr>
          <a:xfrm>
            <a:off x="5150357" y="487519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L2.p0</a:t>
            </a:r>
            <a:endParaRPr lang="zh-CN" altLang="en-US" sz="1200">
              <a:solidFill>
                <a:schemeClr val="tx1"/>
              </a:solidFill>
            </a:endParaRPr>
          </a:p>
        </p:txBody>
      </p:sp>
      <p:sp>
        <p:nvSpPr>
          <p:cNvPr id="41" name="矩形 40">
            <a:extLst>
              <a:ext uri="{FF2B5EF4-FFF2-40B4-BE49-F238E27FC236}">
                <a16:creationId xmlns:a16="http://schemas.microsoft.com/office/drawing/2014/main" id="{69EBCEE3-084B-40B1-B652-401F4E08BDAD}"/>
              </a:ext>
            </a:extLst>
          </p:cNvPr>
          <p:cNvSpPr/>
          <p:nvPr/>
        </p:nvSpPr>
        <p:spPr>
          <a:xfrm>
            <a:off x="5752199" y="487519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L3.p0</a:t>
            </a:r>
            <a:endParaRPr lang="zh-CN" altLang="en-US" sz="1200">
              <a:solidFill>
                <a:schemeClr val="tx1"/>
              </a:solidFill>
            </a:endParaRPr>
          </a:p>
        </p:txBody>
      </p:sp>
      <p:sp>
        <p:nvSpPr>
          <p:cNvPr id="42" name="八边形 41">
            <a:extLst>
              <a:ext uri="{FF2B5EF4-FFF2-40B4-BE49-F238E27FC236}">
                <a16:creationId xmlns:a16="http://schemas.microsoft.com/office/drawing/2014/main" id="{7BC1B38A-B51F-44DC-ABB7-76C0FDDC246A}"/>
              </a:ext>
            </a:extLst>
          </p:cNvPr>
          <p:cNvSpPr/>
          <p:nvPr/>
        </p:nvSpPr>
        <p:spPr>
          <a:xfrm>
            <a:off x="5059525" y="5210322"/>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43" name="矩形 42">
            <a:extLst>
              <a:ext uri="{FF2B5EF4-FFF2-40B4-BE49-F238E27FC236}">
                <a16:creationId xmlns:a16="http://schemas.microsoft.com/office/drawing/2014/main" id="{4EB4E5AD-CBFB-4AF0-8A17-0340F71E37FB}"/>
              </a:ext>
            </a:extLst>
          </p:cNvPr>
          <p:cNvSpPr/>
          <p:nvPr/>
        </p:nvSpPr>
        <p:spPr>
          <a:xfrm>
            <a:off x="5150357" y="526432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L2.p1</a:t>
            </a:r>
            <a:endParaRPr lang="zh-CN" altLang="en-US" sz="1200">
              <a:solidFill>
                <a:schemeClr val="tx1"/>
              </a:solidFill>
            </a:endParaRPr>
          </a:p>
        </p:txBody>
      </p:sp>
      <p:sp>
        <p:nvSpPr>
          <p:cNvPr id="44" name="矩形 43">
            <a:extLst>
              <a:ext uri="{FF2B5EF4-FFF2-40B4-BE49-F238E27FC236}">
                <a16:creationId xmlns:a16="http://schemas.microsoft.com/office/drawing/2014/main" id="{5137FDCC-A22E-4002-BBDB-6A742FEA3598}"/>
              </a:ext>
            </a:extLst>
          </p:cNvPr>
          <p:cNvSpPr/>
          <p:nvPr/>
        </p:nvSpPr>
        <p:spPr>
          <a:xfrm>
            <a:off x="5752199" y="526432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L3.p1</a:t>
            </a:r>
            <a:endParaRPr lang="zh-CN" altLang="en-US" sz="1200">
              <a:solidFill>
                <a:schemeClr val="tx1"/>
              </a:solidFill>
            </a:endParaRPr>
          </a:p>
        </p:txBody>
      </p:sp>
      <p:sp>
        <p:nvSpPr>
          <p:cNvPr id="45" name="圆角矩形 3">
            <a:extLst>
              <a:ext uri="{FF2B5EF4-FFF2-40B4-BE49-F238E27FC236}">
                <a16:creationId xmlns:a16="http://schemas.microsoft.com/office/drawing/2014/main" id="{F2F23B7E-D12E-45AE-A4A2-72B68A2FB383}"/>
              </a:ext>
            </a:extLst>
          </p:cNvPr>
          <p:cNvSpPr/>
          <p:nvPr/>
        </p:nvSpPr>
        <p:spPr>
          <a:xfrm>
            <a:off x="5019073" y="4752039"/>
            <a:ext cx="1964950" cy="826921"/>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46" name="文本框 113">
            <a:extLst>
              <a:ext uri="{FF2B5EF4-FFF2-40B4-BE49-F238E27FC236}">
                <a16:creationId xmlns:a16="http://schemas.microsoft.com/office/drawing/2014/main" id="{3A4C7077-1EF8-49EE-8996-8A513E20D60B}"/>
              </a:ext>
            </a:extLst>
          </p:cNvPr>
          <p:cNvSpPr txBox="1"/>
          <p:nvPr/>
        </p:nvSpPr>
        <p:spPr>
          <a:xfrm>
            <a:off x="6479170" y="5008533"/>
            <a:ext cx="598117"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DP 0</a:t>
            </a:r>
            <a:endParaRPr lang="zh-CN" altLang="en-US" sz="1200"/>
          </a:p>
        </p:txBody>
      </p:sp>
      <p:sp>
        <p:nvSpPr>
          <p:cNvPr id="47" name="八边形 46">
            <a:extLst>
              <a:ext uri="{FF2B5EF4-FFF2-40B4-BE49-F238E27FC236}">
                <a16:creationId xmlns:a16="http://schemas.microsoft.com/office/drawing/2014/main" id="{D26DBDF1-9F2C-452C-8F0C-1791A12FF9D4}"/>
              </a:ext>
            </a:extLst>
          </p:cNvPr>
          <p:cNvSpPr/>
          <p:nvPr/>
        </p:nvSpPr>
        <p:spPr>
          <a:xfrm>
            <a:off x="5072088" y="5715782"/>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48" name="矩形 47">
            <a:extLst>
              <a:ext uri="{FF2B5EF4-FFF2-40B4-BE49-F238E27FC236}">
                <a16:creationId xmlns:a16="http://schemas.microsoft.com/office/drawing/2014/main" id="{62A1A101-366F-4114-8350-0F103A081162}"/>
              </a:ext>
            </a:extLst>
          </p:cNvPr>
          <p:cNvSpPr/>
          <p:nvPr/>
        </p:nvSpPr>
        <p:spPr>
          <a:xfrm>
            <a:off x="5162920" y="576978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L2.p0</a:t>
            </a:r>
            <a:endParaRPr lang="zh-CN" altLang="en-US" sz="1200">
              <a:solidFill>
                <a:schemeClr val="tx1"/>
              </a:solidFill>
            </a:endParaRPr>
          </a:p>
        </p:txBody>
      </p:sp>
      <p:sp>
        <p:nvSpPr>
          <p:cNvPr id="49" name="矩形 48">
            <a:extLst>
              <a:ext uri="{FF2B5EF4-FFF2-40B4-BE49-F238E27FC236}">
                <a16:creationId xmlns:a16="http://schemas.microsoft.com/office/drawing/2014/main" id="{9DB30F8E-B353-466D-8E15-86E7757D7619}"/>
              </a:ext>
            </a:extLst>
          </p:cNvPr>
          <p:cNvSpPr/>
          <p:nvPr/>
        </p:nvSpPr>
        <p:spPr>
          <a:xfrm>
            <a:off x="5764762" y="5769782"/>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L3.p0</a:t>
            </a:r>
            <a:endParaRPr lang="zh-CN" altLang="en-US" sz="1200">
              <a:solidFill>
                <a:schemeClr val="tx1"/>
              </a:solidFill>
            </a:endParaRPr>
          </a:p>
        </p:txBody>
      </p:sp>
      <p:sp>
        <p:nvSpPr>
          <p:cNvPr id="50" name="八边形 49">
            <a:extLst>
              <a:ext uri="{FF2B5EF4-FFF2-40B4-BE49-F238E27FC236}">
                <a16:creationId xmlns:a16="http://schemas.microsoft.com/office/drawing/2014/main" id="{07DFE83F-E5B2-4263-9348-68E6A8E0E1C8}"/>
              </a:ext>
            </a:extLst>
          </p:cNvPr>
          <p:cNvSpPr/>
          <p:nvPr/>
        </p:nvSpPr>
        <p:spPr>
          <a:xfrm>
            <a:off x="5072088" y="6104907"/>
            <a:ext cx="1334390" cy="288000"/>
          </a:xfrm>
          <a:prstGeom prst="octagon">
            <a:avLst>
              <a:gd name="adj" fmla="val 1348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schemeClr val="tx1"/>
              </a:solidFill>
              <a:effectLst/>
              <a:uLnTx/>
              <a:uFillTx/>
              <a:latin typeface="Calibri" panose="020F0502020204030204"/>
              <a:ea typeface="宋体" panose="02010600030101010101" pitchFamily="2" charset="-122"/>
              <a:cs typeface="+mn-cs"/>
            </a:endParaRPr>
          </a:p>
        </p:txBody>
      </p:sp>
      <p:sp>
        <p:nvSpPr>
          <p:cNvPr id="51" name="矩形 50">
            <a:extLst>
              <a:ext uri="{FF2B5EF4-FFF2-40B4-BE49-F238E27FC236}">
                <a16:creationId xmlns:a16="http://schemas.microsoft.com/office/drawing/2014/main" id="{4D2D7156-042E-43DF-A0C1-98CB3CDF52D9}"/>
              </a:ext>
            </a:extLst>
          </p:cNvPr>
          <p:cNvSpPr/>
          <p:nvPr/>
        </p:nvSpPr>
        <p:spPr>
          <a:xfrm>
            <a:off x="5162920" y="615890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L2.p1</a:t>
            </a:r>
            <a:endParaRPr lang="zh-CN" altLang="en-US" sz="1200">
              <a:solidFill>
                <a:schemeClr val="tx1"/>
              </a:solidFill>
            </a:endParaRPr>
          </a:p>
        </p:txBody>
      </p:sp>
      <p:sp>
        <p:nvSpPr>
          <p:cNvPr id="52" name="矩形 51">
            <a:extLst>
              <a:ext uri="{FF2B5EF4-FFF2-40B4-BE49-F238E27FC236}">
                <a16:creationId xmlns:a16="http://schemas.microsoft.com/office/drawing/2014/main" id="{B07193C7-B089-4C7A-B115-C9DECB6769CC}"/>
              </a:ext>
            </a:extLst>
          </p:cNvPr>
          <p:cNvSpPr/>
          <p:nvPr/>
        </p:nvSpPr>
        <p:spPr>
          <a:xfrm>
            <a:off x="5764762" y="6158907"/>
            <a:ext cx="54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defPPr>
              <a:defRPr lang="zh-CN"/>
            </a:defPPr>
            <a:lvl1pPr algn="l" rtl="0" fontAlgn="base">
              <a:spcBef>
                <a:spcPct val="0"/>
              </a:spcBef>
              <a:spcAft>
                <a:spcPct val="0"/>
              </a:spcAft>
              <a:defRPr sz="2000" kern="1200">
                <a:solidFill>
                  <a:schemeClr val="lt1"/>
                </a:solidFill>
                <a:latin typeface="+mn-lt"/>
                <a:ea typeface="+mn-ea"/>
                <a:cs typeface="+mn-cs"/>
              </a:defRPr>
            </a:lvl1pPr>
            <a:lvl2pPr marL="457200" algn="l" rtl="0" fontAlgn="base">
              <a:spcBef>
                <a:spcPct val="0"/>
              </a:spcBef>
              <a:spcAft>
                <a:spcPct val="0"/>
              </a:spcAft>
              <a:defRPr sz="2000" kern="1200">
                <a:solidFill>
                  <a:schemeClr val="lt1"/>
                </a:solidFill>
                <a:latin typeface="+mn-lt"/>
                <a:ea typeface="+mn-ea"/>
                <a:cs typeface="+mn-cs"/>
              </a:defRPr>
            </a:lvl2pPr>
            <a:lvl3pPr marL="914400" algn="l" rtl="0" fontAlgn="base">
              <a:spcBef>
                <a:spcPct val="0"/>
              </a:spcBef>
              <a:spcAft>
                <a:spcPct val="0"/>
              </a:spcAft>
              <a:defRPr sz="2000" kern="1200">
                <a:solidFill>
                  <a:schemeClr val="lt1"/>
                </a:solidFill>
                <a:latin typeface="+mn-lt"/>
                <a:ea typeface="+mn-ea"/>
                <a:cs typeface="+mn-cs"/>
              </a:defRPr>
            </a:lvl3pPr>
            <a:lvl4pPr marL="1371600" algn="l" rtl="0" fontAlgn="base">
              <a:spcBef>
                <a:spcPct val="0"/>
              </a:spcBef>
              <a:spcAft>
                <a:spcPct val="0"/>
              </a:spcAft>
              <a:defRPr sz="2000" kern="1200">
                <a:solidFill>
                  <a:schemeClr val="lt1"/>
                </a:solidFill>
                <a:latin typeface="+mn-lt"/>
                <a:ea typeface="+mn-ea"/>
                <a:cs typeface="+mn-cs"/>
              </a:defRPr>
            </a:lvl4pPr>
            <a:lvl5pPr marL="1828800" algn="l" rtl="0" fontAlgn="base">
              <a:spcBef>
                <a:spcPct val="0"/>
              </a:spcBef>
              <a:spcAft>
                <a:spcPct val="0"/>
              </a:spcAft>
              <a:defRPr sz="2000" kern="1200">
                <a:solidFill>
                  <a:schemeClr val="lt1"/>
                </a:solidFill>
                <a:latin typeface="+mn-lt"/>
                <a:ea typeface="+mn-ea"/>
                <a:cs typeface="+mn-cs"/>
              </a:defRPr>
            </a:lvl5pPr>
            <a:lvl6pPr marL="2286000" algn="l" defTabSz="914400" rtl="0" eaLnBrk="1" latinLnBrk="0" hangingPunct="1">
              <a:defRPr sz="2000" kern="1200">
                <a:solidFill>
                  <a:schemeClr val="lt1"/>
                </a:solidFill>
                <a:latin typeface="+mn-lt"/>
                <a:ea typeface="+mn-ea"/>
                <a:cs typeface="+mn-cs"/>
              </a:defRPr>
            </a:lvl6pPr>
            <a:lvl7pPr marL="2743200" algn="l" defTabSz="914400" rtl="0" eaLnBrk="1" latinLnBrk="0" hangingPunct="1">
              <a:defRPr sz="2000" kern="1200">
                <a:solidFill>
                  <a:schemeClr val="lt1"/>
                </a:solidFill>
                <a:latin typeface="+mn-lt"/>
                <a:ea typeface="+mn-ea"/>
                <a:cs typeface="+mn-cs"/>
              </a:defRPr>
            </a:lvl7pPr>
            <a:lvl8pPr marL="3200400" algn="l" defTabSz="914400" rtl="0" eaLnBrk="1" latinLnBrk="0" hangingPunct="1">
              <a:defRPr sz="2000" kern="1200">
                <a:solidFill>
                  <a:schemeClr val="lt1"/>
                </a:solidFill>
                <a:latin typeface="+mn-lt"/>
                <a:ea typeface="+mn-ea"/>
                <a:cs typeface="+mn-cs"/>
              </a:defRPr>
            </a:lvl8pPr>
            <a:lvl9pPr marL="3657600" algn="l" defTabSz="914400" rtl="0" eaLnBrk="1" latinLnBrk="0" hangingPunct="1">
              <a:defRPr sz="2000" kern="1200">
                <a:solidFill>
                  <a:schemeClr val="lt1"/>
                </a:solidFill>
                <a:latin typeface="+mn-lt"/>
                <a:ea typeface="+mn-ea"/>
                <a:cs typeface="+mn-cs"/>
              </a:defRPr>
            </a:lvl9pPr>
          </a:lstStyle>
          <a:p>
            <a:pPr algn="ctr"/>
            <a:r>
              <a:rPr lang="en-US" altLang="zh-CN" sz="1200">
                <a:solidFill>
                  <a:schemeClr val="tx1"/>
                </a:solidFill>
              </a:rPr>
              <a:t>L3.p1</a:t>
            </a:r>
            <a:endParaRPr lang="zh-CN" altLang="en-US" sz="1200">
              <a:solidFill>
                <a:schemeClr val="tx1"/>
              </a:solidFill>
            </a:endParaRPr>
          </a:p>
        </p:txBody>
      </p:sp>
      <p:sp>
        <p:nvSpPr>
          <p:cNvPr id="53" name="圆角矩形 3">
            <a:extLst>
              <a:ext uri="{FF2B5EF4-FFF2-40B4-BE49-F238E27FC236}">
                <a16:creationId xmlns:a16="http://schemas.microsoft.com/office/drawing/2014/main" id="{F2F7CE80-E7D3-4D53-B552-90552A75322F}"/>
              </a:ext>
            </a:extLst>
          </p:cNvPr>
          <p:cNvSpPr/>
          <p:nvPr/>
        </p:nvSpPr>
        <p:spPr>
          <a:xfrm>
            <a:off x="5031636" y="5646624"/>
            <a:ext cx="1964950" cy="826921"/>
          </a:xfrm>
          <a:prstGeom prst="roundRect">
            <a:avLst>
              <a:gd name="adj" fmla="val 3501"/>
            </a:avLst>
          </a:prstGeom>
          <a:noFill/>
          <a:ln w="12700"/>
        </p:spPr>
        <p:style>
          <a:lnRef idx="2">
            <a:schemeClr val="dk1"/>
          </a:lnRef>
          <a:fillRef idx="1">
            <a:schemeClr val="lt1"/>
          </a:fillRef>
          <a:effectRef idx="0">
            <a:schemeClr val="dk1"/>
          </a:effectRef>
          <a:fontRef idx="minor">
            <a:schemeClr val="dk1"/>
          </a:fontRef>
        </p:style>
        <p:txBody>
          <a:bodyPr rtlCol="0" anchor="ctr"/>
          <a:lstStyle>
            <a:defPPr>
              <a:defRPr lang="zh-CN"/>
            </a:defPPr>
            <a:lvl1pPr algn="l" rtl="0" fontAlgn="base">
              <a:spcBef>
                <a:spcPct val="0"/>
              </a:spcBef>
              <a:spcAft>
                <a:spcPct val="0"/>
              </a:spcAft>
              <a:defRPr sz="2000" kern="1200">
                <a:solidFill>
                  <a:schemeClr val="dk1"/>
                </a:solidFill>
                <a:latin typeface="+mn-lt"/>
                <a:ea typeface="+mn-ea"/>
                <a:cs typeface="+mn-cs"/>
              </a:defRPr>
            </a:lvl1pPr>
            <a:lvl2pPr marL="457200" algn="l" rtl="0" fontAlgn="base">
              <a:spcBef>
                <a:spcPct val="0"/>
              </a:spcBef>
              <a:spcAft>
                <a:spcPct val="0"/>
              </a:spcAft>
              <a:defRPr sz="2000" kern="1200">
                <a:solidFill>
                  <a:schemeClr val="dk1"/>
                </a:solidFill>
                <a:latin typeface="+mn-lt"/>
                <a:ea typeface="+mn-ea"/>
                <a:cs typeface="+mn-cs"/>
              </a:defRPr>
            </a:lvl2pPr>
            <a:lvl3pPr marL="914400" algn="l" rtl="0" fontAlgn="base">
              <a:spcBef>
                <a:spcPct val="0"/>
              </a:spcBef>
              <a:spcAft>
                <a:spcPct val="0"/>
              </a:spcAft>
              <a:defRPr sz="2000" kern="1200">
                <a:solidFill>
                  <a:schemeClr val="dk1"/>
                </a:solidFill>
                <a:latin typeface="+mn-lt"/>
                <a:ea typeface="+mn-ea"/>
                <a:cs typeface="+mn-cs"/>
              </a:defRPr>
            </a:lvl3pPr>
            <a:lvl4pPr marL="1371600" algn="l" rtl="0" fontAlgn="base">
              <a:spcBef>
                <a:spcPct val="0"/>
              </a:spcBef>
              <a:spcAft>
                <a:spcPct val="0"/>
              </a:spcAft>
              <a:defRPr sz="2000" kern="1200">
                <a:solidFill>
                  <a:schemeClr val="dk1"/>
                </a:solidFill>
                <a:latin typeface="+mn-lt"/>
                <a:ea typeface="+mn-ea"/>
                <a:cs typeface="+mn-cs"/>
              </a:defRPr>
            </a:lvl4pPr>
            <a:lvl5pPr marL="1828800" algn="l" rtl="0" fontAlgn="base">
              <a:spcBef>
                <a:spcPct val="0"/>
              </a:spcBef>
              <a:spcAft>
                <a:spcPct val="0"/>
              </a:spcAft>
              <a:defRPr sz="2000" kern="1200">
                <a:solidFill>
                  <a:schemeClr val="dk1"/>
                </a:solidFill>
                <a:latin typeface="+mn-lt"/>
                <a:ea typeface="+mn-ea"/>
                <a:cs typeface="+mn-cs"/>
              </a:defRPr>
            </a:lvl5pPr>
            <a:lvl6pPr marL="2286000" algn="l" defTabSz="914400" rtl="0" eaLnBrk="1" latinLnBrk="0" hangingPunct="1">
              <a:defRPr sz="2000" kern="1200">
                <a:solidFill>
                  <a:schemeClr val="dk1"/>
                </a:solidFill>
                <a:latin typeface="+mn-lt"/>
                <a:ea typeface="+mn-ea"/>
                <a:cs typeface="+mn-cs"/>
              </a:defRPr>
            </a:lvl6pPr>
            <a:lvl7pPr marL="2743200" algn="l" defTabSz="914400" rtl="0" eaLnBrk="1" latinLnBrk="0" hangingPunct="1">
              <a:defRPr sz="2000" kern="1200">
                <a:solidFill>
                  <a:schemeClr val="dk1"/>
                </a:solidFill>
                <a:latin typeface="+mn-lt"/>
                <a:ea typeface="+mn-ea"/>
                <a:cs typeface="+mn-cs"/>
              </a:defRPr>
            </a:lvl7pPr>
            <a:lvl8pPr marL="3200400" algn="l" defTabSz="914400" rtl="0" eaLnBrk="1" latinLnBrk="0" hangingPunct="1">
              <a:defRPr sz="2000" kern="1200">
                <a:solidFill>
                  <a:schemeClr val="dk1"/>
                </a:solidFill>
                <a:latin typeface="+mn-lt"/>
                <a:ea typeface="+mn-ea"/>
                <a:cs typeface="+mn-cs"/>
              </a:defRPr>
            </a:lvl8pPr>
            <a:lvl9pPr marL="3657600" algn="l" defTabSz="914400" rtl="0" eaLnBrk="1" latinLnBrk="0" hangingPunct="1">
              <a:defRPr sz="2000" kern="1200">
                <a:solidFill>
                  <a:schemeClr val="dk1"/>
                </a:solidFill>
                <a:latin typeface="+mn-lt"/>
                <a:ea typeface="+mn-ea"/>
                <a:cs typeface="+mn-cs"/>
              </a:defRPr>
            </a:lvl9pPr>
          </a:lstStyle>
          <a:p>
            <a:pPr algn="ctr"/>
            <a:endParaRPr kumimoji="1" lang="zh-CN" altLang="en-US"/>
          </a:p>
        </p:txBody>
      </p:sp>
      <p:sp>
        <p:nvSpPr>
          <p:cNvPr id="54" name="文本框 121">
            <a:extLst>
              <a:ext uri="{FF2B5EF4-FFF2-40B4-BE49-F238E27FC236}">
                <a16:creationId xmlns:a16="http://schemas.microsoft.com/office/drawing/2014/main" id="{FFA62C1D-A79F-457E-84FE-B2162C1F3775}"/>
              </a:ext>
            </a:extLst>
          </p:cNvPr>
          <p:cNvSpPr txBox="1"/>
          <p:nvPr/>
        </p:nvSpPr>
        <p:spPr>
          <a:xfrm>
            <a:off x="6491733" y="5903118"/>
            <a:ext cx="598117" cy="276999"/>
          </a:xfrm>
          <a:prstGeom prst="rect">
            <a:avLst/>
          </a:prstGeom>
          <a:noFill/>
        </p:spPr>
        <p:txBody>
          <a:bodyPr wrap="square" rtlCol="0">
            <a:spAutoFit/>
          </a:bodyPr>
          <a:lstStyle>
            <a:defPPr>
              <a:defRPr lang="zh-CN"/>
            </a:defPPr>
            <a:lvl1pPr algn="l" rtl="0" fontAlgn="base">
              <a:spcBef>
                <a:spcPct val="0"/>
              </a:spcBef>
              <a:spcAft>
                <a:spcPct val="0"/>
              </a:spcAft>
              <a:defRPr sz="2000"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a:lstStyle>
          <a:p>
            <a:r>
              <a:rPr lang="en-US" altLang="zh-CN" sz="1200"/>
              <a:t>DP 1</a:t>
            </a:r>
            <a:endParaRPr lang="zh-CN" altLang="en-US" sz="1200"/>
          </a:p>
        </p:txBody>
      </p:sp>
      <p:cxnSp>
        <p:nvCxnSpPr>
          <p:cNvPr id="55" name="直接箭头连接符 54">
            <a:extLst>
              <a:ext uri="{FF2B5EF4-FFF2-40B4-BE49-F238E27FC236}">
                <a16:creationId xmlns:a16="http://schemas.microsoft.com/office/drawing/2014/main" id="{D18A89A0-363B-4D13-8A8C-6AD1DAC4DE1C}"/>
              </a:ext>
            </a:extLst>
          </p:cNvPr>
          <p:cNvCxnSpPr>
            <a:cxnSpLocks/>
          </p:cNvCxnSpPr>
          <p:nvPr/>
        </p:nvCxnSpPr>
        <p:spPr>
          <a:xfrm flipV="1">
            <a:off x="8318790" y="5776735"/>
            <a:ext cx="360000" cy="3"/>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365D3FD9-CB5A-46E6-97B9-BC3EDE9C0333}"/>
              </a:ext>
            </a:extLst>
          </p:cNvPr>
          <p:cNvCxnSpPr>
            <a:cxnSpLocks/>
          </p:cNvCxnSpPr>
          <p:nvPr/>
        </p:nvCxnSpPr>
        <p:spPr>
          <a:xfrm>
            <a:off x="5690357" y="5470151"/>
            <a:ext cx="0" cy="252000"/>
          </a:xfrm>
          <a:prstGeom prst="straightConnector1">
            <a:avLst/>
          </a:prstGeom>
          <a:ln w="1270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A6AC1284-2940-4A67-B36E-BDA36CC02670}"/>
              </a:ext>
            </a:extLst>
          </p:cNvPr>
          <p:cNvCxnSpPr>
            <a:cxnSpLocks/>
          </p:cNvCxnSpPr>
          <p:nvPr/>
        </p:nvCxnSpPr>
        <p:spPr>
          <a:xfrm flipV="1">
            <a:off x="5797037" y="5457232"/>
            <a:ext cx="0" cy="252000"/>
          </a:xfrm>
          <a:prstGeom prst="straightConnector1">
            <a:avLst/>
          </a:prstGeom>
          <a:ln w="1270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49F6CD63-2C68-4291-AEE4-03D2ECB90EBD}"/>
              </a:ext>
            </a:extLst>
          </p:cNvPr>
          <p:cNvCxnSpPr>
            <a:cxnSpLocks/>
          </p:cNvCxnSpPr>
          <p:nvPr/>
        </p:nvCxnSpPr>
        <p:spPr>
          <a:xfrm>
            <a:off x="3219536" y="5470151"/>
            <a:ext cx="0" cy="252000"/>
          </a:xfrm>
          <a:prstGeom prst="straightConnector1">
            <a:avLst/>
          </a:prstGeom>
          <a:ln w="1270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59581584-A72E-4F59-A6DF-A1634B077EA9}"/>
              </a:ext>
            </a:extLst>
          </p:cNvPr>
          <p:cNvCxnSpPr>
            <a:cxnSpLocks/>
          </p:cNvCxnSpPr>
          <p:nvPr/>
        </p:nvCxnSpPr>
        <p:spPr>
          <a:xfrm flipV="1">
            <a:off x="3326216" y="5457232"/>
            <a:ext cx="0" cy="252000"/>
          </a:xfrm>
          <a:prstGeom prst="straightConnector1">
            <a:avLst/>
          </a:prstGeom>
          <a:ln w="1270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C1C7B8AB-15E2-4D42-B6FC-DBDC7AB82B1C}"/>
              </a:ext>
            </a:extLst>
          </p:cNvPr>
          <p:cNvCxnSpPr>
            <a:cxnSpLocks/>
          </p:cNvCxnSpPr>
          <p:nvPr/>
        </p:nvCxnSpPr>
        <p:spPr>
          <a:xfrm>
            <a:off x="5702261" y="5028660"/>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4FBF46EE-BA1E-4FF7-A8C8-AF6365D6D427}"/>
              </a:ext>
            </a:extLst>
          </p:cNvPr>
          <p:cNvCxnSpPr>
            <a:cxnSpLocks/>
          </p:cNvCxnSpPr>
          <p:nvPr/>
        </p:nvCxnSpPr>
        <p:spPr>
          <a:xfrm flipV="1">
            <a:off x="5808941" y="5015741"/>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DDEDB177-BAC5-4C04-B0FB-4E436CA9CF4A}"/>
              </a:ext>
            </a:extLst>
          </p:cNvPr>
          <p:cNvCxnSpPr>
            <a:cxnSpLocks/>
          </p:cNvCxnSpPr>
          <p:nvPr/>
        </p:nvCxnSpPr>
        <p:spPr>
          <a:xfrm>
            <a:off x="5666094" y="5915617"/>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C943D7C6-888B-44B9-8A2E-EAF2A8F30FEE}"/>
              </a:ext>
            </a:extLst>
          </p:cNvPr>
          <p:cNvCxnSpPr>
            <a:cxnSpLocks/>
          </p:cNvCxnSpPr>
          <p:nvPr/>
        </p:nvCxnSpPr>
        <p:spPr>
          <a:xfrm flipV="1">
            <a:off x="5772774" y="5902698"/>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2D902630-E9BE-4BFF-8F18-95AD6A194375}"/>
              </a:ext>
            </a:extLst>
          </p:cNvPr>
          <p:cNvCxnSpPr>
            <a:cxnSpLocks/>
          </p:cNvCxnSpPr>
          <p:nvPr/>
        </p:nvCxnSpPr>
        <p:spPr>
          <a:xfrm>
            <a:off x="3235643" y="5041579"/>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EA2CD3CC-A2E2-475F-834D-7CC005B2D30F}"/>
              </a:ext>
            </a:extLst>
          </p:cNvPr>
          <p:cNvCxnSpPr>
            <a:cxnSpLocks/>
          </p:cNvCxnSpPr>
          <p:nvPr/>
        </p:nvCxnSpPr>
        <p:spPr>
          <a:xfrm flipV="1">
            <a:off x="3342323" y="5028660"/>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42515F22-2B5A-4598-8072-88AEDF21C7F6}"/>
              </a:ext>
            </a:extLst>
          </p:cNvPr>
          <p:cNvCxnSpPr>
            <a:cxnSpLocks/>
          </p:cNvCxnSpPr>
          <p:nvPr/>
        </p:nvCxnSpPr>
        <p:spPr>
          <a:xfrm>
            <a:off x="3232838" y="5910963"/>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5DCF6B76-A8E1-4D6B-B79F-4B41B914E2A1}"/>
              </a:ext>
            </a:extLst>
          </p:cNvPr>
          <p:cNvCxnSpPr>
            <a:cxnSpLocks/>
          </p:cNvCxnSpPr>
          <p:nvPr/>
        </p:nvCxnSpPr>
        <p:spPr>
          <a:xfrm flipV="1">
            <a:off x="3339518" y="5898044"/>
            <a:ext cx="0" cy="2520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2523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C98AF-0CCB-C3EE-67BB-0B1A119C4191}"/>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97CFEEB4-26E2-C5C0-469E-060BF055749B}"/>
              </a:ext>
            </a:extLst>
          </p:cNvPr>
          <p:cNvSpPr txBox="1"/>
          <p:nvPr/>
        </p:nvSpPr>
        <p:spPr bwMode="gray">
          <a:xfrm>
            <a:off x="409378" y="472478"/>
            <a:ext cx="11266982" cy="424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noAutofit/>
          </a:bodyPr>
          <a:lstStyle>
            <a:lvl1pPr marL="0" indent="0" algn="l" rtl="0" eaLnBrk="1" fontAlgn="base" hangingPunct="1">
              <a:spcBef>
                <a:spcPts val="0"/>
              </a:spcBef>
              <a:spcAft>
                <a:spcPct val="0"/>
              </a:spcAft>
              <a:buNone/>
              <a:defRPr sz="2800">
                <a:solidFill>
                  <a:schemeClr val="tx2"/>
                </a:solidFill>
                <a:latin typeface="+mn-lt"/>
                <a:ea typeface="+mn-ea"/>
                <a:cs typeface="+mn-cs"/>
                <a:sym typeface="Arial" panose="020B0604020202020204"/>
              </a:defRPr>
            </a:lvl1pPr>
            <a:lvl2pPr marL="0" indent="0" algn="l" rtl="0" eaLnBrk="1" fontAlgn="base" hangingPunct="1">
              <a:spcBef>
                <a:spcPts val="0"/>
              </a:spcBef>
              <a:spcAft>
                <a:spcPct val="0"/>
              </a:spcAft>
              <a:buFont typeface="Arial" panose="020B0604020202020204" pitchFamily="34" charset="0"/>
              <a:buNone/>
              <a:defRPr sz="2800">
                <a:solidFill>
                  <a:schemeClr val="accent1"/>
                </a:solidFill>
                <a:latin typeface="+mn-lt"/>
                <a:cs typeface="+mn-cs"/>
                <a:sym typeface="Arial" panose="020B0604020202020204"/>
              </a:defRPr>
            </a:lvl2pPr>
            <a:lvl3pPr marL="516255" indent="-171450"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3pPr>
            <a:lvl4pPr marL="684530" indent="-16700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4pPr>
            <a:lvl5pPr marL="8591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5pPr>
            <a:lvl6pPr marL="13163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6pPr>
            <a:lvl7pPr marL="17735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7pPr>
            <a:lvl8pPr marL="22307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8pPr>
            <a:lvl9pPr marL="26879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9pPr>
          </a:lstStyle>
          <a:p>
            <a:pPr>
              <a:spcBef>
                <a:spcPct val="60000"/>
              </a:spcBef>
              <a:defRPr/>
            </a:pPr>
            <a:r>
              <a:rPr lang="zh-CN" altLang="en-US" sz="3200" b="1" kern="0" dirty="0">
                <a:solidFill>
                  <a:srgbClr val="0339A6"/>
                </a:solidFill>
                <a:latin typeface="微软雅黑" panose="020B0503020204020204" pitchFamily="34" charset="-122"/>
                <a:ea typeface="微软雅黑" panose="020B0503020204020204" pitchFamily="34" charset="-122"/>
              </a:rPr>
              <a:t>本报告的成果预览（</a:t>
            </a:r>
            <a:r>
              <a:rPr lang="en-US" altLang="zh-CN" sz="3200" b="1" kern="0" dirty="0">
                <a:solidFill>
                  <a:srgbClr val="0339A6"/>
                </a:solidFill>
                <a:latin typeface="微软雅黑" panose="020B0503020204020204" pitchFamily="34" charset="-122"/>
                <a:ea typeface="微软雅黑" panose="020B0503020204020204" pitchFamily="34" charset="-122"/>
              </a:rPr>
              <a:t>1/2</a:t>
            </a:r>
            <a:r>
              <a:rPr lang="zh-CN" altLang="en-US" sz="3200" b="1" kern="0" dirty="0">
                <a:solidFill>
                  <a:srgbClr val="0339A6"/>
                </a:solidFill>
                <a:latin typeface="微软雅黑" panose="020B0503020204020204" pitchFamily="34" charset="-122"/>
                <a:ea typeface="微软雅黑" panose="020B0503020204020204" pitchFamily="34" charset="-122"/>
              </a:rPr>
              <a:t>）：系统软件支持国产卡，产业化</a:t>
            </a:r>
            <a:endParaRPr lang="zh-CN" altLang="en-US" sz="3200" b="1" kern="0" dirty="0">
              <a:solidFill>
                <a:srgbClr val="C00000"/>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7CAB9292-3D3E-4596-C6D3-0364A8DF1674}"/>
              </a:ext>
            </a:extLst>
          </p:cNvPr>
          <p:cNvSpPr/>
          <p:nvPr>
            <p:custDataLst>
              <p:tags r:id="rId1"/>
            </p:custDataLst>
          </p:nvPr>
        </p:nvSpPr>
        <p:spPr>
          <a:xfrm>
            <a:off x="0" y="1027030"/>
            <a:ext cx="12192000" cy="655862"/>
          </a:xfrm>
          <a:prstGeom prst="rect">
            <a:avLst/>
          </a:prstGeom>
          <a:solidFill>
            <a:schemeClr val="accent5">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 name="图片 4">
            <a:extLst>
              <a:ext uri="{FF2B5EF4-FFF2-40B4-BE49-F238E27FC236}">
                <a16:creationId xmlns:a16="http://schemas.microsoft.com/office/drawing/2014/main" id="{6E8CDB3C-EB11-4408-95CB-B864126106D7}"/>
              </a:ext>
            </a:extLst>
          </p:cNvPr>
          <p:cNvPicPr>
            <a:picLocks noChangeAspect="1"/>
          </p:cNvPicPr>
          <p:nvPr/>
        </p:nvPicPr>
        <p:blipFill>
          <a:blip r:embed="rId4"/>
          <a:stretch>
            <a:fillRect/>
          </a:stretch>
        </p:blipFill>
        <p:spPr>
          <a:xfrm>
            <a:off x="632988" y="3018973"/>
            <a:ext cx="3407709" cy="3809207"/>
          </a:xfrm>
          <a:prstGeom prst="rect">
            <a:avLst/>
          </a:prstGeom>
        </p:spPr>
      </p:pic>
      <p:sp>
        <p:nvSpPr>
          <p:cNvPr id="8" name="文本框 9">
            <a:extLst>
              <a:ext uri="{FF2B5EF4-FFF2-40B4-BE49-F238E27FC236}">
                <a16:creationId xmlns:a16="http://schemas.microsoft.com/office/drawing/2014/main" id="{8E97E88F-AEE8-4859-9B99-2664A68D6408}"/>
              </a:ext>
            </a:extLst>
          </p:cNvPr>
          <p:cNvSpPr txBox="1"/>
          <p:nvPr/>
        </p:nvSpPr>
        <p:spPr>
          <a:xfrm>
            <a:off x="360110" y="2560127"/>
            <a:ext cx="5056716" cy="418191"/>
          </a:xfrm>
          <a:prstGeom prst="rect">
            <a:avLst/>
          </a:prstGeom>
          <a:noFill/>
        </p:spPr>
        <p:txBody>
          <a:bodyPr wrap="square">
            <a:spAutoFit/>
          </a:bodyPr>
          <a:lstStyle/>
          <a:p>
            <a:pPr>
              <a:lnSpc>
                <a:spcPct val="150000"/>
              </a:lnSpc>
              <a:defRPr/>
            </a:pP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华为</a:t>
            </a:r>
            <a:r>
              <a:rPr kumimoji="0" lang="en-US" altLang="zh-CN" sz="160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rPr>
              <a:t>MindSpore</a:t>
            </a: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官方</a:t>
            </a:r>
            <a:r>
              <a:rPr lang="zh-CN" altLang="en-US" sz="1600" dirty="0">
                <a:latin typeface="微软雅黑" panose="020B0503020204020204" pitchFamily="34" charset="-122"/>
                <a:ea typeface="微软雅黑" panose="020B0503020204020204" pitchFamily="34" charset="-122"/>
              </a:rPr>
              <a:t>开源库，共五个并行训练子系统</a:t>
            </a:r>
            <a:endPar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2B7DF117-F8EA-4FF4-A5FE-7CDE2DDED2CD}"/>
              </a:ext>
            </a:extLst>
          </p:cNvPr>
          <p:cNvSpPr/>
          <p:nvPr/>
        </p:nvSpPr>
        <p:spPr>
          <a:xfrm>
            <a:off x="684609" y="4214628"/>
            <a:ext cx="1443790" cy="5431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7">
            <a:extLst>
              <a:ext uri="{FF2B5EF4-FFF2-40B4-BE49-F238E27FC236}">
                <a16:creationId xmlns:a16="http://schemas.microsoft.com/office/drawing/2014/main" id="{CDB8F0EB-3131-4059-9B99-9C4E200AD9C6}"/>
              </a:ext>
            </a:extLst>
          </p:cNvPr>
          <p:cNvPicPr>
            <a:picLocks noChangeAspect="1"/>
          </p:cNvPicPr>
          <p:nvPr/>
        </p:nvPicPr>
        <p:blipFill>
          <a:blip r:embed="rId5"/>
          <a:stretch>
            <a:fillRect/>
          </a:stretch>
        </p:blipFill>
        <p:spPr>
          <a:xfrm>
            <a:off x="5570884" y="2691433"/>
            <a:ext cx="4977606" cy="1782844"/>
          </a:xfrm>
          <a:prstGeom prst="rect">
            <a:avLst/>
          </a:prstGeom>
        </p:spPr>
      </p:pic>
      <p:sp>
        <p:nvSpPr>
          <p:cNvPr id="12" name="文本框 9">
            <a:extLst>
              <a:ext uri="{FF2B5EF4-FFF2-40B4-BE49-F238E27FC236}">
                <a16:creationId xmlns:a16="http://schemas.microsoft.com/office/drawing/2014/main" id="{8A7ED807-156A-47AC-B58D-56D9D9E56E63}"/>
              </a:ext>
            </a:extLst>
          </p:cNvPr>
          <p:cNvSpPr txBox="1"/>
          <p:nvPr/>
        </p:nvSpPr>
        <p:spPr>
          <a:xfrm>
            <a:off x="4331362" y="4486869"/>
            <a:ext cx="7620441" cy="2275688"/>
          </a:xfrm>
          <a:prstGeom prst="rect">
            <a:avLst/>
          </a:prstGeom>
          <a:noFill/>
        </p:spPr>
        <p:txBody>
          <a:bodyPr wrap="square">
            <a:spAutoFit/>
          </a:bodyPr>
          <a:lstStyle/>
          <a:p>
            <a:pPr>
              <a:lnSpc>
                <a:spcPct val="150000"/>
              </a:lnSpc>
              <a:defRPr/>
            </a:pP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项目亮点</a:t>
            </a:r>
            <a:r>
              <a:rPr lang="zh-CN" altLang="en-US" sz="12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2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2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200" b="1" dirty="0">
                <a:latin typeface="微软雅黑" panose="020B0503020204020204" pitchFamily="34" charset="-122"/>
                <a:ea typeface="微软雅黑" panose="020B0503020204020204" pitchFamily="34" charset="-122"/>
                <a:sym typeface="Wingdings" panose="05000000000000000000" pitchFamily="2" charset="2"/>
              </a:rPr>
              <a:t>我的</a:t>
            </a:r>
            <a:r>
              <a:rPr lang="en-US" altLang="zh-CN" sz="1200" b="1" dirty="0">
                <a:latin typeface="微软雅黑" panose="020B0503020204020204" pitchFamily="34" charset="-122"/>
                <a:ea typeface="微软雅黑" panose="020B0503020204020204" pitchFamily="34" charset="-122"/>
                <a:sym typeface="Wingdings" panose="05000000000000000000" pitchFamily="2" charset="2"/>
              </a:rPr>
              <a:t>Fold3D</a:t>
            </a:r>
            <a:r>
              <a:rPr lang="zh-CN" altLang="en-US" sz="1200" b="1" dirty="0">
                <a:latin typeface="微软雅黑" panose="020B0503020204020204" pitchFamily="34" charset="-122"/>
                <a:ea typeface="微软雅黑" panose="020B0503020204020204" pitchFamily="34" charset="-122"/>
                <a:sym typeface="Wingdings" panose="05000000000000000000" pitchFamily="2" charset="2"/>
              </a:rPr>
              <a:t>论文研发</a:t>
            </a:r>
            <a:r>
              <a:rPr lang="zh-CN" altLang="en-US" sz="1200" dirty="0">
                <a:latin typeface="微软雅黑" panose="020B0503020204020204" pitchFamily="34" charset="-122"/>
                <a:ea typeface="微软雅黑" panose="020B0503020204020204" pitchFamily="34" charset="-122"/>
                <a:sym typeface="Wingdings" panose="05000000000000000000" pitchFamily="2" charset="2"/>
              </a:rPr>
              <a:t>的训练系统：</a:t>
            </a:r>
            <a:r>
              <a:rPr kumimoji="0" lang="en-US" altLang="zh-CN" sz="120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rPr>
              <a:t>MindSpore</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开源库</a:t>
            </a:r>
            <a:r>
              <a:rPr lang="zh-CN" altLang="en-US" sz="1200" dirty="0">
                <a:latin typeface="微软雅黑" panose="020B0503020204020204" pitchFamily="34" charset="-122"/>
                <a:ea typeface="微软雅黑" panose="020B0503020204020204" pitchFamily="34" charset="-122"/>
              </a:rPr>
              <a:t>的并行训练系统中，</a:t>
            </a:r>
            <a:r>
              <a:rPr lang="zh-CN" altLang="en-US" sz="1200" b="1" dirty="0">
                <a:latin typeface="微软雅黑" panose="020B0503020204020204" pitchFamily="34" charset="-122"/>
                <a:ea typeface="微软雅黑" panose="020B0503020204020204" pitchFamily="34" charset="-122"/>
              </a:rPr>
              <a:t>是唯一的国产自主研发的方案</a:t>
            </a:r>
            <a:r>
              <a:rPr lang="zh-CN" altLang="en-US" sz="1200" dirty="0">
                <a:latin typeface="微软雅黑" panose="020B0503020204020204" pitchFamily="34" charset="-122"/>
                <a:ea typeface="微软雅黑" panose="020B0503020204020204" pitchFamily="34" charset="-122"/>
              </a:rPr>
              <a:t>，其余四个并行训练系统方案，均为华为实现了国外（微软，英伟达，斯坦福，谷歌等）方案；</a:t>
            </a:r>
            <a:endParaRPr lang="en-US" altLang="zh-CN" sz="1200" dirty="0">
              <a:latin typeface="微软雅黑" panose="020B0503020204020204" pitchFamily="34" charset="-122"/>
              <a:ea typeface="微软雅黑" panose="020B0503020204020204" pitchFamily="34" charset="-122"/>
            </a:endParaRPr>
          </a:p>
          <a:p>
            <a:pPr>
              <a:lnSpc>
                <a:spcPct val="150000"/>
              </a:lnSpc>
              <a:defRPr/>
            </a:pP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en-US" altLang="zh-CN"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2</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Fold3D</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研发</a:t>
            </a:r>
            <a:r>
              <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All Forward All Backward</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AFAB</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高并行技术；比四个美国</a:t>
            </a:r>
            <a:r>
              <a:rPr lang="zh-CN" altLang="en-US" sz="1200" dirty="0">
                <a:latin typeface="微软雅黑" panose="020B0503020204020204" pitchFamily="34" charset="-122"/>
                <a:ea typeface="微软雅黑" panose="020B0503020204020204" pitchFamily="34" charset="-122"/>
              </a:rPr>
              <a:t>系统之</a:t>
            </a:r>
            <a:r>
              <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1F1B</a:t>
            </a:r>
            <a:r>
              <a:rPr lang="zh-CN" altLang="en-US" sz="1200" b="1" dirty="0">
                <a:latin typeface="微软雅黑" panose="020B0503020204020204" pitchFamily="34" charset="-122"/>
                <a:ea typeface="微软雅黑" panose="020B0503020204020204" pitchFamily="34" charset="-122"/>
              </a:rPr>
              <a:t>技术</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更先进；</a:t>
            </a:r>
            <a:endParaRPr kumimoji="0" lang="en-US" altLang="zh-CN"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a:lnSpc>
                <a:spcPct val="150000"/>
              </a:lnSpc>
              <a:defRPr/>
            </a:pP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3</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）在深圳某实验室，武汉超算中心等，商业落地了训练系统产品；去年，</a:t>
            </a:r>
            <a:r>
              <a:rPr lang="zh-CN" altLang="en-US" sz="1200" dirty="0">
                <a:latin typeface="微软雅黑" panose="020B0503020204020204" pitchFamily="34" charset="-122"/>
                <a:ea typeface="微软雅黑" panose="020B0503020204020204" pitchFamily="34" charset="-122"/>
              </a:rPr>
              <a:t>在深圳</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运行</a:t>
            </a:r>
            <a:r>
              <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3072</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个</a:t>
            </a:r>
            <a:r>
              <a:rPr lang="zh-CN" altLang="en-US" sz="1200" dirty="0">
                <a:latin typeface="微软雅黑" panose="020B0503020204020204" pitchFamily="34" charset="-122"/>
                <a:ea typeface="微软雅黑" panose="020B0503020204020204" pitchFamily="34" charset="-122"/>
              </a:rPr>
              <a:t>最新升腾</a:t>
            </a:r>
            <a:r>
              <a:rPr lang="en-US" altLang="zh-CN" sz="1200" dirty="0">
                <a:latin typeface="微软雅黑" panose="020B0503020204020204" pitchFamily="34" charset="-122"/>
                <a:ea typeface="微软雅黑" panose="020B0503020204020204" pitchFamily="34" charset="-122"/>
              </a:rPr>
              <a:t>910</a:t>
            </a:r>
            <a:r>
              <a:rPr lang="zh-CN" altLang="en-US" sz="1200" dirty="0">
                <a:latin typeface="微软雅黑" panose="020B0503020204020204" pitchFamily="34" charset="-122"/>
                <a:ea typeface="微软雅黑" panose="020B0503020204020204" pitchFamily="34" charset="-122"/>
              </a:rPr>
              <a:t>卡（盘古大模型）；比</a:t>
            </a:r>
            <a:r>
              <a:rPr lang="en-US" altLang="zh-CN" sz="1200" dirty="0" err="1">
                <a:latin typeface="微软雅黑" panose="020B0503020204020204" pitchFamily="34" charset="-122"/>
                <a:ea typeface="微软雅黑" panose="020B0503020204020204" pitchFamily="34" charset="-122"/>
              </a:rPr>
              <a:t>MindSpore</a:t>
            </a:r>
            <a:r>
              <a:rPr lang="zh-CN" altLang="en-US" sz="1200" dirty="0">
                <a:latin typeface="微软雅黑" panose="020B0503020204020204" pitchFamily="34" charset="-122"/>
                <a:ea typeface="微软雅黑" panose="020B0503020204020204" pitchFamily="34" charset="-122"/>
              </a:rPr>
              <a:t>中四个美国相关系统，在百卡千卡的所有已尝试三个维度的分配卡的配置，</a:t>
            </a:r>
            <a:r>
              <a:rPr lang="en-US" altLang="zh-CN" sz="1200" dirty="0">
                <a:latin typeface="微软雅黑" panose="020B0503020204020204" pitchFamily="34" charset="-122"/>
                <a:ea typeface="微软雅黑" panose="020B0503020204020204" pitchFamily="34" charset="-122"/>
              </a:rPr>
              <a:t>Fold3D</a:t>
            </a:r>
            <a:r>
              <a:rPr lang="zh-CN" altLang="en-US" sz="1200" dirty="0">
                <a:latin typeface="微软雅黑" panose="020B0503020204020204" pitchFamily="34" charset="-122"/>
                <a:ea typeface="微软雅黑" panose="020B0503020204020204" pitchFamily="34" charset="-122"/>
              </a:rPr>
              <a:t>训练系统吞吐量提升至少</a:t>
            </a:r>
            <a:r>
              <a:rPr lang="en-US" altLang="zh-CN" sz="1200" dirty="0">
                <a:latin typeface="微软雅黑" panose="020B0503020204020204" pitchFamily="34" charset="-122"/>
                <a:ea typeface="微软雅黑" panose="020B0503020204020204" pitchFamily="34" charset="-122"/>
              </a:rPr>
              <a:t>20%</a:t>
            </a:r>
            <a:r>
              <a:rPr lang="zh-CN" altLang="en-US" sz="1200" dirty="0">
                <a:latin typeface="微软雅黑" panose="020B0503020204020204" pitchFamily="34" charset="-122"/>
                <a:ea typeface="微软雅黑" panose="020B0503020204020204" pitchFamily="34" charset="-122"/>
              </a:rPr>
              <a:t>；某些三维配置，提升</a:t>
            </a:r>
            <a:r>
              <a:rPr lang="en-US" altLang="zh-CN" sz="1200" dirty="0">
                <a:latin typeface="微软雅黑" panose="020B0503020204020204" pitchFamily="34" charset="-122"/>
                <a:ea typeface="微软雅黑" panose="020B0503020204020204" pitchFamily="34" charset="-122"/>
              </a:rPr>
              <a:t>30~40%</a:t>
            </a:r>
            <a:r>
              <a:rPr lang="zh-CN" altLang="en-US" sz="1200"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由于训练性能加速，在</a:t>
            </a:r>
            <a:r>
              <a:rPr lang="en-US" altLang="zh-CN" sz="1200" b="1" dirty="0">
                <a:latin typeface="微软雅黑" panose="020B0503020204020204" pitchFamily="34" charset="-122"/>
                <a:ea typeface="微软雅黑" panose="020B0503020204020204" pitchFamily="34" charset="-122"/>
              </a:rPr>
              <a:t>3072</a:t>
            </a:r>
            <a:r>
              <a:rPr lang="zh-CN" altLang="en-US" sz="1200" b="1" dirty="0">
                <a:latin typeface="微软雅黑" panose="020B0503020204020204" pitchFamily="34" charset="-122"/>
                <a:ea typeface="微软雅黑" panose="020B0503020204020204" pitchFamily="34" charset="-122"/>
              </a:rPr>
              <a:t>张升腾</a:t>
            </a:r>
            <a:r>
              <a:rPr lang="en-US" altLang="zh-CN" sz="1200" b="1" dirty="0">
                <a:latin typeface="微软雅黑" panose="020B0503020204020204" pitchFamily="34" charset="-122"/>
                <a:ea typeface="微软雅黑" panose="020B0503020204020204" pitchFamily="34" charset="-122"/>
              </a:rPr>
              <a:t>910</a:t>
            </a:r>
            <a:r>
              <a:rPr lang="zh-CN" altLang="en-US" sz="1200" b="1" dirty="0">
                <a:latin typeface="微软雅黑" panose="020B0503020204020204" pitchFamily="34" charset="-122"/>
                <a:ea typeface="微软雅黑" panose="020B0503020204020204" pitchFamily="34" charset="-122"/>
              </a:rPr>
              <a:t>卡（每卡功耗约</a:t>
            </a:r>
            <a:r>
              <a:rPr lang="en-US" altLang="zh-CN" sz="1200" b="1" dirty="0">
                <a:latin typeface="微软雅黑" panose="020B0503020204020204" pitchFamily="34" charset="-122"/>
                <a:ea typeface="微软雅黑" panose="020B0503020204020204" pitchFamily="34" charset="-122"/>
              </a:rPr>
              <a:t>300</a:t>
            </a:r>
            <a:r>
              <a:rPr lang="zh-CN" altLang="en-US" sz="1200" b="1" dirty="0">
                <a:latin typeface="微软雅黑" panose="020B0503020204020204" pitchFamily="34" charset="-122"/>
                <a:ea typeface="微软雅黑" panose="020B0503020204020204" pitchFamily="34" charset="-122"/>
              </a:rPr>
              <a:t>瓦），完整预训练一个大模型（需耗时数周时间），可节约</a:t>
            </a:r>
            <a:r>
              <a:rPr lang="en-US" altLang="zh-CN" sz="1200" b="1" dirty="0">
                <a:latin typeface="微软雅黑" panose="020B0503020204020204" pitchFamily="34" charset="-122"/>
                <a:ea typeface="微软雅黑" panose="020B0503020204020204" pitchFamily="34" charset="-122"/>
              </a:rPr>
              <a:t>GPU</a:t>
            </a:r>
            <a:r>
              <a:rPr lang="zh-CN" altLang="en-US" sz="1200" b="1" dirty="0">
                <a:latin typeface="微软雅黑" panose="020B0503020204020204" pitchFamily="34" charset="-122"/>
                <a:ea typeface="微软雅黑" panose="020B0503020204020204" pitchFamily="34" charset="-122"/>
              </a:rPr>
              <a:t>电费约</a:t>
            </a:r>
            <a:r>
              <a:rPr lang="en-US" altLang="zh-CN" sz="1200" b="1" dirty="0">
                <a:latin typeface="微软雅黑" panose="020B0503020204020204" pitchFamily="34" charset="-122"/>
                <a:ea typeface="微软雅黑" panose="020B0503020204020204" pitchFamily="34" charset="-122"/>
              </a:rPr>
              <a:t>400</a:t>
            </a:r>
            <a:r>
              <a:rPr lang="zh-CN" altLang="en-US" sz="1200" b="1" dirty="0">
                <a:latin typeface="微软雅黑" panose="020B0503020204020204" pitchFamily="34" charset="-122"/>
                <a:ea typeface="微软雅黑" panose="020B0503020204020204" pitchFamily="34" charset="-122"/>
              </a:rPr>
              <a:t>万人民币；</a:t>
            </a:r>
            <a:endParaRPr lang="en-US" altLang="zh-CN" sz="1200" b="1" dirty="0">
              <a:latin typeface="微软雅黑" panose="020B0503020204020204" pitchFamily="34" charset="-122"/>
              <a:ea typeface="微软雅黑" panose="020B0503020204020204" pitchFamily="34" charset="-122"/>
            </a:endParaRPr>
          </a:p>
          <a:p>
            <a:pPr>
              <a:lnSpc>
                <a:spcPct val="150000"/>
              </a:lnSpc>
              <a:defRPr/>
            </a:pP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4</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en-US" altLang="zh-CN"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Fold(3D)</a:t>
            </a:r>
            <a:r>
              <a:rPr kumimoji="0" lang="en-US" altLang="zh-CN" sz="120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rPr>
              <a:t>PipelineTransformer</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系统，我国加速器芯片市场</a:t>
            </a:r>
            <a:r>
              <a:rPr kumimoji="0" lang="en-US" altLang="zh-CN"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60%</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千亿人民币级别</a:t>
            </a:r>
            <a:r>
              <a:rPr kumimoji="0" lang="zh-CN" altLang="en-US" sz="12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，华为），</a:t>
            </a:r>
            <a:r>
              <a:rPr kumimoji="0" lang="zh-CN" altLang="en-US"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有</a:t>
            </a:r>
            <a:r>
              <a:rPr lang="zh-CN" altLang="en-US" sz="1200" b="1" dirty="0">
                <a:latin typeface="微软雅黑" panose="020B0503020204020204" pitchFamily="34" charset="-122"/>
                <a:ea typeface="微软雅黑" panose="020B0503020204020204" pitchFamily="34" charset="-122"/>
              </a:rPr>
              <a:t>些影响力。</a:t>
            </a:r>
            <a:endPar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 name="内容占位符 2">
            <a:extLst>
              <a:ext uri="{FF2B5EF4-FFF2-40B4-BE49-F238E27FC236}">
                <a16:creationId xmlns:a16="http://schemas.microsoft.com/office/drawing/2014/main" id="{E8898633-C2AB-AA84-7BB9-D9E99466848B}"/>
              </a:ext>
            </a:extLst>
          </p:cNvPr>
          <p:cNvSpPr>
            <a:spLocks noGrp="1"/>
          </p:cNvSpPr>
          <p:nvPr/>
        </p:nvSpPr>
        <p:spPr bwMode="auto">
          <a:xfrm>
            <a:off x="8668" y="1093879"/>
            <a:ext cx="12082280" cy="5601829"/>
          </a:xfrm>
          <a:prstGeom prst="rect">
            <a:avLst/>
          </a:prstGeom>
          <a:noFill/>
          <a:ln w="9525">
            <a:noFill/>
            <a:miter lim="800000"/>
          </a:ln>
        </p:spPr>
        <p:txBody>
          <a:bodyPr vert="horz" wrap="square" lIns="78270" tIns="39135" rIns="78270" bIns="39135" numCol="1" anchor="t" anchorCtr="0" compatLnSpc="1"/>
          <a:lstStyle>
            <a:lvl1pPr marL="252730" indent="-252730" algn="l" defTabSz="671830" rtl="0" eaLnBrk="1" fontAlgn="base" hangingPunct="1">
              <a:lnSpc>
                <a:spcPct val="140000"/>
              </a:lnSpc>
              <a:spcBef>
                <a:spcPct val="1"/>
              </a:spcBef>
              <a:spcAft>
                <a:spcPct val="1"/>
              </a:spcAft>
              <a:buFont typeface="Wingdings" panose="05000000000000000000" pitchFamily="2" charset="2"/>
              <a:buChar char="n"/>
              <a:defRPr sz="2000" b="1">
                <a:solidFill>
                  <a:schemeClr val="tx1"/>
                </a:solidFill>
                <a:latin typeface="+mn-lt"/>
                <a:ea typeface="+mn-ea"/>
                <a:cs typeface="+mn-cs"/>
              </a:defRPr>
            </a:lvl1pPr>
            <a:lvl2pPr marL="546100" indent="-209550" algn="l" defTabSz="671830" rtl="0" eaLnBrk="1" fontAlgn="base" hangingPunct="1">
              <a:lnSpc>
                <a:spcPct val="140000"/>
              </a:lnSpc>
              <a:spcBef>
                <a:spcPct val="1"/>
              </a:spcBef>
              <a:spcAft>
                <a:spcPct val="1"/>
              </a:spcAft>
              <a:buChar char="–"/>
              <a:defRPr sz="1800">
                <a:solidFill>
                  <a:schemeClr val="tx1"/>
                </a:solidFill>
                <a:latin typeface="+mn-lt"/>
                <a:ea typeface="+mn-ea"/>
              </a:defRPr>
            </a:lvl2pPr>
            <a:lvl3pPr marL="840105" indent="-168275" algn="l" defTabSz="671830" rtl="0" eaLnBrk="1" fontAlgn="base" hangingPunct="1">
              <a:lnSpc>
                <a:spcPct val="140000"/>
              </a:lnSpc>
              <a:spcBef>
                <a:spcPct val="1"/>
              </a:spcBef>
              <a:spcAft>
                <a:spcPct val="1"/>
              </a:spcAft>
              <a:buChar char="•"/>
              <a:defRPr sz="1800">
                <a:solidFill>
                  <a:schemeClr val="tx1"/>
                </a:solidFill>
                <a:latin typeface="+mn-lt"/>
                <a:ea typeface="+mn-ea"/>
              </a:defRPr>
            </a:lvl3pPr>
            <a:lvl4pPr marL="1174750" indent="-168275" algn="l" defTabSz="671830" rtl="0" eaLnBrk="1" fontAlgn="base" hangingPunct="1">
              <a:lnSpc>
                <a:spcPct val="140000"/>
              </a:lnSpc>
              <a:spcBef>
                <a:spcPct val="1"/>
              </a:spcBef>
              <a:spcAft>
                <a:spcPct val="1"/>
              </a:spcAft>
              <a:buChar char="–"/>
              <a:defRPr sz="1800">
                <a:solidFill>
                  <a:schemeClr val="tx1"/>
                </a:solidFill>
                <a:latin typeface="+mn-lt"/>
                <a:ea typeface="+mn-ea"/>
              </a:defRPr>
            </a:lvl4pPr>
            <a:lvl5pPr marL="1510030" indent="-167005" algn="l" defTabSz="671830" rtl="0" eaLnBrk="1" fontAlgn="base" hangingPunct="1">
              <a:lnSpc>
                <a:spcPct val="140000"/>
              </a:lnSpc>
              <a:spcBef>
                <a:spcPct val="1"/>
              </a:spcBef>
              <a:spcAft>
                <a:spcPct val="1"/>
              </a:spcAft>
              <a:buChar char="»"/>
              <a:defRPr sz="1800">
                <a:solidFill>
                  <a:schemeClr val="tx1"/>
                </a:solidFill>
                <a:latin typeface="+mn-lt"/>
                <a:ea typeface="+mn-ea"/>
              </a:defRPr>
            </a:lvl5pPr>
            <a:lvl6pPr marL="1967230" indent="-167005" algn="l" defTabSz="671830" rtl="0" eaLnBrk="1" fontAlgn="base" hangingPunct="1">
              <a:lnSpc>
                <a:spcPct val="140000"/>
              </a:lnSpc>
              <a:spcBef>
                <a:spcPct val="1"/>
              </a:spcBef>
              <a:spcAft>
                <a:spcPct val="1"/>
              </a:spcAft>
              <a:buChar char="»"/>
              <a:defRPr sz="1900">
                <a:solidFill>
                  <a:schemeClr val="tx1"/>
                </a:solidFill>
                <a:latin typeface="+mn-lt"/>
                <a:ea typeface="+mn-ea"/>
              </a:defRPr>
            </a:lvl6pPr>
            <a:lvl7pPr marL="2424430" indent="-167005" algn="l" defTabSz="671830" rtl="0" eaLnBrk="1" fontAlgn="base" hangingPunct="1">
              <a:lnSpc>
                <a:spcPct val="140000"/>
              </a:lnSpc>
              <a:spcBef>
                <a:spcPct val="1"/>
              </a:spcBef>
              <a:spcAft>
                <a:spcPct val="1"/>
              </a:spcAft>
              <a:buChar char="»"/>
              <a:defRPr sz="1900">
                <a:solidFill>
                  <a:schemeClr val="tx1"/>
                </a:solidFill>
                <a:latin typeface="+mn-lt"/>
                <a:ea typeface="+mn-ea"/>
              </a:defRPr>
            </a:lvl7pPr>
            <a:lvl8pPr marL="2881630" indent="-167005" algn="l" defTabSz="671830" rtl="0" eaLnBrk="1" fontAlgn="base" hangingPunct="1">
              <a:lnSpc>
                <a:spcPct val="140000"/>
              </a:lnSpc>
              <a:spcBef>
                <a:spcPct val="1"/>
              </a:spcBef>
              <a:spcAft>
                <a:spcPct val="1"/>
              </a:spcAft>
              <a:buChar char="»"/>
              <a:defRPr sz="1900">
                <a:solidFill>
                  <a:schemeClr val="tx1"/>
                </a:solidFill>
                <a:latin typeface="+mn-lt"/>
                <a:ea typeface="+mn-ea"/>
              </a:defRPr>
            </a:lvl8pPr>
            <a:lvl9pPr marL="3338830" indent="-167005" algn="l" defTabSz="671830" rtl="0" eaLnBrk="1" fontAlgn="base" hangingPunct="1">
              <a:lnSpc>
                <a:spcPct val="140000"/>
              </a:lnSpc>
              <a:spcBef>
                <a:spcPct val="1"/>
              </a:spcBef>
              <a:spcAft>
                <a:spcPct val="1"/>
              </a:spcAft>
              <a:buChar char="»"/>
              <a:defRPr sz="1900">
                <a:solidFill>
                  <a:schemeClr val="tx1"/>
                </a:solidFill>
                <a:latin typeface="+mn-lt"/>
                <a:ea typeface="+mn-ea"/>
              </a:defRPr>
            </a:lvl9pPr>
          </a:lstStyle>
          <a:p>
            <a:r>
              <a:rPr kumimoji="1" lang="zh-CN" altLang="en-US" sz="1600" dirty="0">
                <a:ea typeface="PingFang SC Medium" panose="020B0400000000000000" pitchFamily="34" charset="-122"/>
              </a:rPr>
              <a:t>我们的“千枚万枚加速卡 三维并行训练系统软件” </a:t>
            </a:r>
            <a:r>
              <a:rPr kumimoji="1" lang="en-US" altLang="zh-CN" sz="1600" dirty="0">
                <a:ea typeface="PingFang SC Medium" panose="020B0400000000000000" pitchFamily="34" charset="-122"/>
              </a:rPr>
              <a:t>Fold3D</a:t>
            </a:r>
            <a:r>
              <a:rPr kumimoji="1" lang="zh-CN" altLang="en-US" sz="1600" dirty="0">
                <a:ea typeface="PingFang SC Medium" panose="020B0400000000000000" pitchFamily="34" charset="-122"/>
              </a:rPr>
              <a:t>成为</a:t>
            </a:r>
            <a:r>
              <a:rPr kumimoji="1" lang="en-US" altLang="zh-CN" sz="1600" dirty="0" err="1">
                <a:ea typeface="PingFang SC Medium" panose="020B0400000000000000" pitchFamily="34" charset="-122"/>
              </a:rPr>
              <a:t>MindSpore</a:t>
            </a:r>
            <a:r>
              <a:rPr kumimoji="1" lang="zh-CN" altLang="en-US" sz="1600" dirty="0">
                <a:ea typeface="PingFang SC Medium" panose="020B0400000000000000" pitchFamily="34" charset="-122"/>
              </a:rPr>
              <a:t>里世界先进的并行训练子系统（原创技术</a:t>
            </a:r>
            <a:r>
              <a:rPr kumimoji="1" lang="en-US" altLang="zh-CN" sz="1600" dirty="0">
                <a:ea typeface="PingFang SC Medium" panose="020B0400000000000000" pitchFamily="34" charset="-122"/>
              </a:rPr>
              <a:t>All F All B</a:t>
            </a:r>
            <a:r>
              <a:rPr kumimoji="1" lang="zh-CN" altLang="en-US" sz="1600" dirty="0">
                <a:ea typeface="PingFang SC Medium" panose="020B0400000000000000" pitchFamily="34" charset="-122"/>
              </a:rPr>
              <a:t>）</a:t>
            </a:r>
          </a:p>
          <a:p>
            <a:pPr lvl="1"/>
            <a:r>
              <a:rPr kumimoji="1" lang="zh-CN" altLang="en-US" sz="1400" dirty="0">
                <a:ea typeface="PingFang SC Medium" panose="020B0400000000000000" pitchFamily="34" charset="-122"/>
              </a:rPr>
              <a:t>我的博士生发表论文</a:t>
            </a:r>
            <a:r>
              <a:rPr kumimoji="1" lang="en-US" altLang="zh-CN" sz="1400" dirty="0">
                <a:ea typeface="PingFang SC Medium" panose="020B0400000000000000" pitchFamily="34" charset="-122"/>
              </a:rPr>
              <a:t>[Fold3D TPDS 2023] [</a:t>
            </a:r>
            <a:r>
              <a:rPr kumimoji="1" lang="en-US" altLang="zh-CN" sz="1400" dirty="0" err="1">
                <a:ea typeface="PingFang SC Medium" panose="020B0400000000000000" pitchFamily="34" charset="-122"/>
              </a:rPr>
              <a:t>PipeMesh</a:t>
            </a:r>
            <a:r>
              <a:rPr kumimoji="1" lang="en-US" altLang="zh-CN" sz="1400" dirty="0">
                <a:ea typeface="PingFang SC Medium" panose="020B0400000000000000" pitchFamily="34" charset="-122"/>
              </a:rPr>
              <a:t> TPDS 2025</a:t>
            </a:r>
            <a:r>
              <a:rPr kumimoji="1" lang="zh-CN" altLang="en-US" sz="1400" dirty="0">
                <a:ea typeface="PingFang SC Medium" panose="020B0400000000000000" pitchFamily="34" charset="-122"/>
              </a:rPr>
              <a:t>，</a:t>
            </a:r>
            <a:r>
              <a:rPr kumimoji="1" lang="en-US" altLang="zh-CN" sz="1400" dirty="0">
                <a:ea typeface="PingFang SC Medium" panose="020B0400000000000000" pitchFamily="34" charset="-122"/>
              </a:rPr>
              <a:t>minor revision</a:t>
            </a:r>
            <a:r>
              <a:rPr kumimoji="1" lang="zh-CN" altLang="en-US" sz="1400" dirty="0">
                <a:ea typeface="PingFang SC Medium" panose="020B0400000000000000" pitchFamily="34" charset="-122"/>
              </a:rPr>
              <a:t>中</a:t>
            </a:r>
            <a:r>
              <a:rPr kumimoji="1" lang="en-US" altLang="zh-CN" sz="1400" dirty="0">
                <a:ea typeface="PingFang SC Medium" panose="020B0400000000000000" pitchFamily="34" charset="-122"/>
              </a:rPr>
              <a:t>]</a:t>
            </a:r>
            <a:r>
              <a:rPr kumimoji="1" lang="zh-CN" altLang="en-US" sz="1400" dirty="0">
                <a:ea typeface="PingFang SC Medium" panose="020B0400000000000000" pitchFamily="34" charset="-122"/>
              </a:rPr>
              <a:t>；</a:t>
            </a:r>
            <a:r>
              <a:rPr kumimoji="1" lang="zh-CN" altLang="en-US" sz="1400" b="1" dirty="0">
                <a:ea typeface="PingFang SC Medium" panose="020B0400000000000000" pitchFamily="34" charset="-122"/>
              </a:rPr>
              <a:t>成为</a:t>
            </a:r>
            <a:r>
              <a:rPr kumimoji="1" lang="en-US" altLang="zh-CN" sz="1400" b="1" dirty="0" err="1">
                <a:ea typeface="PingFang SC Medium" panose="020B0400000000000000" pitchFamily="34" charset="-122"/>
              </a:rPr>
              <a:t>MindSpore</a:t>
            </a:r>
            <a:r>
              <a:rPr kumimoji="1" lang="zh-CN" altLang="en-US" sz="1400" b="1" dirty="0">
                <a:ea typeface="PingFang SC Medium" panose="020B0400000000000000" pitchFamily="34" charset="-122"/>
              </a:rPr>
              <a:t>最主力的</a:t>
            </a:r>
            <a:r>
              <a:rPr kumimoji="1" lang="en-US" altLang="zh-CN" sz="1400" b="1" dirty="0" err="1">
                <a:ea typeface="PingFang SC Medium" panose="020B0400000000000000" pitchFamily="34" charset="-122"/>
              </a:rPr>
              <a:t>FoldPipelineTransformer</a:t>
            </a:r>
            <a:r>
              <a:rPr kumimoji="1" lang="zh-CN" altLang="en-US" sz="1400" b="1" dirty="0">
                <a:ea typeface="PingFang SC Medium" panose="020B0400000000000000" pitchFamily="34" charset="-122"/>
              </a:rPr>
              <a:t>系统；</a:t>
            </a:r>
            <a:endParaRPr kumimoji="1" lang="en-US" altLang="zh-CN" sz="1400" b="1" dirty="0">
              <a:ea typeface="PingFang SC Medium" panose="020B0400000000000000" pitchFamily="34" charset="-122"/>
            </a:endParaRPr>
          </a:p>
          <a:p>
            <a:pPr lvl="1"/>
            <a:r>
              <a:rPr kumimoji="1" lang="en-US" altLang="zh-CN" sz="1400" dirty="0" err="1">
                <a:ea typeface="PingFang SC Medium" panose="020B0400000000000000" pitchFamily="34" charset="-122"/>
              </a:rPr>
              <a:t>MindSpore</a:t>
            </a:r>
            <a:r>
              <a:rPr kumimoji="1" lang="zh-CN" altLang="en-US" sz="1400" dirty="0">
                <a:ea typeface="PingFang SC Medium" panose="020B0400000000000000" pitchFamily="34" charset="-122"/>
              </a:rPr>
              <a:t>其他四个并行训练子系统</a:t>
            </a:r>
            <a:r>
              <a:rPr kumimoji="1" lang="en-US" altLang="zh-CN" sz="1400" dirty="0">
                <a:ea typeface="PingFang SC Medium" panose="020B0400000000000000" pitchFamily="34" charset="-122"/>
              </a:rPr>
              <a:t>·</a:t>
            </a:r>
            <a:r>
              <a:rPr kumimoji="1" lang="zh-CN" altLang="en-US" sz="1400" dirty="0">
                <a:ea typeface="PingFang SC Medium" panose="020B0400000000000000" pitchFamily="34" charset="-122"/>
              </a:rPr>
              <a:t>，采纳美国的相关并行训练子系统（包括微软</a:t>
            </a:r>
            <a:r>
              <a:rPr kumimoji="1" lang="en-US" altLang="zh-CN" sz="1400" dirty="0">
                <a:ea typeface="PingFang SC Medium" panose="020B0400000000000000" pitchFamily="34" charset="-122"/>
              </a:rPr>
              <a:t>/</a:t>
            </a:r>
            <a:r>
              <a:rPr kumimoji="1" lang="zh-CN" altLang="en-US" sz="1400" dirty="0">
                <a:ea typeface="PingFang SC Medium" panose="020B0400000000000000" pitchFamily="34" charset="-122"/>
              </a:rPr>
              <a:t>英伟达</a:t>
            </a:r>
            <a:r>
              <a:rPr kumimoji="1" lang="en-US" altLang="zh-CN" sz="1400" dirty="0">
                <a:ea typeface="PingFang SC Medium" panose="020B0400000000000000" pitchFamily="34" charset="-122"/>
              </a:rPr>
              <a:t>/</a:t>
            </a:r>
            <a:r>
              <a:rPr kumimoji="1" lang="zh-CN" altLang="en-US" sz="1400" dirty="0">
                <a:ea typeface="PingFang SC Medium" panose="020B0400000000000000" pitchFamily="34" charset="-122"/>
              </a:rPr>
              <a:t>斯坦福</a:t>
            </a:r>
            <a:r>
              <a:rPr kumimoji="1" lang="en-US" altLang="zh-CN" sz="1400" dirty="0">
                <a:ea typeface="PingFang SC Medium" panose="020B0400000000000000" pitchFamily="34" charset="-122"/>
              </a:rPr>
              <a:t>/Google</a:t>
            </a:r>
            <a:r>
              <a:rPr kumimoji="1" lang="zh-CN" altLang="en-US" sz="1400" dirty="0">
                <a:ea typeface="PingFang SC Medium" panose="020B0400000000000000" pitchFamily="34" charset="-122"/>
              </a:rPr>
              <a:t>的</a:t>
            </a:r>
            <a:r>
              <a:rPr kumimoji="1" lang="en-US" altLang="zh-CN" sz="1400" dirty="0">
                <a:ea typeface="PingFang SC Medium" panose="020B0400000000000000" pitchFamily="34" charset="-122"/>
              </a:rPr>
              <a:t>Megatron/</a:t>
            </a:r>
            <a:r>
              <a:rPr kumimoji="1" lang="en-US" altLang="zh-CN" sz="1400" dirty="0" err="1">
                <a:ea typeface="PingFang SC Medium" panose="020B0400000000000000" pitchFamily="34" charset="-122"/>
              </a:rPr>
              <a:t>Gpipe</a:t>
            </a:r>
            <a:r>
              <a:rPr kumimoji="1" lang="en-US" altLang="zh-CN" sz="1400" dirty="0">
                <a:ea typeface="PingFang SC Medium" panose="020B0400000000000000" pitchFamily="34" charset="-122"/>
              </a:rPr>
              <a:t>/Pipedream</a:t>
            </a:r>
            <a:r>
              <a:rPr kumimoji="1" lang="zh-CN" altLang="en-US" sz="1400" dirty="0">
                <a:ea typeface="PingFang SC Medium" panose="020B0400000000000000" pitchFamily="34" charset="-122"/>
              </a:rPr>
              <a:t>，</a:t>
            </a:r>
            <a:r>
              <a:rPr kumimoji="1" lang="en-US" altLang="zh-CN" sz="1400" dirty="0">
                <a:ea typeface="PingFang SC Medium" panose="020B0400000000000000" pitchFamily="34" charset="-122"/>
              </a:rPr>
              <a:t>1F1B</a:t>
            </a:r>
            <a:r>
              <a:rPr kumimoji="1" lang="zh-CN" altLang="en-US" sz="1400" dirty="0">
                <a:ea typeface="PingFang SC Medium" panose="020B0400000000000000" pitchFamily="34" charset="-122"/>
              </a:rPr>
              <a:t>）；</a:t>
            </a:r>
            <a:endParaRPr kumimoji="1" lang="en-US" altLang="zh-CN" sz="1400" dirty="0">
              <a:ea typeface="PingFang SC Medium" panose="020B0400000000000000" pitchFamily="34" charset="-122"/>
            </a:endParaRPr>
          </a:p>
          <a:p>
            <a:pPr lvl="1"/>
            <a:r>
              <a:rPr kumimoji="1" lang="zh-CN" altLang="en-US" sz="1400" dirty="0">
                <a:ea typeface="PingFang SC Medium" panose="020B0400000000000000" pitchFamily="34" charset="-122"/>
              </a:rPr>
              <a:t>总之，我们的训练系统支持国产最先进（华为升腾</a:t>
            </a:r>
            <a:r>
              <a:rPr kumimoji="1" lang="en-US" altLang="zh-CN" sz="1400" dirty="0">
                <a:ea typeface="PingFang SC Medium" panose="020B0400000000000000" pitchFamily="34" charset="-122"/>
              </a:rPr>
              <a:t>910</a:t>
            </a:r>
            <a:r>
              <a:rPr kumimoji="1" lang="zh-CN" altLang="en-US" sz="1400" dirty="0">
                <a:ea typeface="PingFang SC Medium" panose="020B0400000000000000" pitchFamily="34" charset="-122"/>
              </a:rPr>
              <a:t>）训练卡和英伟达；</a:t>
            </a:r>
            <a:r>
              <a:rPr kumimoji="1" lang="zh-CN" altLang="en-US" sz="1400" b="1" dirty="0">
                <a:ea typeface="PingFang SC Medium" panose="020B0400000000000000" pitchFamily="34" charset="-122"/>
              </a:rPr>
              <a:t>即使美国将来制裁，我们也可帮助支撑 国家相关科研和产业 继续进步。</a:t>
            </a:r>
            <a:endParaRPr kumimoji="1" lang="en-US" altLang="zh-CN" sz="1400" b="1" dirty="0">
              <a:ea typeface="PingFang SC Medium" panose="020B0400000000000000" pitchFamily="34" charset="-122"/>
            </a:endParaRPr>
          </a:p>
        </p:txBody>
      </p:sp>
    </p:spTree>
    <p:extLst>
      <p:ext uri="{BB962C8B-B14F-4D97-AF65-F5344CB8AC3E}">
        <p14:creationId xmlns:p14="http://schemas.microsoft.com/office/powerpoint/2010/main" val="516763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C98AF-0CCB-C3EE-67BB-0B1A119C4191}"/>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97CFEEB4-26E2-C5C0-469E-060BF055749B}"/>
              </a:ext>
            </a:extLst>
          </p:cNvPr>
          <p:cNvSpPr txBox="1"/>
          <p:nvPr/>
        </p:nvSpPr>
        <p:spPr bwMode="gray">
          <a:xfrm>
            <a:off x="409377" y="472478"/>
            <a:ext cx="11408249" cy="424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noAutofit/>
          </a:bodyPr>
          <a:lstStyle>
            <a:lvl1pPr marL="0" indent="0" algn="l" rtl="0" eaLnBrk="1" fontAlgn="base" hangingPunct="1">
              <a:spcBef>
                <a:spcPts val="0"/>
              </a:spcBef>
              <a:spcAft>
                <a:spcPct val="0"/>
              </a:spcAft>
              <a:buNone/>
              <a:defRPr sz="2800">
                <a:solidFill>
                  <a:schemeClr val="tx2"/>
                </a:solidFill>
                <a:latin typeface="+mn-lt"/>
                <a:ea typeface="+mn-ea"/>
                <a:cs typeface="+mn-cs"/>
                <a:sym typeface="Arial" panose="020B0604020202020204"/>
              </a:defRPr>
            </a:lvl1pPr>
            <a:lvl2pPr marL="0" indent="0" algn="l" rtl="0" eaLnBrk="1" fontAlgn="base" hangingPunct="1">
              <a:spcBef>
                <a:spcPts val="0"/>
              </a:spcBef>
              <a:spcAft>
                <a:spcPct val="0"/>
              </a:spcAft>
              <a:buFont typeface="Arial" panose="020B0604020202020204" pitchFamily="34" charset="0"/>
              <a:buNone/>
              <a:defRPr sz="2800">
                <a:solidFill>
                  <a:schemeClr val="accent1"/>
                </a:solidFill>
                <a:latin typeface="+mn-lt"/>
                <a:cs typeface="+mn-cs"/>
                <a:sym typeface="Arial" panose="020B0604020202020204"/>
              </a:defRPr>
            </a:lvl2pPr>
            <a:lvl3pPr marL="516255" indent="-171450"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3pPr>
            <a:lvl4pPr marL="684530" indent="-16700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4pPr>
            <a:lvl5pPr marL="8591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5pPr>
            <a:lvl6pPr marL="13163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6pPr>
            <a:lvl7pPr marL="17735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7pPr>
            <a:lvl8pPr marL="22307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8pPr>
            <a:lvl9pPr marL="26879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9pPr>
          </a:lstStyle>
          <a:p>
            <a:pPr>
              <a:spcBef>
                <a:spcPct val="60000"/>
              </a:spcBef>
              <a:defRPr/>
            </a:pPr>
            <a:r>
              <a:rPr lang="zh-CN" altLang="en-US" sz="3200" b="1" kern="0" dirty="0">
                <a:solidFill>
                  <a:srgbClr val="0339A6"/>
                </a:solidFill>
                <a:latin typeface="微软雅黑" panose="020B0503020204020204" pitchFamily="34" charset="-122"/>
                <a:ea typeface="微软雅黑" panose="020B0503020204020204" pitchFamily="34" charset="-122"/>
              </a:rPr>
              <a:t>本报告成果预览（</a:t>
            </a:r>
            <a:r>
              <a:rPr lang="en-US" altLang="zh-CN" sz="3200" b="1" kern="0" dirty="0">
                <a:solidFill>
                  <a:srgbClr val="0339A6"/>
                </a:solidFill>
                <a:latin typeface="微软雅黑" panose="020B0503020204020204" pitchFamily="34" charset="-122"/>
                <a:ea typeface="微软雅黑" panose="020B0503020204020204" pitchFamily="34" charset="-122"/>
              </a:rPr>
              <a:t>2/2</a:t>
            </a:r>
            <a:r>
              <a:rPr lang="zh-CN" altLang="en-US" sz="3200" b="1" kern="0" dirty="0">
                <a:solidFill>
                  <a:srgbClr val="0339A6"/>
                </a:solidFill>
                <a:latin typeface="微软雅黑" panose="020B0503020204020204" pitchFamily="34" charset="-122"/>
                <a:ea typeface="微软雅黑" panose="020B0503020204020204" pitchFamily="34" charset="-122"/>
              </a:rPr>
              <a:t>）：软件支持美国英伟达芯片，也产业化</a:t>
            </a:r>
            <a:endParaRPr lang="zh-CN" altLang="en-US" sz="3200" b="1" kern="0" dirty="0">
              <a:solidFill>
                <a:srgbClr val="C00000"/>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7CAB9292-3D3E-4596-C6D3-0364A8DF1674}"/>
              </a:ext>
            </a:extLst>
          </p:cNvPr>
          <p:cNvSpPr/>
          <p:nvPr>
            <p:custDataLst>
              <p:tags r:id="rId1"/>
            </p:custDataLst>
          </p:nvPr>
        </p:nvSpPr>
        <p:spPr>
          <a:xfrm>
            <a:off x="0" y="1027030"/>
            <a:ext cx="12192000" cy="655862"/>
          </a:xfrm>
          <a:prstGeom prst="rect">
            <a:avLst/>
          </a:prstGeom>
          <a:solidFill>
            <a:schemeClr val="accent5">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97">
            <a:extLst>
              <a:ext uri="{FF2B5EF4-FFF2-40B4-BE49-F238E27FC236}">
                <a16:creationId xmlns:a16="http://schemas.microsoft.com/office/drawing/2014/main" id="{514FA21F-E169-15E0-925D-C04CEEA13CD7}"/>
              </a:ext>
            </a:extLst>
          </p:cNvPr>
          <p:cNvSpPr txBox="1"/>
          <p:nvPr>
            <p:custDataLst>
              <p:tags r:id="rId2"/>
            </p:custDataLst>
          </p:nvPr>
        </p:nvSpPr>
        <p:spPr>
          <a:xfrm>
            <a:off x="180069" y="1269491"/>
            <a:ext cx="11742420" cy="1087477"/>
          </a:xfrm>
          <a:prstGeom prst="rect">
            <a:avLst/>
          </a:prstGeom>
          <a:noFill/>
        </p:spPr>
        <p:txBody>
          <a:bodyPr wrap="square" anchor="ctr">
            <a:spAutoFit/>
          </a:bodyPr>
          <a:lstStyle/>
          <a:p>
            <a:pPr marL="342900" indent="-342900">
              <a:spcBef>
                <a:spcPts val="10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rPr>
              <a:t>我们大模型训练系统研发的思路：“两条腿走路”</a:t>
            </a:r>
            <a:endParaRPr lang="en-US" altLang="zh-CN" sz="1600" b="1" dirty="0">
              <a:solidFill>
                <a:srgbClr val="002060"/>
              </a:solidFill>
              <a:latin typeface="微软雅黑" panose="020B0503020204020204" pitchFamily="34" charset="-122"/>
              <a:ea typeface="微软雅黑" panose="020B0503020204020204" pitchFamily="34" charset="-122"/>
            </a:endParaRPr>
          </a:p>
          <a:p>
            <a:pPr marL="342900" indent="-342900">
              <a:spcBef>
                <a:spcPts val="10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rPr>
              <a:t>整合至华为</a:t>
            </a:r>
            <a:r>
              <a:rPr lang="en-US" altLang="zh-CN" sz="1600" b="1" dirty="0" err="1">
                <a:solidFill>
                  <a:srgbClr val="002060"/>
                </a:solidFill>
                <a:latin typeface="微软雅黑" panose="020B0503020204020204" pitchFamily="34" charset="-122"/>
                <a:ea typeface="微软雅黑" panose="020B0503020204020204" pitchFamily="34" charset="-122"/>
              </a:rPr>
              <a:t>AscendSpeed</a:t>
            </a:r>
            <a:r>
              <a:rPr lang="zh-CN" altLang="en-US" sz="1600" b="1" dirty="0">
                <a:solidFill>
                  <a:srgbClr val="002060"/>
                </a:solidFill>
                <a:latin typeface="微软雅黑" panose="020B0503020204020204" pitchFamily="34" charset="-122"/>
                <a:ea typeface="微软雅黑" panose="020B0503020204020204" pitchFamily="34" charset="-122"/>
              </a:rPr>
              <a:t>框架</a:t>
            </a:r>
            <a:endParaRPr lang="en-US" altLang="zh-CN" sz="1600" b="1" dirty="0">
              <a:solidFill>
                <a:srgbClr val="002060"/>
              </a:solidFill>
              <a:latin typeface="微软雅黑" panose="020B0503020204020204" pitchFamily="34" charset="-122"/>
              <a:ea typeface="微软雅黑" panose="020B0503020204020204" pitchFamily="34" charset="-122"/>
            </a:endParaRPr>
          </a:p>
          <a:p>
            <a:pPr marL="342900" indent="-342900">
              <a:spcBef>
                <a:spcPts val="10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rPr>
              <a:t>支持国内外典型的宽长（</a:t>
            </a:r>
            <a:r>
              <a:rPr lang="en-US" altLang="zh-CN" sz="1600" b="1" dirty="0">
                <a:solidFill>
                  <a:srgbClr val="002060"/>
                </a:solidFill>
                <a:latin typeface="微软雅黑" panose="020B0503020204020204" pitchFamily="34" charset="-122"/>
                <a:ea typeface="微软雅黑" panose="020B0503020204020204" pitchFamily="34" charset="-122"/>
              </a:rPr>
              <a:t>Transformer</a:t>
            </a:r>
            <a:r>
              <a:rPr lang="zh-CN" altLang="en-US" sz="1600" b="1" dirty="0">
                <a:solidFill>
                  <a:srgbClr val="002060"/>
                </a:solidFill>
                <a:latin typeface="微软雅黑" panose="020B0503020204020204" pitchFamily="34" charset="-122"/>
                <a:ea typeface="微软雅黑" panose="020B0503020204020204" pitchFamily="34" charset="-122"/>
              </a:rPr>
              <a:t>）大模型</a:t>
            </a:r>
            <a:endParaRPr lang="en-US" altLang="zh-CN" sz="1600" b="1" dirty="0">
              <a:solidFill>
                <a:srgbClr val="002060"/>
              </a:solidFill>
              <a:latin typeface="微软雅黑" panose="020B0503020204020204" pitchFamily="34" charset="-122"/>
              <a:ea typeface="微软雅黑" panose="020B0503020204020204" pitchFamily="34" charset="-122"/>
            </a:endParaRPr>
          </a:p>
        </p:txBody>
      </p:sp>
      <p:sp>
        <p:nvSpPr>
          <p:cNvPr id="8" name="文本框 9">
            <a:extLst>
              <a:ext uri="{FF2B5EF4-FFF2-40B4-BE49-F238E27FC236}">
                <a16:creationId xmlns:a16="http://schemas.microsoft.com/office/drawing/2014/main" id="{8E97E88F-AEE8-4859-9B99-2664A68D6408}"/>
              </a:ext>
            </a:extLst>
          </p:cNvPr>
          <p:cNvSpPr txBox="1"/>
          <p:nvPr/>
        </p:nvSpPr>
        <p:spPr>
          <a:xfrm>
            <a:off x="214630" y="2572800"/>
            <a:ext cx="4720273" cy="458908"/>
          </a:xfrm>
          <a:prstGeom prst="rect">
            <a:avLst/>
          </a:prstGeom>
          <a:noFill/>
        </p:spPr>
        <p:txBody>
          <a:bodyPr wrap="square">
            <a:spAutoFit/>
          </a:bodyPr>
          <a:lstStyle/>
          <a:p>
            <a:pPr>
              <a:lnSpc>
                <a:spcPct val="150000"/>
              </a:lnSpc>
              <a:defRPr/>
            </a:pPr>
            <a:r>
              <a:rPr kumimoji="0" lang="zh-CN" altLang="en-US"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华为</a:t>
            </a:r>
            <a:r>
              <a:rPr kumimoji="0" lang="en-US" altLang="zh-CN"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rPr>
              <a:t>AscendSpeed</a:t>
            </a:r>
            <a:r>
              <a:rPr kumimoji="0" lang="zh-CN" altLang="en-US"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（适配英伟达卡）开源库</a:t>
            </a:r>
            <a:endParaRPr kumimoji="0" lang="en-US" altLang="zh-CN"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pic>
        <p:nvPicPr>
          <p:cNvPr id="13" name="Picture 5">
            <a:extLst>
              <a:ext uri="{FF2B5EF4-FFF2-40B4-BE49-F238E27FC236}">
                <a16:creationId xmlns:a16="http://schemas.microsoft.com/office/drawing/2014/main" id="{605E5C07-8229-47B0-8F07-4CEAE81CAFC3}"/>
              </a:ext>
            </a:extLst>
          </p:cNvPr>
          <p:cNvPicPr>
            <a:picLocks noChangeAspect="1"/>
          </p:cNvPicPr>
          <p:nvPr/>
        </p:nvPicPr>
        <p:blipFill>
          <a:blip r:embed="rId5"/>
          <a:stretch>
            <a:fillRect/>
          </a:stretch>
        </p:blipFill>
        <p:spPr>
          <a:xfrm>
            <a:off x="5055313" y="1353147"/>
            <a:ext cx="7052550" cy="5032375"/>
          </a:xfrm>
          <a:prstGeom prst="rect">
            <a:avLst/>
          </a:prstGeom>
        </p:spPr>
      </p:pic>
      <p:pic>
        <p:nvPicPr>
          <p:cNvPr id="14" name="Picture 7">
            <a:extLst>
              <a:ext uri="{FF2B5EF4-FFF2-40B4-BE49-F238E27FC236}">
                <a16:creationId xmlns:a16="http://schemas.microsoft.com/office/drawing/2014/main" id="{16D8A58C-62C6-4FE8-8868-AFC7B6028FD0}"/>
              </a:ext>
            </a:extLst>
          </p:cNvPr>
          <p:cNvPicPr>
            <a:picLocks noChangeAspect="1"/>
          </p:cNvPicPr>
          <p:nvPr/>
        </p:nvPicPr>
        <p:blipFill>
          <a:blip r:embed="rId6"/>
          <a:stretch>
            <a:fillRect/>
          </a:stretch>
        </p:blipFill>
        <p:spPr>
          <a:xfrm>
            <a:off x="219252" y="3141347"/>
            <a:ext cx="4832820" cy="3191551"/>
          </a:xfrm>
          <a:prstGeom prst="rect">
            <a:avLst/>
          </a:prstGeom>
        </p:spPr>
      </p:pic>
    </p:spTree>
    <p:extLst>
      <p:ext uri="{BB962C8B-B14F-4D97-AF65-F5344CB8AC3E}">
        <p14:creationId xmlns:p14="http://schemas.microsoft.com/office/powerpoint/2010/main" val="1955988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2B48-D945-0A5A-0400-82F40F01B89C}"/>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AA12E4BB-C623-FFCC-923E-1D5658006B8B}"/>
              </a:ext>
            </a:extLst>
          </p:cNvPr>
          <p:cNvSpPr txBox="1"/>
          <p:nvPr/>
        </p:nvSpPr>
        <p:spPr bwMode="gray">
          <a:xfrm>
            <a:off x="294020" y="472478"/>
            <a:ext cx="11742419" cy="424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noAutofit/>
          </a:bodyPr>
          <a:lstStyle>
            <a:lvl1pPr marL="0" indent="0" algn="l" rtl="0" eaLnBrk="1" fontAlgn="base" hangingPunct="1">
              <a:spcBef>
                <a:spcPts val="0"/>
              </a:spcBef>
              <a:spcAft>
                <a:spcPct val="0"/>
              </a:spcAft>
              <a:buNone/>
              <a:defRPr sz="2800">
                <a:solidFill>
                  <a:schemeClr val="tx2"/>
                </a:solidFill>
                <a:latin typeface="+mn-lt"/>
                <a:ea typeface="+mn-ea"/>
                <a:cs typeface="+mn-cs"/>
                <a:sym typeface="Arial" panose="020B0604020202020204"/>
              </a:defRPr>
            </a:lvl1pPr>
            <a:lvl2pPr marL="0" indent="0" algn="l" rtl="0" eaLnBrk="1" fontAlgn="base" hangingPunct="1">
              <a:spcBef>
                <a:spcPts val="0"/>
              </a:spcBef>
              <a:spcAft>
                <a:spcPct val="0"/>
              </a:spcAft>
              <a:buFont typeface="Arial" panose="020B0604020202020204" pitchFamily="34" charset="0"/>
              <a:buNone/>
              <a:defRPr sz="2800">
                <a:solidFill>
                  <a:schemeClr val="accent1"/>
                </a:solidFill>
                <a:latin typeface="+mn-lt"/>
                <a:cs typeface="+mn-cs"/>
                <a:sym typeface="Arial" panose="020B0604020202020204"/>
              </a:defRPr>
            </a:lvl2pPr>
            <a:lvl3pPr marL="516255" indent="-171450"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3pPr>
            <a:lvl4pPr marL="684530" indent="-16700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4pPr>
            <a:lvl5pPr marL="8591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5pPr>
            <a:lvl6pPr marL="13163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6pPr>
            <a:lvl7pPr marL="17735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7pPr>
            <a:lvl8pPr marL="22307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8pPr>
            <a:lvl9pPr marL="26879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9pPr>
          </a:lstStyle>
          <a:p>
            <a:pPr>
              <a:spcBef>
                <a:spcPct val="60000"/>
              </a:spcBef>
              <a:defRPr/>
            </a:pPr>
            <a:r>
              <a:rPr lang="zh-CN" altLang="en-US" sz="3200" b="1" kern="0" dirty="0">
                <a:solidFill>
                  <a:srgbClr val="0339A6"/>
                </a:solidFill>
                <a:latin typeface="微软雅黑" panose="020B0503020204020204" pitchFamily="34" charset="-122"/>
                <a:ea typeface="微软雅黑" panose="020B0503020204020204" pitchFamily="34" charset="-122"/>
              </a:rPr>
              <a:t>创新：算力网络协同优化训练</a:t>
            </a:r>
            <a:r>
              <a:rPr lang="en-US" altLang="zh-CN" sz="3200" b="1" kern="0" dirty="0">
                <a:solidFill>
                  <a:srgbClr val="0339A6"/>
                </a:solidFill>
                <a:latin typeface="微软雅黑" panose="020B0503020204020204" pitchFamily="34" charset="-122"/>
                <a:ea typeface="微软雅黑" panose="020B0503020204020204" pitchFamily="34" charset="-122"/>
              </a:rPr>
              <a:t>Fold(3D)</a:t>
            </a:r>
            <a:r>
              <a:rPr lang="en-US" altLang="zh-CN" sz="3200" b="1" kern="0" dirty="0" err="1">
                <a:solidFill>
                  <a:srgbClr val="0339A6"/>
                </a:solidFill>
                <a:latin typeface="微软雅黑" panose="020B0503020204020204" pitchFamily="34" charset="-122"/>
                <a:ea typeface="微软雅黑" panose="020B0503020204020204" pitchFamily="34" charset="-122"/>
              </a:rPr>
              <a:t>PiplineTransformer</a:t>
            </a:r>
            <a:endParaRPr lang="zh-CN" altLang="en-US" sz="3200" b="1" kern="0" dirty="0">
              <a:solidFill>
                <a:srgbClr val="C00000"/>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9E1921C3-077F-6C79-547A-443ECF0995C5}"/>
              </a:ext>
            </a:extLst>
          </p:cNvPr>
          <p:cNvSpPr/>
          <p:nvPr>
            <p:custDataLst>
              <p:tags r:id="rId1"/>
            </p:custDataLst>
          </p:nvPr>
        </p:nvSpPr>
        <p:spPr>
          <a:xfrm>
            <a:off x="0" y="1027030"/>
            <a:ext cx="12192000" cy="655862"/>
          </a:xfrm>
          <a:prstGeom prst="rect">
            <a:avLst/>
          </a:prstGeom>
          <a:solidFill>
            <a:schemeClr val="accent5">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97">
            <a:extLst>
              <a:ext uri="{FF2B5EF4-FFF2-40B4-BE49-F238E27FC236}">
                <a16:creationId xmlns:a16="http://schemas.microsoft.com/office/drawing/2014/main" id="{DD1B178A-F775-09FD-28C8-C4A008A53AD7}"/>
              </a:ext>
            </a:extLst>
          </p:cNvPr>
          <p:cNvSpPr txBox="1"/>
          <p:nvPr>
            <p:custDataLst>
              <p:tags r:id="rId2"/>
            </p:custDataLst>
          </p:nvPr>
        </p:nvSpPr>
        <p:spPr>
          <a:xfrm>
            <a:off x="281305" y="1152515"/>
            <a:ext cx="11742420" cy="461665"/>
          </a:xfrm>
          <a:prstGeom prst="rect">
            <a:avLst/>
          </a:prstGeom>
          <a:noFill/>
        </p:spPr>
        <p:txBody>
          <a:bodyPr wrap="square" anchor="ctr">
            <a:spAutoFit/>
          </a:bodyPr>
          <a:lstStyle/>
          <a:p>
            <a:pPr marL="342900" indent="-342900">
              <a:spcBef>
                <a:spcPts val="1000"/>
              </a:spcBef>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开源了“算网并行”训练方案（我和博士生和华为联合发表一系列</a:t>
            </a:r>
            <a:r>
              <a:rPr lang="en-US" altLang="zh-CN" sz="2400" b="1" dirty="0">
                <a:solidFill>
                  <a:srgbClr val="002060"/>
                </a:solidFill>
                <a:latin typeface="微软雅黑" panose="020B0503020204020204" pitchFamily="34" charset="-122"/>
                <a:ea typeface="微软雅黑" panose="020B0503020204020204" pitchFamily="34" charset="-122"/>
              </a:rPr>
              <a:t>A</a:t>
            </a:r>
            <a:r>
              <a:rPr lang="zh-CN" altLang="en-US" sz="2400" b="1" dirty="0">
                <a:solidFill>
                  <a:srgbClr val="002060"/>
                </a:solidFill>
                <a:latin typeface="微软雅黑" panose="020B0503020204020204" pitchFamily="34" charset="-122"/>
                <a:ea typeface="微软雅黑" panose="020B0503020204020204" pitchFamily="34" charset="-122"/>
              </a:rPr>
              <a:t>论文和申请专利）</a:t>
            </a:r>
          </a:p>
        </p:txBody>
      </p:sp>
      <p:sp>
        <p:nvSpPr>
          <p:cNvPr id="6" name="文本框 4">
            <a:extLst>
              <a:ext uri="{FF2B5EF4-FFF2-40B4-BE49-F238E27FC236}">
                <a16:creationId xmlns:a16="http://schemas.microsoft.com/office/drawing/2014/main" id="{97247F36-7216-4094-916A-42C6910362AA}"/>
              </a:ext>
            </a:extLst>
          </p:cNvPr>
          <p:cNvSpPr txBox="1"/>
          <p:nvPr/>
        </p:nvSpPr>
        <p:spPr>
          <a:xfrm>
            <a:off x="6542881" y="4914032"/>
            <a:ext cx="5480842" cy="1895519"/>
          </a:xfrm>
          <a:prstGeom prst="rect">
            <a:avLst/>
          </a:prstGeom>
          <a:noFill/>
        </p:spPr>
        <p:txBody>
          <a:bodyPr wrap="square">
            <a:spAutoFit/>
          </a:bodyPr>
          <a:lstStyle/>
          <a:p>
            <a:pPr>
              <a:lnSpc>
                <a:spcPct val="150000"/>
              </a:lnSpc>
              <a:defRPr/>
            </a:pPr>
            <a:r>
              <a:rPr lang="zh-CN" altLang="en-US" sz="1600" dirty="0">
                <a:latin typeface="微软雅黑" panose="020B0503020204020204" pitchFamily="34" charset="-122"/>
                <a:ea typeface="微软雅黑" panose="020B0503020204020204" pitchFamily="34" charset="-122"/>
              </a:rPr>
              <a:t>充分释放算力资源，吞吐（单位时间数据处理量）提升</a:t>
            </a:r>
            <a:r>
              <a:rPr lang="en-US" altLang="zh-CN" sz="1600" dirty="0">
                <a:latin typeface="微软雅黑" panose="020B0503020204020204" pitchFamily="34" charset="-122"/>
                <a:ea typeface="微软雅黑" panose="020B0503020204020204" pitchFamily="34" charset="-122"/>
              </a:rPr>
              <a:t>30%</a:t>
            </a:r>
          </a:p>
          <a:p>
            <a:pPr>
              <a:lnSpc>
                <a:spcPct val="150000"/>
              </a:lnSpc>
              <a:defRPr/>
            </a:pP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未与计算重叠的通信远少于基线系统</a:t>
            </a:r>
            <a:r>
              <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Megatron</a:t>
            </a: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a:t>
            </a:r>
            <a:endPar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a:lnSpc>
                <a:spcPct val="150000"/>
              </a:lnSpc>
              <a:defRPr/>
            </a:pPr>
            <a:r>
              <a:rPr lang="zh-CN" altLang="en-US" sz="1600" dirty="0">
                <a:latin typeface="微软雅黑" panose="020B0503020204020204" pitchFamily="34" charset="-122"/>
                <a:ea typeface="微软雅黑" panose="020B0503020204020204" pitchFamily="34" charset="-122"/>
              </a:rPr>
              <a:t>支持国内外典型的宽长（</a:t>
            </a:r>
            <a:r>
              <a:rPr lang="en-US" altLang="zh-CN" sz="1600" dirty="0">
                <a:latin typeface="微软雅黑" panose="020B0503020204020204" pitchFamily="34" charset="-122"/>
                <a:ea typeface="微软雅黑" panose="020B0503020204020204" pitchFamily="34" charset="-122"/>
              </a:rPr>
              <a:t>Transformer</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GPT</a:t>
            </a:r>
            <a:r>
              <a:rPr lang="zh-CN" altLang="en-US" sz="1600" dirty="0">
                <a:latin typeface="微软雅黑" panose="020B0503020204020204" pitchFamily="34" charset="-122"/>
                <a:ea typeface="微软雅黑" panose="020B0503020204020204" pitchFamily="34" charset="-122"/>
              </a:rPr>
              <a:t>等）大模型；</a:t>
            </a:r>
            <a:endPar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a:p>
            <a:pPr>
              <a:lnSpc>
                <a:spcPct val="150000"/>
              </a:lnSpc>
              <a:defRPr/>
            </a:pPr>
            <a:r>
              <a:rPr lang="zh-CN" altLang="en-US" sz="1600" dirty="0">
                <a:solidFill>
                  <a:srgbClr val="FF0000"/>
                </a:solidFill>
                <a:latin typeface="微软雅黑" panose="020B0503020204020204" pitchFamily="34" charset="-122"/>
                <a:ea typeface="微软雅黑" panose="020B0503020204020204" pitchFamily="34" charset="-122"/>
              </a:rPr>
              <a:t>完整在</a:t>
            </a:r>
            <a:r>
              <a:rPr lang="en-US" altLang="zh-CN" sz="1600" dirty="0">
                <a:solidFill>
                  <a:srgbClr val="FF0000"/>
                </a:solidFill>
                <a:latin typeface="微软雅黑" panose="020B0503020204020204" pitchFamily="34" charset="-122"/>
                <a:ea typeface="微软雅黑" panose="020B0503020204020204" pitchFamily="34" charset="-122"/>
              </a:rPr>
              <a:t>3072</a:t>
            </a:r>
            <a:r>
              <a:rPr lang="zh-CN" altLang="en-US" sz="1600" dirty="0">
                <a:solidFill>
                  <a:srgbClr val="FF0000"/>
                </a:solidFill>
                <a:latin typeface="微软雅黑" panose="020B0503020204020204" pitchFamily="34" charset="-122"/>
                <a:ea typeface="微软雅黑" panose="020B0503020204020204" pitchFamily="34" charset="-122"/>
              </a:rPr>
              <a:t>张升腾</a:t>
            </a:r>
            <a:r>
              <a:rPr lang="en-US" altLang="zh-CN" sz="1600" dirty="0">
                <a:solidFill>
                  <a:srgbClr val="FF0000"/>
                </a:solidFill>
                <a:latin typeface="微软雅黑" panose="020B0503020204020204" pitchFamily="34" charset="-122"/>
                <a:ea typeface="微软雅黑" panose="020B0503020204020204" pitchFamily="34" charset="-122"/>
              </a:rPr>
              <a:t>910 NPU</a:t>
            </a:r>
            <a:r>
              <a:rPr lang="zh-CN" altLang="en-US" sz="1600" dirty="0">
                <a:solidFill>
                  <a:srgbClr val="FF0000"/>
                </a:solidFill>
                <a:latin typeface="微软雅黑" panose="020B0503020204020204" pitchFamily="34" charset="-122"/>
                <a:ea typeface="微软雅黑" panose="020B0503020204020204" pitchFamily="34" charset="-122"/>
              </a:rPr>
              <a:t>卡（每卡功率约</a:t>
            </a:r>
            <a:r>
              <a:rPr lang="en-US" altLang="zh-CN" sz="1600" dirty="0">
                <a:solidFill>
                  <a:srgbClr val="FF0000"/>
                </a:solidFill>
                <a:latin typeface="微软雅黑" panose="020B0503020204020204" pitchFamily="34" charset="-122"/>
                <a:ea typeface="微软雅黑" panose="020B0503020204020204" pitchFamily="34" charset="-122"/>
              </a:rPr>
              <a:t>300</a:t>
            </a:r>
            <a:r>
              <a:rPr lang="zh-CN" altLang="en-US" sz="1600" dirty="0">
                <a:solidFill>
                  <a:srgbClr val="FF0000"/>
                </a:solidFill>
                <a:latin typeface="微软雅黑" panose="020B0503020204020204" pitchFamily="34" charset="-122"/>
                <a:ea typeface="微软雅黑" panose="020B0503020204020204" pitchFamily="34" charset="-122"/>
              </a:rPr>
              <a:t>瓦）上，预训练一个大模型，大约节省约</a:t>
            </a:r>
            <a:r>
              <a:rPr lang="en-US" altLang="zh-CN" sz="1600" dirty="0">
                <a:solidFill>
                  <a:srgbClr val="FF0000"/>
                </a:solidFill>
                <a:latin typeface="微软雅黑" panose="020B0503020204020204" pitchFamily="34" charset="-122"/>
                <a:ea typeface="微软雅黑" panose="020B0503020204020204" pitchFamily="34" charset="-122"/>
              </a:rPr>
              <a:t>400</a:t>
            </a:r>
            <a:r>
              <a:rPr lang="zh-CN" altLang="en-US" sz="1600" dirty="0">
                <a:solidFill>
                  <a:srgbClr val="FF0000"/>
                </a:solidFill>
                <a:latin typeface="微软雅黑" panose="020B0503020204020204" pitchFamily="34" charset="-122"/>
                <a:ea typeface="微软雅黑" panose="020B0503020204020204" pitchFamily="34" charset="-122"/>
              </a:rPr>
              <a:t>万人民币</a:t>
            </a:r>
            <a:r>
              <a:rPr lang="en-US" altLang="zh-CN" sz="1600" dirty="0">
                <a:solidFill>
                  <a:srgbClr val="FF0000"/>
                </a:solidFill>
                <a:latin typeface="微软雅黑" panose="020B0503020204020204" pitchFamily="34" charset="-122"/>
                <a:ea typeface="微软雅黑" panose="020B0503020204020204" pitchFamily="34" charset="-122"/>
              </a:rPr>
              <a:t>GPU</a:t>
            </a:r>
            <a:r>
              <a:rPr lang="zh-CN" altLang="en-US" sz="1600" dirty="0">
                <a:solidFill>
                  <a:srgbClr val="FF0000"/>
                </a:solidFill>
                <a:latin typeface="微软雅黑" panose="020B0503020204020204" pitchFamily="34" charset="-122"/>
                <a:ea typeface="微软雅黑" panose="020B0503020204020204" pitchFamily="34" charset="-122"/>
              </a:rPr>
              <a:t>能耗。</a:t>
            </a:r>
            <a:endParaRPr kumimoji="0" lang="zh-CN" altLang="en-US"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p:txBody>
      </p:sp>
      <p:sp>
        <p:nvSpPr>
          <p:cNvPr id="12" name="TextBox 31">
            <a:extLst>
              <a:ext uri="{FF2B5EF4-FFF2-40B4-BE49-F238E27FC236}">
                <a16:creationId xmlns:a16="http://schemas.microsoft.com/office/drawing/2014/main" id="{1B2F7506-07B6-4AE7-8EC8-1F5B5758F1F4}"/>
              </a:ext>
            </a:extLst>
          </p:cNvPr>
          <p:cNvSpPr txBox="1"/>
          <p:nvPr/>
        </p:nvSpPr>
        <p:spPr>
          <a:xfrm>
            <a:off x="168277" y="1850202"/>
            <a:ext cx="4575603" cy="2928053"/>
          </a:xfrm>
          <a:prstGeom prst="rect">
            <a:avLst/>
          </a:prstGeom>
          <a:solidFill>
            <a:schemeClr val="bg1"/>
          </a:solidFill>
          <a:ln w="9525">
            <a:solidFill>
              <a:srgbClr val="00389E"/>
            </a:solidFill>
            <a:prstDash val="solid"/>
          </a:ln>
          <a:effectLst>
            <a:outerShdw blurRad="101600" algn="ctr" rotWithShape="0">
              <a:prstClr val="black">
                <a:alpha val="20000"/>
              </a:prstClr>
            </a:outerShdw>
          </a:effectLst>
        </p:spPr>
        <p:txBody>
          <a:bodyPr wrap="square" anchor="ctr">
            <a:noAutofit/>
          </a:bodyPr>
          <a:lstStyle>
            <a:defPPr>
              <a:defRPr lang="zh-CN"/>
            </a:defPPr>
            <a:lvl1pPr algn="ctr">
              <a:defRPr sz="1200" b="1">
                <a:solidFill>
                  <a:schemeClr val="bg1"/>
                </a:solidFill>
                <a:latin typeface="微软雅黑" panose="020B0503020204020204" pitchFamily="34" charset="-122"/>
                <a:ea typeface="微软雅黑" panose="020B0503020204020204" pitchFamily="34" charset="-122"/>
              </a:defRPr>
            </a:lvl1pPr>
          </a:lstStyle>
          <a:p>
            <a:endParaRPr lang="zh-CN" altLang="en-US" dirty="0">
              <a:sym typeface="微软雅黑" panose="020B0503020204020204" pitchFamily="34" charset="-122"/>
            </a:endParaRPr>
          </a:p>
        </p:txBody>
      </p:sp>
      <p:sp>
        <p:nvSpPr>
          <p:cNvPr id="15" name="矩形 6">
            <a:extLst>
              <a:ext uri="{FF2B5EF4-FFF2-40B4-BE49-F238E27FC236}">
                <a16:creationId xmlns:a16="http://schemas.microsoft.com/office/drawing/2014/main" id="{4980C73D-238A-4E2C-A234-9F074D9EFEA3}"/>
              </a:ext>
            </a:extLst>
          </p:cNvPr>
          <p:cNvSpPr/>
          <p:nvPr/>
        </p:nvSpPr>
        <p:spPr>
          <a:xfrm>
            <a:off x="168277" y="1850202"/>
            <a:ext cx="4575603" cy="458675"/>
          </a:xfrm>
          <a:prstGeom prst="rect">
            <a:avLst/>
          </a:prstGeom>
          <a:gradFill flip="none" rotWithShape="1">
            <a:gsLst>
              <a:gs pos="100000">
                <a:srgbClr val="00389E"/>
              </a:gs>
              <a:gs pos="0">
                <a:srgbClr val="002060">
                  <a:lumMod val="66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AFAB</a:t>
            </a:r>
            <a:r>
              <a:rPr lang="zh-CN" altLang="en-US" sz="2000"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调度方案</a:t>
            </a:r>
            <a:endParaRPr lang="en-US" altLang="zh-CN" sz="2000"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extBox 17">
            <a:extLst>
              <a:ext uri="{FF2B5EF4-FFF2-40B4-BE49-F238E27FC236}">
                <a16:creationId xmlns:a16="http://schemas.microsoft.com/office/drawing/2014/main" id="{AF0DDE79-973F-4455-8FAC-BB237AF735C0}"/>
              </a:ext>
            </a:extLst>
          </p:cNvPr>
          <p:cNvSpPr txBox="1"/>
          <p:nvPr/>
        </p:nvSpPr>
        <p:spPr>
          <a:xfrm>
            <a:off x="168277" y="3963859"/>
            <a:ext cx="4575603" cy="903774"/>
          </a:xfrm>
          <a:prstGeom prst="rect">
            <a:avLst/>
          </a:prstGeom>
          <a:noFill/>
        </p:spPr>
        <p:txBody>
          <a:bodyPr wrap="square" rtlCol="0" anchor="ctr">
            <a:noAutofit/>
          </a:bodyPr>
          <a:lstStyle/>
          <a:p>
            <a:pPr marL="342900" indent="-342900" algn="l">
              <a:spcBef>
                <a:spcPts val="8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rPr>
              <a:t>切分梯度及对应的计算</a:t>
            </a:r>
            <a:endParaRPr lang="en-US" altLang="zh-CN"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gn="l">
              <a:spcBef>
                <a:spcPts val="8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rPr>
              <a:t>对于每部分梯度，一次性执行所有微批次</a:t>
            </a:r>
            <a:endParaRPr lang="en-US" altLang="zh-CN"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extBox 31">
            <a:extLst>
              <a:ext uri="{FF2B5EF4-FFF2-40B4-BE49-F238E27FC236}">
                <a16:creationId xmlns:a16="http://schemas.microsoft.com/office/drawing/2014/main" id="{1294FB31-5855-4A2D-B824-BB324BDAFCFA}"/>
              </a:ext>
            </a:extLst>
          </p:cNvPr>
          <p:cNvSpPr txBox="1"/>
          <p:nvPr/>
        </p:nvSpPr>
        <p:spPr>
          <a:xfrm>
            <a:off x="4936857" y="1850202"/>
            <a:ext cx="7086868" cy="2928053"/>
          </a:xfrm>
          <a:prstGeom prst="rect">
            <a:avLst/>
          </a:prstGeom>
          <a:solidFill>
            <a:schemeClr val="bg1"/>
          </a:solidFill>
          <a:ln w="9525">
            <a:solidFill>
              <a:srgbClr val="00389E"/>
            </a:solidFill>
            <a:prstDash val="solid"/>
          </a:ln>
          <a:effectLst>
            <a:outerShdw blurRad="101600" algn="ctr" rotWithShape="0">
              <a:prstClr val="black">
                <a:alpha val="20000"/>
              </a:prstClr>
            </a:outerShdw>
          </a:effectLst>
        </p:spPr>
        <p:txBody>
          <a:bodyPr wrap="square" anchor="ctr">
            <a:noAutofit/>
          </a:bodyPr>
          <a:lstStyle>
            <a:defPPr>
              <a:defRPr lang="zh-CN"/>
            </a:defPPr>
            <a:lvl1pPr algn="ctr">
              <a:defRPr sz="1200" b="1">
                <a:solidFill>
                  <a:schemeClr val="bg1"/>
                </a:solidFill>
                <a:latin typeface="微软雅黑" panose="020B0503020204020204" pitchFamily="34" charset="-122"/>
                <a:ea typeface="微软雅黑" panose="020B0503020204020204" pitchFamily="34" charset="-122"/>
              </a:defRPr>
            </a:lvl1pPr>
          </a:lstStyle>
          <a:p>
            <a:endParaRPr lang="zh-CN" altLang="en-US" dirty="0">
              <a:sym typeface="微软雅黑" panose="020B0503020204020204" pitchFamily="34" charset="-122"/>
            </a:endParaRPr>
          </a:p>
        </p:txBody>
      </p:sp>
      <p:sp>
        <p:nvSpPr>
          <p:cNvPr id="20" name="矩形 6">
            <a:extLst>
              <a:ext uri="{FF2B5EF4-FFF2-40B4-BE49-F238E27FC236}">
                <a16:creationId xmlns:a16="http://schemas.microsoft.com/office/drawing/2014/main" id="{974A5DA5-17CF-44CF-82DF-0ED1507C08E7}"/>
              </a:ext>
            </a:extLst>
          </p:cNvPr>
          <p:cNvSpPr/>
          <p:nvPr/>
        </p:nvSpPr>
        <p:spPr>
          <a:xfrm>
            <a:off x="4936857" y="1850202"/>
            <a:ext cx="7086868" cy="458675"/>
          </a:xfrm>
          <a:prstGeom prst="rect">
            <a:avLst/>
          </a:prstGeom>
          <a:gradFill flip="none" rotWithShape="1">
            <a:gsLst>
              <a:gs pos="100000">
                <a:srgbClr val="00389E"/>
              </a:gs>
              <a:gs pos="0">
                <a:srgbClr val="002060">
                  <a:lumMod val="66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算网并行</a:t>
            </a:r>
            <a:endParaRPr lang="en-US" altLang="zh-CN" sz="2000"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3" name="图片 22">
            <a:extLst>
              <a:ext uri="{FF2B5EF4-FFF2-40B4-BE49-F238E27FC236}">
                <a16:creationId xmlns:a16="http://schemas.microsoft.com/office/drawing/2014/main" id="{2A338E1F-DE69-44BA-8958-B831B68AC8E4}"/>
              </a:ext>
            </a:extLst>
          </p:cNvPr>
          <p:cNvPicPr>
            <a:picLocks noChangeAspect="1"/>
          </p:cNvPicPr>
          <p:nvPr/>
        </p:nvPicPr>
        <p:blipFill rotWithShape="1">
          <a:blip r:embed="rId5"/>
          <a:srcRect t="48670" r="1268" b="24169"/>
          <a:stretch/>
        </p:blipFill>
        <p:spPr>
          <a:xfrm>
            <a:off x="4977618" y="2484768"/>
            <a:ext cx="7005346" cy="1053578"/>
          </a:xfrm>
          <a:prstGeom prst="rect">
            <a:avLst/>
          </a:prstGeom>
        </p:spPr>
      </p:pic>
      <p:pic>
        <p:nvPicPr>
          <p:cNvPr id="24" name="图片 23" descr="图示&#10;&#10;描述已自动生成">
            <a:extLst>
              <a:ext uri="{FF2B5EF4-FFF2-40B4-BE49-F238E27FC236}">
                <a16:creationId xmlns:a16="http://schemas.microsoft.com/office/drawing/2014/main" id="{0D0D2DFD-C850-4B67-BC86-D5F646C6ED3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1253" y="2433739"/>
            <a:ext cx="4249678" cy="1374735"/>
          </a:xfrm>
          <a:prstGeom prst="rect">
            <a:avLst/>
          </a:prstGeom>
        </p:spPr>
      </p:pic>
      <p:sp>
        <p:nvSpPr>
          <p:cNvPr id="25" name="TextBox 17">
            <a:extLst>
              <a:ext uri="{FF2B5EF4-FFF2-40B4-BE49-F238E27FC236}">
                <a16:creationId xmlns:a16="http://schemas.microsoft.com/office/drawing/2014/main" id="{DEC57F4F-6937-485A-849E-F766F15E3270}"/>
              </a:ext>
            </a:extLst>
          </p:cNvPr>
          <p:cNvSpPr txBox="1"/>
          <p:nvPr/>
        </p:nvSpPr>
        <p:spPr>
          <a:xfrm>
            <a:off x="4936857" y="3963859"/>
            <a:ext cx="7086866" cy="903774"/>
          </a:xfrm>
          <a:prstGeom prst="rect">
            <a:avLst/>
          </a:prstGeom>
          <a:noFill/>
        </p:spPr>
        <p:txBody>
          <a:bodyPr wrap="square" rtlCol="0" anchor="ctr">
            <a:noAutofit/>
          </a:bodyPr>
          <a:lstStyle/>
          <a:p>
            <a:pPr marL="342900" indent="-342900" algn="l">
              <a:spcBef>
                <a:spcPts val="800"/>
              </a:spcBef>
              <a:buFont typeface="Wingdings" panose="05000000000000000000" pitchFamily="2" charset="2"/>
              <a:buChar char="n"/>
            </a:pPr>
            <a:r>
              <a:rPr lang="zh-CN" altLang="en-US"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rPr>
              <a:t>生成部分累积梯度后，对应通信与之后的计算并行执行</a:t>
            </a:r>
            <a:endParaRPr lang="en-US" altLang="zh-CN" sz="1600" b="1" dirty="0">
              <a:solidFill>
                <a:srgbClr val="00206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6" name="图片 25" descr="图表&#10;&#10;描述已自动生成">
            <a:extLst>
              <a:ext uri="{FF2B5EF4-FFF2-40B4-BE49-F238E27FC236}">
                <a16:creationId xmlns:a16="http://schemas.microsoft.com/office/drawing/2014/main" id="{9F004675-F652-4AC9-A996-55D0AB8B953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08004" y="4931410"/>
            <a:ext cx="3271752" cy="1454112"/>
          </a:xfrm>
          <a:prstGeom prst="rect">
            <a:avLst/>
          </a:prstGeom>
        </p:spPr>
      </p:pic>
      <p:pic>
        <p:nvPicPr>
          <p:cNvPr id="27" name="图片 26" descr="图表, 条形图&#10;&#10;描述已自动生成">
            <a:extLst>
              <a:ext uri="{FF2B5EF4-FFF2-40B4-BE49-F238E27FC236}">
                <a16:creationId xmlns:a16="http://schemas.microsoft.com/office/drawing/2014/main" id="{DB0BB079-7102-487C-91AD-C1F1CF3AD3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8277" y="4931410"/>
            <a:ext cx="2776602" cy="1454112"/>
          </a:xfrm>
          <a:prstGeom prst="rect">
            <a:avLst/>
          </a:prstGeom>
        </p:spPr>
      </p:pic>
      <p:sp>
        <p:nvSpPr>
          <p:cNvPr id="2" name="矩形 1">
            <a:extLst>
              <a:ext uri="{FF2B5EF4-FFF2-40B4-BE49-F238E27FC236}">
                <a16:creationId xmlns:a16="http://schemas.microsoft.com/office/drawing/2014/main" id="{0A349FAD-86DC-A7FC-0C03-EA2343C40672}"/>
              </a:ext>
            </a:extLst>
          </p:cNvPr>
          <p:cNvSpPr/>
          <p:nvPr/>
        </p:nvSpPr>
        <p:spPr>
          <a:xfrm>
            <a:off x="366602" y="3138906"/>
            <a:ext cx="3590454" cy="65887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C27C66E0-8889-8BE6-C592-ED56CDB55185}"/>
              </a:ext>
            </a:extLst>
          </p:cNvPr>
          <p:cNvSpPr/>
          <p:nvPr/>
        </p:nvSpPr>
        <p:spPr>
          <a:xfrm>
            <a:off x="7908758" y="2420991"/>
            <a:ext cx="1663031" cy="11938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BAD6461D-3C0E-A3DE-3C5A-60CD5AAE5342}"/>
              </a:ext>
            </a:extLst>
          </p:cNvPr>
          <p:cNvSpPr/>
          <p:nvPr/>
        </p:nvSpPr>
        <p:spPr>
          <a:xfrm>
            <a:off x="748632" y="5264703"/>
            <a:ext cx="2053389" cy="47684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20188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1B906-6E92-468F-9740-AE57F70863F4}"/>
              </a:ext>
            </a:extLst>
          </p:cNvPr>
          <p:cNvSpPr>
            <a:spLocks noGrp="1"/>
          </p:cNvSpPr>
          <p:nvPr>
            <p:ph type="ctrTitle"/>
          </p:nvPr>
        </p:nvSpPr>
        <p:spPr/>
        <p:txBody>
          <a:bodyPr>
            <a:normAutofit fontScale="90000"/>
          </a:bodyPr>
          <a:lstStyle/>
          <a:p>
            <a:r>
              <a:rPr lang="en-US" altLang="zh-CN" sz="4400"/>
              <a:t>Fold3D: Rethinking and Parallelizing Computational and Communicational Tasks in the Training of Large DNN Models (IEEE TPDS 23)</a:t>
            </a:r>
            <a:endParaRPr lang="zh-CN" altLang="en-US" sz="4400"/>
          </a:p>
        </p:txBody>
      </p:sp>
      <p:sp>
        <p:nvSpPr>
          <p:cNvPr id="3" name="副标题 2">
            <a:extLst>
              <a:ext uri="{FF2B5EF4-FFF2-40B4-BE49-F238E27FC236}">
                <a16:creationId xmlns:a16="http://schemas.microsoft.com/office/drawing/2014/main" id="{167A3524-D8A4-434D-BAF7-CBEC19FE82EE}"/>
              </a:ext>
            </a:extLst>
          </p:cNvPr>
          <p:cNvSpPr>
            <a:spLocks noGrp="1"/>
          </p:cNvSpPr>
          <p:nvPr>
            <p:ph type="subTitle" idx="1"/>
          </p:nvPr>
        </p:nvSpPr>
        <p:spPr/>
        <p:txBody>
          <a:bodyPr/>
          <a:lstStyle/>
          <a:p>
            <a:r>
              <a:rPr lang="en-US" altLang="zh-CN" err="1">
                <a:solidFill>
                  <a:srgbClr val="0070C0"/>
                </a:solidFill>
              </a:rPr>
              <a:t>Fanxin</a:t>
            </a:r>
            <a:r>
              <a:rPr lang="en-US" altLang="zh-CN">
                <a:solidFill>
                  <a:srgbClr val="0070C0"/>
                </a:solidFill>
              </a:rPr>
              <a:t> Li,  </a:t>
            </a:r>
            <a:r>
              <a:rPr lang="en-US" altLang="zh-CN" err="1">
                <a:solidFill>
                  <a:srgbClr val="0070C0"/>
                </a:solidFill>
              </a:rPr>
              <a:t>Shixiong</a:t>
            </a:r>
            <a:r>
              <a:rPr lang="en-US" altLang="zh-CN">
                <a:solidFill>
                  <a:srgbClr val="0070C0"/>
                </a:solidFill>
              </a:rPr>
              <a:t> Zhao, </a:t>
            </a:r>
            <a:r>
              <a:rPr lang="en-US" altLang="zh-CN" err="1">
                <a:solidFill>
                  <a:srgbClr val="0070C0"/>
                </a:solidFill>
              </a:rPr>
              <a:t>Yuhao</a:t>
            </a:r>
            <a:r>
              <a:rPr lang="en-US" altLang="zh-CN">
                <a:solidFill>
                  <a:srgbClr val="0070C0"/>
                </a:solidFill>
              </a:rPr>
              <a:t> Qing, </a:t>
            </a:r>
            <a:r>
              <a:rPr lang="en-US" altLang="zh-CN" err="1">
                <a:solidFill>
                  <a:srgbClr val="0070C0"/>
                </a:solidFill>
              </a:rPr>
              <a:t>Xusheng</a:t>
            </a:r>
            <a:r>
              <a:rPr lang="en-US" altLang="zh-CN">
                <a:solidFill>
                  <a:srgbClr val="0070C0"/>
                </a:solidFill>
              </a:rPr>
              <a:t> Chen, </a:t>
            </a:r>
            <a:r>
              <a:rPr lang="en-US" altLang="zh-CN" err="1">
                <a:solidFill>
                  <a:srgbClr val="0070C0"/>
                </a:solidFill>
              </a:rPr>
              <a:t>Xiuxian</a:t>
            </a:r>
            <a:r>
              <a:rPr lang="en-US" altLang="zh-CN">
                <a:solidFill>
                  <a:srgbClr val="0070C0"/>
                </a:solidFill>
              </a:rPr>
              <a:t> Guan, </a:t>
            </a:r>
            <a:r>
              <a:rPr lang="en-US" altLang="zh-CN">
                <a:solidFill>
                  <a:srgbClr val="FF0000"/>
                </a:solidFill>
              </a:rPr>
              <a:t>Sen Wang, Gong Zhang,</a:t>
            </a:r>
            <a:r>
              <a:rPr lang="en-US" altLang="zh-CN"/>
              <a:t> </a:t>
            </a:r>
            <a:r>
              <a:rPr lang="en-US" altLang="zh-CN">
                <a:solidFill>
                  <a:srgbClr val="0070C0"/>
                </a:solidFill>
              </a:rPr>
              <a:t>Heming Cui</a:t>
            </a:r>
          </a:p>
        </p:txBody>
      </p:sp>
      <p:sp>
        <p:nvSpPr>
          <p:cNvPr id="4" name="灯片编号占位符 3">
            <a:extLst>
              <a:ext uri="{FF2B5EF4-FFF2-40B4-BE49-F238E27FC236}">
                <a16:creationId xmlns:a16="http://schemas.microsoft.com/office/drawing/2014/main" id="{75FDBF50-F50A-4E73-B578-AFA21D1460BE}"/>
              </a:ext>
            </a:extLst>
          </p:cNvPr>
          <p:cNvSpPr>
            <a:spLocks noGrp="1"/>
          </p:cNvSpPr>
          <p:nvPr>
            <p:ph type="sldNum" sz="quarter" idx="12"/>
          </p:nvPr>
        </p:nvSpPr>
        <p:spPr/>
        <p:txBody>
          <a:bodyPr/>
          <a:lstStyle/>
          <a:p>
            <a:fld id="{365FC2E9-8E8C-8247-A50E-F8E5ABE194FE}" type="slidenum">
              <a:rPr lang="en-US" smtClean="0"/>
              <a:t>7</a:t>
            </a:fld>
            <a:endParaRPr lang="en-US"/>
          </a:p>
        </p:txBody>
      </p:sp>
      <p:sp>
        <p:nvSpPr>
          <p:cNvPr id="5" name="文本框 4">
            <a:extLst>
              <a:ext uri="{FF2B5EF4-FFF2-40B4-BE49-F238E27FC236}">
                <a16:creationId xmlns:a16="http://schemas.microsoft.com/office/drawing/2014/main" id="{7A19A019-073F-4AC5-9CC7-674E5F862931}"/>
              </a:ext>
            </a:extLst>
          </p:cNvPr>
          <p:cNvSpPr txBox="1"/>
          <p:nvPr/>
        </p:nvSpPr>
        <p:spPr>
          <a:xfrm>
            <a:off x="2966250" y="6173914"/>
            <a:ext cx="3063890" cy="369332"/>
          </a:xfrm>
          <a:prstGeom prst="rect">
            <a:avLst/>
          </a:prstGeom>
          <a:noFill/>
        </p:spPr>
        <p:txBody>
          <a:bodyPr wrap="square" rtlCol="0">
            <a:spAutoFit/>
          </a:bodyPr>
          <a:lstStyle/>
          <a:p>
            <a:pPr algn="ctr"/>
            <a:r>
              <a:rPr lang="en-US" altLang="zh-CN">
                <a:solidFill>
                  <a:srgbClr val="0070C0"/>
                </a:solidFill>
              </a:rPr>
              <a:t>The University of Hong Kong</a:t>
            </a:r>
            <a:endParaRPr lang="zh-CN" altLang="en-US">
              <a:solidFill>
                <a:srgbClr val="0070C0"/>
              </a:solidFill>
            </a:endParaRPr>
          </a:p>
        </p:txBody>
      </p:sp>
      <p:pic>
        <p:nvPicPr>
          <p:cNvPr id="7" name="图片 6">
            <a:extLst>
              <a:ext uri="{FF2B5EF4-FFF2-40B4-BE49-F238E27FC236}">
                <a16:creationId xmlns:a16="http://schemas.microsoft.com/office/drawing/2014/main" id="{AAA5E707-5EE6-4DD7-856F-C7901B090CEC}"/>
              </a:ext>
            </a:extLst>
          </p:cNvPr>
          <p:cNvPicPr>
            <a:picLocks noChangeAspect="1"/>
          </p:cNvPicPr>
          <p:nvPr/>
        </p:nvPicPr>
        <p:blipFill>
          <a:blip r:embed="rId3"/>
          <a:stretch>
            <a:fillRect/>
          </a:stretch>
        </p:blipFill>
        <p:spPr>
          <a:xfrm>
            <a:off x="4079125" y="5085165"/>
            <a:ext cx="838141" cy="946837"/>
          </a:xfrm>
          <a:prstGeom prst="rect">
            <a:avLst/>
          </a:prstGeom>
        </p:spPr>
      </p:pic>
      <p:pic>
        <p:nvPicPr>
          <p:cNvPr id="9" name="图片 8">
            <a:extLst>
              <a:ext uri="{FF2B5EF4-FFF2-40B4-BE49-F238E27FC236}">
                <a16:creationId xmlns:a16="http://schemas.microsoft.com/office/drawing/2014/main" id="{8EC7E820-17E8-45CC-A78E-7946A0B48205}"/>
              </a:ext>
            </a:extLst>
          </p:cNvPr>
          <p:cNvPicPr>
            <a:picLocks noChangeAspect="1"/>
          </p:cNvPicPr>
          <p:nvPr/>
        </p:nvPicPr>
        <p:blipFill>
          <a:blip r:embed="rId4"/>
          <a:stretch>
            <a:fillRect/>
          </a:stretch>
        </p:blipFill>
        <p:spPr>
          <a:xfrm>
            <a:off x="7077876" y="5139739"/>
            <a:ext cx="1115164" cy="837688"/>
          </a:xfrm>
          <a:prstGeom prst="rect">
            <a:avLst/>
          </a:prstGeom>
        </p:spPr>
      </p:pic>
      <p:sp>
        <p:nvSpPr>
          <p:cNvPr id="11" name="文本框 10">
            <a:extLst>
              <a:ext uri="{FF2B5EF4-FFF2-40B4-BE49-F238E27FC236}">
                <a16:creationId xmlns:a16="http://schemas.microsoft.com/office/drawing/2014/main" id="{7E82387F-DB36-42E7-ACCD-072CBE234236}"/>
              </a:ext>
            </a:extLst>
          </p:cNvPr>
          <p:cNvSpPr txBox="1"/>
          <p:nvPr/>
        </p:nvSpPr>
        <p:spPr>
          <a:xfrm>
            <a:off x="6103513" y="6169580"/>
            <a:ext cx="3063890" cy="369332"/>
          </a:xfrm>
          <a:prstGeom prst="rect">
            <a:avLst/>
          </a:prstGeom>
          <a:noFill/>
        </p:spPr>
        <p:txBody>
          <a:bodyPr wrap="square">
            <a:spAutoFit/>
          </a:bodyPr>
          <a:lstStyle/>
          <a:p>
            <a:pPr algn="ctr"/>
            <a:r>
              <a:rPr lang="en-US" altLang="zh-CN">
                <a:solidFill>
                  <a:srgbClr val="FF0000"/>
                </a:solidFill>
              </a:rPr>
              <a:t>Huawei Technologies</a:t>
            </a:r>
            <a:endParaRPr lang="zh-CN" altLang="en-US">
              <a:solidFill>
                <a:srgbClr val="FF0000"/>
              </a:solidFill>
            </a:endParaRPr>
          </a:p>
        </p:txBody>
      </p:sp>
    </p:spTree>
    <p:extLst>
      <p:ext uri="{BB962C8B-B14F-4D97-AF65-F5344CB8AC3E}">
        <p14:creationId xmlns:p14="http://schemas.microsoft.com/office/powerpoint/2010/main" val="19468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802BA5E-8C3B-0433-FEA0-4E64E304F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441" y="4776591"/>
            <a:ext cx="8218877" cy="1425414"/>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a:extLst>
              <a:ext uri="{FF2B5EF4-FFF2-40B4-BE49-F238E27FC236}">
                <a16:creationId xmlns:a16="http://schemas.microsoft.com/office/drawing/2014/main" id="{461CB4CD-3636-66A0-940B-563AE5F0A17E}"/>
              </a:ext>
            </a:extLst>
          </p:cNvPr>
          <p:cNvSpPr>
            <a:spLocks noGrp="1"/>
          </p:cNvSpPr>
          <p:nvPr>
            <p:ph idx="1"/>
          </p:nvPr>
        </p:nvSpPr>
        <p:spPr>
          <a:xfrm>
            <a:off x="654536" y="1550505"/>
            <a:ext cx="10980000" cy="3067297"/>
          </a:xfrm>
        </p:spPr>
        <p:txBody>
          <a:bodyPr>
            <a:normAutofit/>
          </a:bodyPr>
          <a:lstStyle/>
          <a:p>
            <a:r>
              <a:rPr lang="en-US" altLang="zh-CN"/>
              <a:t>3D</a:t>
            </a:r>
            <a:r>
              <a:rPr lang="zh-CN" altLang="en-US"/>
              <a:t>并行对于大模型训练至关重要</a:t>
            </a:r>
          </a:p>
          <a:p>
            <a:pPr lvl="1"/>
            <a:r>
              <a:rPr lang="zh-CN" altLang="en-US"/>
              <a:t>加载模型：张量并行（</a:t>
            </a:r>
            <a:r>
              <a:rPr lang="en-US" altLang="zh-CN"/>
              <a:t>TP</a:t>
            </a:r>
            <a:r>
              <a:rPr lang="zh-CN" altLang="en-US"/>
              <a:t>）和流水线并行（</a:t>
            </a:r>
            <a:r>
              <a:rPr lang="en-US" altLang="zh-CN"/>
              <a:t>PP</a:t>
            </a:r>
            <a:r>
              <a:rPr lang="zh-CN" altLang="en-US"/>
              <a:t>）</a:t>
            </a:r>
          </a:p>
          <a:p>
            <a:pPr lvl="2"/>
            <a:r>
              <a:rPr lang="zh-CN" altLang="en-US"/>
              <a:t>主机内的</a:t>
            </a:r>
            <a:r>
              <a:rPr lang="en-US" altLang="zh-CN"/>
              <a:t>TP</a:t>
            </a:r>
            <a:r>
              <a:rPr lang="zh-CN" altLang="en-US"/>
              <a:t>（例如，带有</a:t>
            </a:r>
            <a:r>
              <a:rPr lang="en-US" altLang="zh-CN" err="1"/>
              <a:t>NVLink</a:t>
            </a:r>
            <a:r>
              <a:rPr lang="zh-CN" altLang="en-US"/>
              <a:t>的</a:t>
            </a:r>
            <a:r>
              <a:rPr lang="en-US" altLang="zh-CN"/>
              <a:t>DGX</a:t>
            </a:r>
            <a:r>
              <a:rPr lang="zh-CN" altLang="en-US"/>
              <a:t>）</a:t>
            </a:r>
          </a:p>
          <a:p>
            <a:pPr lvl="2"/>
            <a:r>
              <a:rPr lang="zh-CN" altLang="en-US"/>
              <a:t>跨主机的</a:t>
            </a:r>
            <a:r>
              <a:rPr lang="en-US" altLang="zh-CN"/>
              <a:t>PP</a:t>
            </a:r>
            <a:r>
              <a:rPr lang="zh-CN" altLang="en-US"/>
              <a:t>（例如，</a:t>
            </a:r>
            <a:r>
              <a:rPr lang="en-US" altLang="zh-CN"/>
              <a:t>RDMA</a:t>
            </a:r>
            <a:r>
              <a:rPr lang="zh-CN" altLang="en-US"/>
              <a:t>网卡）</a:t>
            </a:r>
          </a:p>
          <a:p>
            <a:pPr lvl="1"/>
            <a:r>
              <a:rPr lang="zh-CN" altLang="en-US"/>
              <a:t>加速训练：数据并行（</a:t>
            </a:r>
            <a:r>
              <a:rPr lang="en-US" altLang="zh-CN"/>
              <a:t>DP</a:t>
            </a:r>
            <a:r>
              <a:rPr lang="zh-CN" altLang="en-US"/>
              <a:t>）</a:t>
            </a:r>
          </a:p>
          <a:p>
            <a:r>
              <a:rPr lang="zh-CN" altLang="en-US"/>
              <a:t>问题：</a:t>
            </a:r>
            <a:r>
              <a:rPr lang="en-US" altLang="zh-CN"/>
              <a:t>DP</a:t>
            </a:r>
            <a:r>
              <a:rPr lang="zh-CN" altLang="en-US"/>
              <a:t>通信在</a:t>
            </a:r>
            <a:r>
              <a:rPr lang="en-US" altLang="zh-CN"/>
              <a:t>PP</a:t>
            </a:r>
            <a:r>
              <a:rPr lang="zh-CN" altLang="en-US"/>
              <a:t>计算之后序列化</a:t>
            </a:r>
          </a:p>
          <a:p>
            <a:pPr lvl="1"/>
            <a:r>
              <a:rPr lang="zh-CN" altLang="en-US"/>
              <a:t>例如，在公共云上，</a:t>
            </a:r>
            <a:r>
              <a:rPr lang="en-US" altLang="zh-CN"/>
              <a:t>DP</a:t>
            </a:r>
            <a:r>
              <a:rPr lang="zh-CN" altLang="en-US"/>
              <a:t>通信占用了超过</a:t>
            </a:r>
            <a:r>
              <a:rPr lang="en-US" altLang="zh-CN"/>
              <a:t>40%</a:t>
            </a:r>
            <a:r>
              <a:rPr lang="zh-CN" altLang="en-US"/>
              <a:t>的训练时间</a:t>
            </a:r>
            <a:endParaRPr lang="en-US" altLang="zh-CN"/>
          </a:p>
        </p:txBody>
      </p:sp>
      <p:sp>
        <p:nvSpPr>
          <p:cNvPr id="4" name="灯片编号占位符 3">
            <a:extLst>
              <a:ext uri="{FF2B5EF4-FFF2-40B4-BE49-F238E27FC236}">
                <a16:creationId xmlns:a16="http://schemas.microsoft.com/office/drawing/2014/main" id="{B672A397-9331-1340-835A-6A8D2BE0BDBA}"/>
              </a:ext>
            </a:extLst>
          </p:cNvPr>
          <p:cNvSpPr>
            <a:spLocks noGrp="1"/>
          </p:cNvSpPr>
          <p:nvPr>
            <p:ph type="sldNum" sz="quarter" idx="12"/>
          </p:nvPr>
        </p:nvSpPr>
        <p:spPr/>
        <p:txBody>
          <a:bodyPr/>
          <a:lstStyle/>
          <a:p>
            <a:fld id="{A7CD31F4-64FA-4BA0-9498-67783267A8C8}" type="slidenum">
              <a:rPr lang="en-US" smtClean="0"/>
              <a:t>8</a:t>
            </a:fld>
            <a:endParaRPr lang="en-US"/>
          </a:p>
        </p:txBody>
      </p:sp>
      <p:pic>
        <p:nvPicPr>
          <p:cNvPr id="6" name="图片 5">
            <a:extLst>
              <a:ext uri="{FF2B5EF4-FFF2-40B4-BE49-F238E27FC236}">
                <a16:creationId xmlns:a16="http://schemas.microsoft.com/office/drawing/2014/main" id="{948F25F2-28CA-6012-DF9A-F1E7657F420A}"/>
              </a:ext>
            </a:extLst>
          </p:cNvPr>
          <p:cNvPicPr>
            <a:picLocks noChangeAspect="1"/>
          </p:cNvPicPr>
          <p:nvPr/>
        </p:nvPicPr>
        <p:blipFill>
          <a:blip r:embed="rId4"/>
          <a:stretch>
            <a:fillRect/>
          </a:stretch>
        </p:blipFill>
        <p:spPr>
          <a:xfrm>
            <a:off x="9475806" y="2460097"/>
            <a:ext cx="2407386" cy="1392674"/>
          </a:xfrm>
          <a:prstGeom prst="rect">
            <a:avLst/>
          </a:prstGeom>
        </p:spPr>
      </p:pic>
      <p:sp>
        <p:nvSpPr>
          <p:cNvPr id="8" name="矩形: 圆角 7">
            <a:extLst>
              <a:ext uri="{FF2B5EF4-FFF2-40B4-BE49-F238E27FC236}">
                <a16:creationId xmlns:a16="http://schemas.microsoft.com/office/drawing/2014/main" id="{8ACE5CF3-F69C-C73B-60EE-340E547ADE6B}"/>
              </a:ext>
            </a:extLst>
          </p:cNvPr>
          <p:cNvSpPr/>
          <p:nvPr/>
        </p:nvSpPr>
        <p:spPr>
          <a:xfrm>
            <a:off x="5512904" y="4809331"/>
            <a:ext cx="3102414" cy="1392674"/>
          </a:xfrm>
          <a:prstGeom prst="round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cxnSp>
        <p:nvCxnSpPr>
          <p:cNvPr id="9" name="连接符: 曲线 8">
            <a:extLst>
              <a:ext uri="{FF2B5EF4-FFF2-40B4-BE49-F238E27FC236}">
                <a16:creationId xmlns:a16="http://schemas.microsoft.com/office/drawing/2014/main" id="{DCEA0316-307B-0BFF-EDD1-91BB9DB2D71C}"/>
              </a:ext>
            </a:extLst>
          </p:cNvPr>
          <p:cNvCxnSpPr>
            <a:cxnSpLocks/>
            <a:stCxn id="8" idx="3"/>
            <a:endCxn id="10" idx="1"/>
          </p:cNvCxnSpPr>
          <p:nvPr/>
        </p:nvCxnSpPr>
        <p:spPr>
          <a:xfrm>
            <a:off x="8615318" y="5505668"/>
            <a:ext cx="387781" cy="91295"/>
          </a:xfrm>
          <a:prstGeom prst="curvedConnector3">
            <a:avLst>
              <a:gd name="adj1" fmla="val 50000"/>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0" name="文本框 9">
            <a:extLst>
              <a:ext uri="{FF2B5EF4-FFF2-40B4-BE49-F238E27FC236}">
                <a16:creationId xmlns:a16="http://schemas.microsoft.com/office/drawing/2014/main" id="{BB4BB585-069A-39E3-03A0-BAE668FCF55D}"/>
              </a:ext>
            </a:extLst>
          </p:cNvPr>
          <p:cNvSpPr txBox="1"/>
          <p:nvPr/>
        </p:nvSpPr>
        <p:spPr>
          <a:xfrm>
            <a:off x="9003099" y="5273797"/>
            <a:ext cx="3352800" cy="646331"/>
          </a:xfrm>
          <a:prstGeom prst="rect">
            <a:avLst/>
          </a:prstGeom>
          <a:noFill/>
        </p:spPr>
        <p:txBody>
          <a:bodyPr wrap="square" rtlCol="0">
            <a:spAutoFit/>
          </a:bodyPr>
          <a:lstStyle/>
          <a:p>
            <a:r>
              <a:rPr lang="zh-CN" altLang="en-US" sz="1800" b="1">
                <a:solidFill>
                  <a:schemeClr val="accent6"/>
                </a:solidFill>
                <a:latin typeface="Comic Sans MS" panose="030F0902030302020204" pitchFamily="66" charset="0"/>
                <a:ea typeface="方正舒体" panose="02010601030101010101" pitchFamily="2" charset="-122"/>
                <a:cs typeface="+mj-cs"/>
              </a:rPr>
              <a:t>数据并行</a:t>
            </a:r>
            <a:r>
              <a:rPr lang="en-US" altLang="zh-CN" sz="1800" b="1" err="1">
                <a:solidFill>
                  <a:schemeClr val="accent6"/>
                </a:solidFill>
                <a:latin typeface="Comic Sans MS" panose="030F0902030302020204" pitchFamily="66" charset="0"/>
                <a:ea typeface="方正舒体" panose="02010601030101010101" pitchFamily="2" charset="-122"/>
                <a:cs typeface="+mj-cs"/>
              </a:rPr>
              <a:t>Allreduce</a:t>
            </a:r>
            <a:r>
              <a:rPr lang="zh-CN" altLang="en-US" sz="1800" b="1">
                <a:solidFill>
                  <a:schemeClr val="accent6"/>
                </a:solidFill>
                <a:latin typeface="Comic Sans MS" panose="030F0902030302020204" pitchFamily="66" charset="0"/>
                <a:ea typeface="方正舒体" panose="02010601030101010101" pitchFamily="2" charset="-122"/>
                <a:cs typeface="+mj-cs"/>
              </a:rPr>
              <a:t>操作</a:t>
            </a:r>
            <a:br>
              <a:rPr lang="zh-CN" altLang="en-US" sz="1800" b="1">
                <a:solidFill>
                  <a:schemeClr val="accent6"/>
                </a:solidFill>
                <a:latin typeface="Comic Sans MS" panose="030F0902030302020204" pitchFamily="66" charset="0"/>
                <a:ea typeface="方正舒体" panose="02010601030101010101" pitchFamily="2" charset="-122"/>
                <a:cs typeface="+mj-cs"/>
              </a:rPr>
            </a:br>
            <a:r>
              <a:rPr lang="zh-CN" altLang="en-US" sz="1800" b="1">
                <a:solidFill>
                  <a:schemeClr val="accent6"/>
                </a:solidFill>
                <a:latin typeface="Comic Sans MS" panose="030F0902030302020204" pitchFamily="66" charset="0"/>
                <a:ea typeface="方正舒体" panose="02010601030101010101" pitchFamily="2" charset="-122"/>
                <a:cs typeface="+mj-cs"/>
              </a:rPr>
              <a:t>（</a:t>
            </a:r>
            <a:r>
              <a:rPr lang="en-US" altLang="zh-CN" sz="1800" b="1" err="1">
                <a:solidFill>
                  <a:schemeClr val="accent6"/>
                </a:solidFill>
                <a:latin typeface="Comic Sans MS" panose="030F0902030302020204" pitchFamily="66" charset="0"/>
                <a:ea typeface="方正舒体" panose="02010601030101010101" pitchFamily="2" charset="-122"/>
                <a:cs typeface="+mj-cs"/>
              </a:rPr>
              <a:t>DP.sync</a:t>
            </a:r>
            <a:r>
              <a:rPr lang="zh-CN" altLang="en-US" sz="1800" b="1">
                <a:solidFill>
                  <a:schemeClr val="accent6"/>
                </a:solidFill>
                <a:latin typeface="Comic Sans MS" panose="030F0902030302020204" pitchFamily="66" charset="0"/>
                <a:ea typeface="方正舒体" panose="02010601030101010101" pitchFamily="2" charset="-122"/>
                <a:cs typeface="+mj-cs"/>
              </a:rPr>
              <a:t>）导致</a:t>
            </a:r>
            <a:r>
              <a:rPr lang="en-US" altLang="zh-CN" sz="1800" b="1">
                <a:solidFill>
                  <a:schemeClr val="accent6"/>
                </a:solidFill>
                <a:latin typeface="Comic Sans MS" panose="030F0902030302020204" pitchFamily="66" charset="0"/>
                <a:ea typeface="方正舒体" panose="02010601030101010101" pitchFamily="2" charset="-122"/>
                <a:cs typeface="+mj-cs"/>
              </a:rPr>
              <a:t>GPU</a:t>
            </a:r>
            <a:r>
              <a:rPr lang="zh-CN" altLang="en-US" sz="1800" b="1">
                <a:solidFill>
                  <a:schemeClr val="accent6"/>
                </a:solidFill>
                <a:latin typeface="Comic Sans MS" panose="030F0902030302020204" pitchFamily="66" charset="0"/>
                <a:ea typeface="方正舒体" panose="02010601030101010101" pitchFamily="2" charset="-122"/>
                <a:cs typeface="+mj-cs"/>
              </a:rPr>
              <a:t>空闲</a:t>
            </a:r>
            <a:endParaRPr lang="zh-CN" altLang="en-US">
              <a:solidFill>
                <a:schemeClr val="accent6"/>
              </a:solidFill>
            </a:endParaRPr>
          </a:p>
        </p:txBody>
      </p:sp>
      <p:sp>
        <p:nvSpPr>
          <p:cNvPr id="5" name="文本框 4">
            <a:extLst>
              <a:ext uri="{FF2B5EF4-FFF2-40B4-BE49-F238E27FC236}">
                <a16:creationId xmlns:a16="http://schemas.microsoft.com/office/drawing/2014/main" id="{006195BA-7C19-885F-F3E7-B73F8D4E2E0D}"/>
              </a:ext>
            </a:extLst>
          </p:cNvPr>
          <p:cNvSpPr txBox="1"/>
          <p:nvPr/>
        </p:nvSpPr>
        <p:spPr>
          <a:xfrm>
            <a:off x="281015" y="88578"/>
            <a:ext cx="10548086" cy="707886"/>
          </a:xfrm>
          <a:prstGeom prst="rect">
            <a:avLst/>
          </a:prstGeom>
          <a:noFill/>
        </p:spPr>
        <p:txBody>
          <a:bodyPr wrap="square" rtlCol="0">
            <a:spAutoFit/>
          </a:bodyPr>
          <a:lstStyle/>
          <a:p>
            <a:pPr>
              <a:defRPr/>
            </a:pPr>
            <a:r>
              <a:rPr kumimoji="1" lang="zh-CN" altLang="en-US" sz="4000" b="1">
                <a:solidFill>
                  <a:srgbClr val="025F84"/>
                </a:solidFill>
                <a:ea typeface="PingFang SC Medium" panose="020B0400000000000000" pitchFamily="34" charset="-122"/>
              </a:rPr>
              <a:t>动机</a:t>
            </a:r>
            <a:endParaRPr kumimoji="1" lang="en-US" altLang="zh-CN" sz="4000" b="1">
              <a:solidFill>
                <a:srgbClr val="025F84"/>
              </a:solidFill>
              <a:ea typeface="PingFang SC Medium" panose="020B0400000000000000" pitchFamily="34" charset="-122"/>
            </a:endParaRPr>
          </a:p>
        </p:txBody>
      </p:sp>
    </p:spTree>
    <p:extLst>
      <p:ext uri="{BB962C8B-B14F-4D97-AF65-F5344CB8AC3E}">
        <p14:creationId xmlns:p14="http://schemas.microsoft.com/office/powerpoint/2010/main" val="1615907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905A51F-B13A-47D8-8001-C874B922269F}"/>
              </a:ext>
            </a:extLst>
          </p:cNvPr>
          <p:cNvSpPr>
            <a:spLocks noGrp="1"/>
          </p:cNvSpPr>
          <p:nvPr>
            <p:ph idx="1"/>
          </p:nvPr>
        </p:nvSpPr>
        <p:spPr>
          <a:xfrm>
            <a:off x="426081" y="1242811"/>
            <a:ext cx="11765919" cy="4934152"/>
          </a:xfrm>
        </p:spPr>
        <p:txBody>
          <a:bodyPr>
            <a:normAutofit/>
          </a:bodyPr>
          <a:lstStyle/>
          <a:p>
            <a:endParaRPr lang="en-US" altLang="zh-CN" sz="2000" dirty="0"/>
          </a:p>
          <a:p>
            <a:r>
              <a:rPr lang="zh-CN" altLang="en-US" sz="2000" dirty="0"/>
              <a:t>流水线并行：</a:t>
            </a:r>
            <a:r>
              <a:rPr lang="zh-CN" altLang="en-US" sz="2000" b="1" dirty="0"/>
              <a:t>多个“微批次”</a:t>
            </a:r>
            <a:r>
              <a:rPr lang="zh-CN" altLang="en-US" sz="2000" dirty="0"/>
              <a:t>的</a:t>
            </a:r>
            <a:r>
              <a:rPr lang="zh-CN" altLang="en-US" sz="2000" b="1" dirty="0"/>
              <a:t>梯度累积</a:t>
            </a:r>
            <a:endParaRPr lang="en-US" altLang="zh-CN" sz="2000" b="1" u="sng" dirty="0"/>
          </a:p>
          <a:p>
            <a:r>
              <a:rPr lang="zh-CN" altLang="en-US" sz="2000" dirty="0"/>
              <a:t>数据并行：</a:t>
            </a:r>
            <a:r>
              <a:rPr lang="zh-CN" altLang="en-US" sz="2000" b="1" dirty="0"/>
              <a:t>计算副本</a:t>
            </a:r>
            <a:r>
              <a:rPr lang="zh-CN" altLang="en-US" sz="2000" dirty="0"/>
              <a:t>和</a:t>
            </a:r>
            <a:r>
              <a:rPr lang="zh-CN" altLang="en-US" sz="2000" b="1" dirty="0"/>
              <a:t>累积梯度同步</a:t>
            </a:r>
            <a:endParaRPr lang="en-US" altLang="zh-CN" sz="2000" b="1" u="sng" dirty="0"/>
          </a:p>
          <a:p>
            <a:endParaRPr lang="en-US" altLang="zh-CN" sz="2000" b="1" u="sng" dirty="0"/>
          </a:p>
          <a:p>
            <a:endParaRPr lang="en-US" altLang="zh-CN" sz="2000" b="1" u="sng" dirty="0"/>
          </a:p>
        </p:txBody>
      </p:sp>
      <p:sp>
        <p:nvSpPr>
          <p:cNvPr id="6" name="文本框 5">
            <a:extLst>
              <a:ext uri="{FF2B5EF4-FFF2-40B4-BE49-F238E27FC236}">
                <a16:creationId xmlns:a16="http://schemas.microsoft.com/office/drawing/2014/main" id="{ADDD277E-8834-9828-2F61-1274FE67136D}"/>
              </a:ext>
            </a:extLst>
          </p:cNvPr>
          <p:cNvSpPr txBox="1"/>
          <p:nvPr/>
        </p:nvSpPr>
        <p:spPr>
          <a:xfrm>
            <a:off x="5016935" y="6550223"/>
            <a:ext cx="5287091" cy="307777"/>
          </a:xfrm>
          <a:prstGeom prst="rect">
            <a:avLst/>
          </a:prstGeom>
          <a:noFill/>
        </p:spPr>
        <p:txBody>
          <a:bodyPr wrap="square" rtlCol="0">
            <a:spAutoFit/>
          </a:bodyPr>
          <a:lstStyle/>
          <a:p>
            <a:pPr algn="ctr"/>
            <a:r>
              <a:rPr lang="en-US" altLang="zh-CN" sz="1400"/>
              <a:t>Per-GPU scheduling with forward pass omitted</a:t>
            </a:r>
            <a:endParaRPr lang="zh-CN" altLang="en-US" sz="1400"/>
          </a:p>
        </p:txBody>
      </p:sp>
      <p:pic>
        <p:nvPicPr>
          <p:cNvPr id="9" name="图片 8" descr="图片包含 室内, 键盘, 侧面, 钟表">
            <a:extLst>
              <a:ext uri="{FF2B5EF4-FFF2-40B4-BE49-F238E27FC236}">
                <a16:creationId xmlns:a16="http://schemas.microsoft.com/office/drawing/2014/main" id="{09E844DB-3BCC-5D2F-280D-29C17DE86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727" y="3588952"/>
            <a:ext cx="5422280" cy="1279294"/>
          </a:xfrm>
          <a:prstGeom prst="rect">
            <a:avLst/>
          </a:prstGeom>
        </p:spPr>
      </p:pic>
      <p:sp>
        <p:nvSpPr>
          <p:cNvPr id="10" name="矩形: 圆角 9">
            <a:extLst>
              <a:ext uri="{FF2B5EF4-FFF2-40B4-BE49-F238E27FC236}">
                <a16:creationId xmlns:a16="http://schemas.microsoft.com/office/drawing/2014/main" id="{8E5A6C9E-E93F-C622-9359-3AE9881647CF}"/>
              </a:ext>
            </a:extLst>
          </p:cNvPr>
          <p:cNvSpPr/>
          <p:nvPr/>
        </p:nvSpPr>
        <p:spPr>
          <a:xfrm>
            <a:off x="2751393" y="2936995"/>
            <a:ext cx="448734" cy="448734"/>
          </a:xfrm>
          <a:prstGeom prst="roundRect">
            <a:avLst/>
          </a:prstGeom>
          <a:solidFill>
            <a:srgbClr val="F8F8F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7AFDB45B-FD99-72A4-B386-7BB1D21A9460}"/>
              </a:ext>
            </a:extLst>
          </p:cNvPr>
          <p:cNvCxnSpPr>
            <a:cxnSpLocks/>
          </p:cNvCxnSpPr>
          <p:nvPr/>
        </p:nvCxnSpPr>
        <p:spPr>
          <a:xfrm flipV="1">
            <a:off x="2656840" y="3385729"/>
            <a:ext cx="171027" cy="3853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28F1EA8F-3B3D-5580-149B-E0051E911653}"/>
              </a:ext>
            </a:extLst>
          </p:cNvPr>
          <p:cNvSpPr/>
          <p:nvPr/>
        </p:nvSpPr>
        <p:spPr>
          <a:xfrm>
            <a:off x="3430829" y="2948168"/>
            <a:ext cx="448734" cy="448734"/>
          </a:xfrm>
          <a:prstGeom prst="roundRect">
            <a:avLst/>
          </a:prstGeom>
          <a:solidFill>
            <a:srgbClr val="F8F8F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0D4B52FD-CCDF-EC2D-A197-CB291F45A3C2}"/>
              </a:ext>
            </a:extLst>
          </p:cNvPr>
          <p:cNvCxnSpPr>
            <a:cxnSpLocks/>
            <a:endCxn id="14" idx="2"/>
          </p:cNvCxnSpPr>
          <p:nvPr/>
        </p:nvCxnSpPr>
        <p:spPr>
          <a:xfrm flipV="1">
            <a:off x="3058569" y="3396902"/>
            <a:ext cx="596627" cy="38408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991DE84B-4179-77C6-7E01-1F8CDA92B3E8}"/>
              </a:ext>
            </a:extLst>
          </p:cNvPr>
          <p:cNvSpPr/>
          <p:nvPr/>
        </p:nvSpPr>
        <p:spPr>
          <a:xfrm>
            <a:off x="3216986" y="3076414"/>
            <a:ext cx="192242" cy="192242"/>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a:t>
            </a:r>
            <a:endParaRPr lang="zh-CN" altLang="en-US" b="1"/>
          </a:p>
        </p:txBody>
      </p:sp>
      <p:sp>
        <p:nvSpPr>
          <p:cNvPr id="20" name="椭圆 19">
            <a:extLst>
              <a:ext uri="{FF2B5EF4-FFF2-40B4-BE49-F238E27FC236}">
                <a16:creationId xmlns:a16="http://schemas.microsoft.com/office/drawing/2014/main" id="{DE6F7857-636D-044A-1F75-57D6C40433F8}"/>
              </a:ext>
            </a:extLst>
          </p:cNvPr>
          <p:cNvSpPr/>
          <p:nvPr/>
        </p:nvSpPr>
        <p:spPr>
          <a:xfrm>
            <a:off x="4461884" y="3038736"/>
            <a:ext cx="740036" cy="233680"/>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a:t>……</a:t>
            </a:r>
            <a:endParaRPr lang="zh-CN" altLang="en-US" b="1"/>
          </a:p>
        </p:txBody>
      </p:sp>
      <p:sp>
        <p:nvSpPr>
          <p:cNvPr id="21" name="矩形: 圆角 20">
            <a:extLst>
              <a:ext uri="{FF2B5EF4-FFF2-40B4-BE49-F238E27FC236}">
                <a16:creationId xmlns:a16="http://schemas.microsoft.com/office/drawing/2014/main" id="{D5B35F92-F5C2-659E-B032-8769BCEDC3D6}"/>
              </a:ext>
            </a:extLst>
          </p:cNvPr>
          <p:cNvSpPr/>
          <p:nvPr/>
        </p:nvSpPr>
        <p:spPr>
          <a:xfrm>
            <a:off x="4110265" y="2931209"/>
            <a:ext cx="448734" cy="448734"/>
          </a:xfrm>
          <a:prstGeom prst="roundRect">
            <a:avLst/>
          </a:prstGeom>
          <a:solidFill>
            <a:srgbClr val="F8F8F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a:extLst>
              <a:ext uri="{FF2B5EF4-FFF2-40B4-BE49-F238E27FC236}">
                <a16:creationId xmlns:a16="http://schemas.microsoft.com/office/drawing/2014/main" id="{FF583805-2286-ACB9-EA9C-2955F91CF9DF}"/>
              </a:ext>
            </a:extLst>
          </p:cNvPr>
          <p:cNvCxnSpPr>
            <a:cxnSpLocks/>
          </p:cNvCxnSpPr>
          <p:nvPr/>
        </p:nvCxnSpPr>
        <p:spPr>
          <a:xfrm flipV="1">
            <a:off x="3495040" y="3406838"/>
            <a:ext cx="752089" cy="35306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A6A16CD2-ACBB-E670-B115-6D184AC4E3CC}"/>
              </a:ext>
            </a:extLst>
          </p:cNvPr>
          <p:cNvSpPr/>
          <p:nvPr/>
        </p:nvSpPr>
        <p:spPr>
          <a:xfrm>
            <a:off x="3898793" y="3072878"/>
            <a:ext cx="192242" cy="192242"/>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a:t>
            </a:r>
            <a:endParaRPr lang="zh-CN" altLang="en-US" b="1"/>
          </a:p>
        </p:txBody>
      </p:sp>
      <p:sp>
        <p:nvSpPr>
          <p:cNvPr id="26" name="矩形: 圆角 25">
            <a:extLst>
              <a:ext uri="{FF2B5EF4-FFF2-40B4-BE49-F238E27FC236}">
                <a16:creationId xmlns:a16="http://schemas.microsoft.com/office/drawing/2014/main" id="{26E11387-42F4-24B8-082B-CE838323E6C1}"/>
              </a:ext>
            </a:extLst>
          </p:cNvPr>
          <p:cNvSpPr/>
          <p:nvPr/>
        </p:nvSpPr>
        <p:spPr>
          <a:xfrm>
            <a:off x="5296744" y="2931209"/>
            <a:ext cx="448734" cy="448734"/>
          </a:xfrm>
          <a:prstGeom prst="roundRect">
            <a:avLst/>
          </a:prstGeom>
          <a:solidFill>
            <a:srgbClr val="F8F8F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a:extLst>
              <a:ext uri="{FF2B5EF4-FFF2-40B4-BE49-F238E27FC236}">
                <a16:creationId xmlns:a16="http://schemas.microsoft.com/office/drawing/2014/main" id="{0CC3F094-258F-929D-DD51-53C0B32BF296}"/>
              </a:ext>
            </a:extLst>
          </p:cNvPr>
          <p:cNvCxnSpPr>
            <a:cxnSpLocks/>
          </p:cNvCxnSpPr>
          <p:nvPr/>
        </p:nvCxnSpPr>
        <p:spPr>
          <a:xfrm flipV="1">
            <a:off x="5535594" y="3390040"/>
            <a:ext cx="0" cy="36594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6807562D-4CC6-B27C-2EAD-414E42AA5CCB}"/>
              </a:ext>
            </a:extLst>
          </p:cNvPr>
          <p:cNvSpPr/>
          <p:nvPr/>
        </p:nvSpPr>
        <p:spPr>
          <a:xfrm>
            <a:off x="5122229" y="3073400"/>
            <a:ext cx="127103" cy="181560"/>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a:t>
            </a:r>
            <a:endParaRPr lang="zh-CN" altLang="en-US" b="1"/>
          </a:p>
        </p:txBody>
      </p:sp>
      <p:sp>
        <p:nvSpPr>
          <p:cNvPr id="30" name="椭圆 29">
            <a:extLst>
              <a:ext uri="{FF2B5EF4-FFF2-40B4-BE49-F238E27FC236}">
                <a16:creationId xmlns:a16="http://schemas.microsoft.com/office/drawing/2014/main" id="{6634F7B6-E728-729E-F855-4013B96A7EBF}"/>
              </a:ext>
            </a:extLst>
          </p:cNvPr>
          <p:cNvSpPr/>
          <p:nvPr/>
        </p:nvSpPr>
        <p:spPr>
          <a:xfrm>
            <a:off x="5949821" y="3064796"/>
            <a:ext cx="127103" cy="181560"/>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a:t>
            </a:r>
            <a:endParaRPr lang="zh-CN" altLang="en-US" b="1"/>
          </a:p>
        </p:txBody>
      </p:sp>
      <p:sp>
        <p:nvSpPr>
          <p:cNvPr id="31" name="矩形: 圆角 30">
            <a:extLst>
              <a:ext uri="{FF2B5EF4-FFF2-40B4-BE49-F238E27FC236}">
                <a16:creationId xmlns:a16="http://schemas.microsoft.com/office/drawing/2014/main" id="{82C4C12A-23A2-A3DF-9ACA-05FD2A1E9072}"/>
              </a:ext>
            </a:extLst>
          </p:cNvPr>
          <p:cNvSpPr/>
          <p:nvPr/>
        </p:nvSpPr>
        <p:spPr>
          <a:xfrm>
            <a:off x="6258856" y="2923217"/>
            <a:ext cx="448734" cy="448734"/>
          </a:xfrm>
          <a:prstGeom prst="roundRect">
            <a:avLst/>
          </a:prstGeom>
          <a:solidFill>
            <a:srgbClr val="F8F8F8"/>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a:extLst>
              <a:ext uri="{FF2B5EF4-FFF2-40B4-BE49-F238E27FC236}">
                <a16:creationId xmlns:a16="http://schemas.microsoft.com/office/drawing/2014/main" id="{65DE6381-3CBA-441B-7A6D-50A2CFD1BF15}"/>
              </a:ext>
            </a:extLst>
          </p:cNvPr>
          <p:cNvPicPr>
            <a:picLocks noChangeAspect="1"/>
          </p:cNvPicPr>
          <p:nvPr/>
        </p:nvPicPr>
        <p:blipFill rotWithShape="1">
          <a:blip r:embed="rId4"/>
          <a:srcRect b="31225"/>
          <a:stretch/>
        </p:blipFill>
        <p:spPr>
          <a:xfrm>
            <a:off x="98953" y="5507898"/>
            <a:ext cx="6608637" cy="1350102"/>
          </a:xfrm>
          <a:prstGeom prst="rect">
            <a:avLst/>
          </a:prstGeom>
        </p:spPr>
      </p:pic>
      <p:cxnSp>
        <p:nvCxnSpPr>
          <p:cNvPr id="66" name="连接符: 曲线 65">
            <a:extLst>
              <a:ext uri="{FF2B5EF4-FFF2-40B4-BE49-F238E27FC236}">
                <a16:creationId xmlns:a16="http://schemas.microsoft.com/office/drawing/2014/main" id="{AB215714-622B-87A3-BDDE-D3B1F2302ACD}"/>
              </a:ext>
            </a:extLst>
          </p:cNvPr>
          <p:cNvCxnSpPr>
            <a:cxnSpLocks/>
          </p:cNvCxnSpPr>
          <p:nvPr/>
        </p:nvCxnSpPr>
        <p:spPr>
          <a:xfrm rot="16200000" flipH="1">
            <a:off x="6527832" y="3417933"/>
            <a:ext cx="1097260" cy="737745"/>
          </a:xfrm>
          <a:prstGeom prst="curvedConnector3">
            <a:avLst>
              <a:gd name="adj1" fmla="val 50000"/>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68" name="连接符: 曲线 67">
            <a:extLst>
              <a:ext uri="{FF2B5EF4-FFF2-40B4-BE49-F238E27FC236}">
                <a16:creationId xmlns:a16="http://schemas.microsoft.com/office/drawing/2014/main" id="{3BA632D3-CB5F-7CBB-AE7E-4E0FCCF2B800}"/>
              </a:ext>
            </a:extLst>
          </p:cNvPr>
          <p:cNvCxnSpPr>
            <a:cxnSpLocks/>
          </p:cNvCxnSpPr>
          <p:nvPr/>
        </p:nvCxnSpPr>
        <p:spPr>
          <a:xfrm rot="5400000" flipH="1" flipV="1">
            <a:off x="6553721" y="4862567"/>
            <a:ext cx="1045485" cy="737744"/>
          </a:xfrm>
          <a:prstGeom prst="curvedConnector3">
            <a:avLst>
              <a:gd name="adj1" fmla="val 50000"/>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71" name="矩形: 圆角 70">
            <a:extLst>
              <a:ext uri="{FF2B5EF4-FFF2-40B4-BE49-F238E27FC236}">
                <a16:creationId xmlns:a16="http://schemas.microsoft.com/office/drawing/2014/main" id="{80659E01-E385-0883-295E-273CFDC36623}"/>
              </a:ext>
            </a:extLst>
          </p:cNvPr>
          <p:cNvSpPr/>
          <p:nvPr/>
        </p:nvSpPr>
        <p:spPr>
          <a:xfrm>
            <a:off x="7189626" y="4228599"/>
            <a:ext cx="2354814" cy="586934"/>
          </a:xfrm>
          <a:prstGeom prst="roundRect">
            <a:avLst/>
          </a:prstGeom>
          <a:solidFill>
            <a:srgbClr val="E1D5E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err="1">
                <a:solidFill>
                  <a:schemeClr val="tx1"/>
                </a:solidFill>
              </a:rPr>
              <a:t>DP.sync</a:t>
            </a:r>
            <a:r>
              <a:rPr lang="zh-CN" altLang="en-US">
                <a:solidFill>
                  <a:schemeClr val="tx1"/>
                </a:solidFill>
              </a:rPr>
              <a:t> </a:t>
            </a:r>
            <a:endParaRPr lang="en-US" altLang="zh-CN">
              <a:solidFill>
                <a:schemeClr val="tx1"/>
              </a:solidFill>
            </a:endParaRPr>
          </a:p>
          <a:p>
            <a:pPr algn="ctr"/>
            <a:r>
              <a:rPr lang="en-US" altLang="zh-CN">
                <a:solidFill>
                  <a:schemeClr val="tx1"/>
                </a:solidFill>
              </a:rPr>
              <a:t>(e.g., </a:t>
            </a:r>
            <a:r>
              <a:rPr lang="en-US" altLang="zh-CN" err="1">
                <a:solidFill>
                  <a:schemeClr val="tx1"/>
                </a:solidFill>
              </a:rPr>
              <a:t>Allreduce</a:t>
            </a:r>
            <a:r>
              <a:rPr lang="en-US" altLang="zh-CN">
                <a:solidFill>
                  <a:schemeClr val="tx1"/>
                </a:solidFill>
              </a:rPr>
              <a:t>)</a:t>
            </a:r>
            <a:endParaRPr lang="zh-CN" altLang="en-US">
              <a:solidFill>
                <a:schemeClr val="tx1"/>
              </a:solidFill>
            </a:endParaRPr>
          </a:p>
        </p:txBody>
      </p:sp>
      <p:sp>
        <p:nvSpPr>
          <p:cNvPr id="72" name="文本框 71">
            <a:extLst>
              <a:ext uri="{FF2B5EF4-FFF2-40B4-BE49-F238E27FC236}">
                <a16:creationId xmlns:a16="http://schemas.microsoft.com/office/drawing/2014/main" id="{074CE42A-D1D5-A385-1B12-AC3FA5A33976}"/>
              </a:ext>
            </a:extLst>
          </p:cNvPr>
          <p:cNvSpPr txBox="1"/>
          <p:nvPr/>
        </p:nvSpPr>
        <p:spPr>
          <a:xfrm>
            <a:off x="369437" y="3292999"/>
            <a:ext cx="2895344" cy="369332"/>
          </a:xfrm>
          <a:prstGeom prst="rect">
            <a:avLst/>
          </a:prstGeom>
          <a:noFill/>
        </p:spPr>
        <p:txBody>
          <a:bodyPr wrap="square" rtlCol="0">
            <a:spAutoFit/>
          </a:bodyPr>
          <a:lstStyle/>
          <a:p>
            <a:r>
              <a:rPr lang="en-US" altLang="zh-CN" b="1">
                <a:solidFill>
                  <a:schemeClr val="accent6"/>
                </a:solidFill>
                <a:latin typeface="Comic Sans MS" panose="030F0902030302020204" pitchFamily="66" charset="0"/>
                <a:ea typeface="方正舒体" panose="02010601030101010101" pitchFamily="2" charset="-122"/>
                <a:cs typeface="+mj-cs"/>
              </a:rPr>
              <a:t>DP</a:t>
            </a:r>
            <a:r>
              <a:rPr lang="zh-CN" altLang="en-US" b="1">
                <a:solidFill>
                  <a:schemeClr val="accent6"/>
                </a:solidFill>
                <a:latin typeface="Comic Sans MS" panose="030F0902030302020204" pitchFamily="66" charset="0"/>
                <a:ea typeface="方正舒体" panose="02010601030101010101" pitchFamily="2" charset="-122"/>
                <a:cs typeface="+mj-cs"/>
              </a:rPr>
              <a:t>副本</a:t>
            </a:r>
            <a:r>
              <a:rPr lang="en-US" altLang="zh-CN" b="1">
                <a:solidFill>
                  <a:schemeClr val="accent6"/>
                </a:solidFill>
                <a:latin typeface="Comic Sans MS" panose="030F0902030302020204" pitchFamily="66" charset="0"/>
                <a:ea typeface="方正舒体" panose="02010601030101010101" pitchFamily="2" charset="-122"/>
                <a:cs typeface="+mj-cs"/>
              </a:rPr>
              <a:t>1</a:t>
            </a:r>
            <a:endParaRPr lang="zh-CN" altLang="en-US">
              <a:solidFill>
                <a:schemeClr val="accent6"/>
              </a:solidFill>
            </a:endParaRPr>
          </a:p>
        </p:txBody>
      </p:sp>
      <p:sp>
        <p:nvSpPr>
          <p:cNvPr id="73" name="文本框 72">
            <a:extLst>
              <a:ext uri="{FF2B5EF4-FFF2-40B4-BE49-F238E27FC236}">
                <a16:creationId xmlns:a16="http://schemas.microsoft.com/office/drawing/2014/main" id="{58BB2549-8CF7-9F6B-1AEB-AB717B6EFC00}"/>
              </a:ext>
            </a:extLst>
          </p:cNvPr>
          <p:cNvSpPr txBox="1"/>
          <p:nvPr/>
        </p:nvSpPr>
        <p:spPr>
          <a:xfrm>
            <a:off x="367328" y="5856042"/>
            <a:ext cx="2895344" cy="369332"/>
          </a:xfrm>
          <a:prstGeom prst="rect">
            <a:avLst/>
          </a:prstGeom>
          <a:noFill/>
        </p:spPr>
        <p:txBody>
          <a:bodyPr wrap="square" rtlCol="0">
            <a:spAutoFit/>
          </a:bodyPr>
          <a:lstStyle/>
          <a:p>
            <a:r>
              <a:rPr lang="en-US" altLang="zh-CN" b="1">
                <a:solidFill>
                  <a:schemeClr val="accent6"/>
                </a:solidFill>
                <a:latin typeface="Comic Sans MS" panose="030F0902030302020204" pitchFamily="66" charset="0"/>
                <a:ea typeface="方正舒体" panose="02010601030101010101" pitchFamily="2" charset="-122"/>
                <a:cs typeface="+mj-cs"/>
              </a:rPr>
              <a:t>DP</a:t>
            </a:r>
            <a:r>
              <a:rPr lang="zh-CN" altLang="en-US" b="1">
                <a:solidFill>
                  <a:schemeClr val="accent6"/>
                </a:solidFill>
                <a:latin typeface="Comic Sans MS" panose="030F0902030302020204" pitchFamily="66" charset="0"/>
                <a:ea typeface="方正舒体" panose="02010601030101010101" pitchFamily="2" charset="-122"/>
                <a:cs typeface="+mj-cs"/>
              </a:rPr>
              <a:t>副本</a:t>
            </a:r>
            <a:r>
              <a:rPr lang="en-US" altLang="zh-CN" b="1">
                <a:solidFill>
                  <a:schemeClr val="accent6"/>
                </a:solidFill>
                <a:latin typeface="Comic Sans MS" panose="030F0902030302020204" pitchFamily="66" charset="0"/>
                <a:ea typeface="方正舒体" panose="02010601030101010101" pitchFamily="2" charset="-122"/>
                <a:cs typeface="+mj-cs"/>
              </a:rPr>
              <a:t>2</a:t>
            </a:r>
            <a:endParaRPr lang="zh-CN" altLang="en-US">
              <a:solidFill>
                <a:schemeClr val="accent6"/>
              </a:solidFill>
            </a:endParaRPr>
          </a:p>
        </p:txBody>
      </p:sp>
      <p:sp>
        <p:nvSpPr>
          <p:cNvPr id="16" name="标题 15">
            <a:extLst>
              <a:ext uri="{FF2B5EF4-FFF2-40B4-BE49-F238E27FC236}">
                <a16:creationId xmlns:a16="http://schemas.microsoft.com/office/drawing/2014/main" id="{95D7FB03-C9DF-0CDF-43EB-1A8D6DD4203A}"/>
              </a:ext>
            </a:extLst>
          </p:cNvPr>
          <p:cNvSpPr>
            <a:spLocks noGrp="1"/>
          </p:cNvSpPr>
          <p:nvPr>
            <p:ph type="title"/>
          </p:nvPr>
        </p:nvSpPr>
        <p:spPr>
          <a:xfrm>
            <a:off x="280800" y="90000"/>
            <a:ext cx="10756800" cy="709200"/>
          </a:xfrm>
        </p:spPr>
        <p:txBody>
          <a:bodyPr/>
          <a:lstStyle/>
          <a:p>
            <a:r>
              <a:rPr lang="zh-CN" altLang="en-US" dirty="0"/>
              <a:t>根本原因：</a:t>
            </a:r>
            <a:r>
              <a:rPr lang="en-US" altLang="zh-CN" dirty="0"/>
              <a:t>PP</a:t>
            </a:r>
            <a:r>
              <a:rPr lang="zh-CN" altLang="en-US" dirty="0"/>
              <a:t>计算任务和</a:t>
            </a:r>
            <a:r>
              <a:rPr lang="en-US" altLang="zh-CN" dirty="0" err="1"/>
              <a:t>DP.sync</a:t>
            </a:r>
            <a:r>
              <a:rPr lang="zh-CN" altLang="en-US" dirty="0"/>
              <a:t>通信任务阻塞</a:t>
            </a:r>
          </a:p>
        </p:txBody>
      </p:sp>
    </p:spTree>
    <p:extLst>
      <p:ext uri="{BB962C8B-B14F-4D97-AF65-F5344CB8AC3E}">
        <p14:creationId xmlns:p14="http://schemas.microsoft.com/office/powerpoint/2010/main" val="208373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fade">
                                      <p:cBhvr>
                                        <p:cTn id="45" dur="500"/>
                                        <p:tgtEl>
                                          <p:spTgt spid="3">
                                            <p:txEl>
                                              <p:pRg st="2" end="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fade">
                                      <p:cBhvr>
                                        <p:cTn id="51" dur="500"/>
                                        <p:tgtEl>
                                          <p:spTgt spid="7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2"/>
                                        </p:tgtEl>
                                        <p:attrNameLst>
                                          <p:attrName>style.visibility</p:attrName>
                                        </p:attrNameLst>
                                      </p:cBhvr>
                                      <p:to>
                                        <p:strVal val="visible"/>
                                      </p:to>
                                    </p:set>
                                    <p:animEffect transition="in" filter="fade">
                                      <p:cBhvr>
                                        <p:cTn id="54" dur="500"/>
                                        <p:tgtEl>
                                          <p:spTgt spid="7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71"/>
                                        </p:tgtEl>
                                        <p:attrNameLst>
                                          <p:attrName>style.visibility</p:attrName>
                                        </p:attrNameLst>
                                      </p:cBhvr>
                                      <p:to>
                                        <p:strVal val="visible"/>
                                      </p:to>
                                    </p:set>
                                    <p:animEffect transition="in" filter="fade">
                                      <p:cBhvr>
                                        <p:cTn id="59" dur="500"/>
                                        <p:tgtEl>
                                          <p:spTgt spid="71"/>
                                        </p:tgtEl>
                                      </p:cBhvr>
                                    </p:animEffect>
                                  </p:childTnLst>
                                </p:cTn>
                              </p:par>
                              <p:par>
                                <p:cTn id="60" presetID="10" presetClass="entr" presetSubtype="0" fill="hold"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500"/>
                                        <p:tgtEl>
                                          <p:spTgt spid="66"/>
                                        </p:tgtEl>
                                      </p:cBhvr>
                                    </p:animEffect>
                                  </p:childTnLst>
                                </p:cTn>
                              </p:par>
                              <p:par>
                                <p:cTn id="63" presetID="10" presetClass="entr" presetSubtype="0" fill="hold"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fade">
                                      <p:cBhvr>
                                        <p:cTn id="6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0" grpId="0" animBg="1"/>
      <p:bldP spid="21" grpId="0" animBg="1"/>
      <p:bldP spid="25" grpId="0" animBg="1"/>
      <p:bldP spid="26" grpId="0" animBg="1"/>
      <p:bldP spid="29" grpId="0" animBg="1"/>
      <p:bldP spid="30" grpId="0" animBg="1"/>
      <p:bldP spid="31" grpId="0" animBg="1"/>
      <p:bldP spid="71" grpId="0" animBg="1"/>
      <p:bldP spid="72" grpId="0"/>
      <p:bldP spid="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F77C9-8076-F168-A68C-3B6F297F6141}"/>
            </a:ext>
          </a:extLst>
        </p:cNvPr>
        <p:cNvGrpSpPr/>
        <p:nvPr/>
      </p:nvGrpSpPr>
      <p:grpSpPr>
        <a:xfrm>
          <a:off x="0" y="0"/>
          <a:ext cx="0" cy="0"/>
          <a:chOff x="0" y="0"/>
          <a:chExt cx="0" cy="0"/>
        </a:xfrm>
      </p:grpSpPr>
      <p:sp>
        <p:nvSpPr>
          <p:cNvPr id="230" name="内容占位符 2">
            <a:extLst>
              <a:ext uri="{FF2B5EF4-FFF2-40B4-BE49-F238E27FC236}">
                <a16:creationId xmlns:a16="http://schemas.microsoft.com/office/drawing/2014/main" id="{C5C8C9C5-CE8F-81CB-E704-C7B791E12EF4}"/>
              </a:ext>
            </a:extLst>
          </p:cNvPr>
          <p:cNvSpPr>
            <a:spLocks noGrp="1"/>
          </p:cNvSpPr>
          <p:nvPr>
            <p:ph idx="1"/>
          </p:nvPr>
        </p:nvSpPr>
        <p:spPr>
          <a:xfrm>
            <a:off x="445246" y="1032919"/>
            <a:ext cx="10980000" cy="5873572"/>
          </a:xfrm>
        </p:spPr>
        <p:txBody>
          <a:bodyPr>
            <a:normAutofit/>
          </a:bodyPr>
          <a:lstStyle/>
          <a:p>
            <a:r>
              <a:rPr lang="zh-CN" altLang="en-US" sz="2000" dirty="0"/>
              <a:t>当前</a:t>
            </a:r>
            <a:r>
              <a:rPr lang="en-US" altLang="zh-CN" sz="2000" dirty="0"/>
              <a:t>3D</a:t>
            </a:r>
            <a:r>
              <a:rPr lang="zh-CN" altLang="en-US" sz="2000" dirty="0"/>
              <a:t>系统，如英伟达</a:t>
            </a:r>
            <a:r>
              <a:rPr lang="en-US" altLang="zh-CN" sz="2000" dirty="0"/>
              <a:t>Megatron</a:t>
            </a:r>
            <a:r>
              <a:rPr lang="zh-CN" altLang="en-US" sz="2000" dirty="0"/>
              <a:t>：微批处理是</a:t>
            </a:r>
            <a:r>
              <a:rPr lang="en-US" altLang="zh-CN" sz="2000" dirty="0"/>
              <a:t>FIFO</a:t>
            </a:r>
            <a:r>
              <a:rPr lang="zh-CN" altLang="en-US" sz="2000" dirty="0"/>
              <a:t>（</a:t>
            </a:r>
            <a:r>
              <a:rPr lang="en-US" altLang="zh-CN" sz="2000" dirty="0"/>
              <a:t>1 forward 1 backward, 1F1B</a:t>
            </a:r>
            <a:r>
              <a:rPr lang="zh-CN" altLang="en-US" sz="2000" dirty="0"/>
              <a:t>）策略</a:t>
            </a:r>
            <a:endParaRPr lang="en-US" altLang="zh-CN" sz="2000" dirty="0"/>
          </a:p>
          <a:p>
            <a:endParaRPr lang="en-US" altLang="zh-CN" sz="2000" dirty="0"/>
          </a:p>
          <a:p>
            <a:endParaRPr lang="en-US" altLang="zh-CN" sz="2000" dirty="0"/>
          </a:p>
          <a:p>
            <a:endParaRPr lang="en-US" altLang="zh-CN" sz="2000" dirty="0"/>
          </a:p>
          <a:p>
            <a:endParaRPr lang="en-US" altLang="zh-CN" sz="2000" dirty="0"/>
          </a:p>
          <a:p>
            <a:pPr lvl="8"/>
            <a:endParaRPr lang="en-US" altLang="zh-CN" sz="1000" dirty="0"/>
          </a:p>
          <a:p>
            <a:r>
              <a:rPr lang="en-US" altLang="zh-CN" sz="2000" dirty="0"/>
              <a:t>Fold</a:t>
            </a:r>
            <a:r>
              <a:rPr lang="zh-CN" altLang="en-US" sz="2000" dirty="0"/>
              <a:t>调度：微批次，新的全进全出（</a:t>
            </a:r>
            <a:r>
              <a:rPr lang="en-US" altLang="zh-CN" sz="2000" dirty="0"/>
              <a:t>All In All Out, or All Forward All Backward, AFAB</a:t>
            </a:r>
            <a:r>
              <a:rPr lang="zh-CN" altLang="en-US" sz="2000" dirty="0"/>
              <a:t>）策略</a:t>
            </a:r>
            <a:endParaRPr lang="en-US" altLang="zh-CN" sz="2000" dirty="0"/>
          </a:p>
          <a:p>
            <a:pPr lvl="1"/>
            <a:r>
              <a:rPr lang="zh-CN" altLang="en-US" sz="1800" b="1" dirty="0"/>
              <a:t>将梯度计算拆分，并按微批次对梯度进行分组</a:t>
            </a:r>
            <a:endParaRPr lang="en-US" altLang="zh-CN" sz="1800" b="1" dirty="0"/>
          </a:p>
          <a:p>
            <a:pPr lvl="1"/>
            <a:r>
              <a:rPr lang="zh-CN" altLang="en-US" sz="1800" b="1" dirty="0"/>
              <a:t>因此，分组梯度的 </a:t>
            </a:r>
            <a:r>
              <a:rPr lang="en-US" altLang="zh-CN" sz="1800" b="1" dirty="0" err="1"/>
              <a:t>DP.sync</a:t>
            </a:r>
            <a:r>
              <a:rPr lang="en-US" altLang="zh-CN" sz="1800" b="1" dirty="0"/>
              <a:t> </a:t>
            </a:r>
            <a:r>
              <a:rPr lang="zh-CN" altLang="en-US" sz="1800" b="1" dirty="0"/>
              <a:t>可以与其他组的计算重叠</a:t>
            </a:r>
            <a:endParaRPr lang="en-US" altLang="zh-CN" sz="1800" b="1" dirty="0"/>
          </a:p>
          <a:p>
            <a:pPr lvl="1"/>
            <a:endParaRPr lang="en-US" altLang="zh-CN" sz="1800" b="1" dirty="0"/>
          </a:p>
          <a:p>
            <a:pPr lvl="1"/>
            <a:endParaRPr lang="en-US" altLang="zh-CN" sz="1800" b="1" dirty="0"/>
          </a:p>
          <a:p>
            <a:pPr lvl="1"/>
            <a:endParaRPr lang="en-US" altLang="zh-CN" sz="1800" b="1" dirty="0"/>
          </a:p>
          <a:p>
            <a:pPr lvl="1"/>
            <a:endParaRPr lang="en-US" altLang="zh-CN" sz="1800" b="1" dirty="0"/>
          </a:p>
          <a:p>
            <a:pPr lvl="1"/>
            <a:endParaRPr lang="en-US" altLang="zh-CN" sz="1800" b="1" dirty="0"/>
          </a:p>
          <a:p>
            <a:pPr lvl="1"/>
            <a:endParaRPr lang="en-US" altLang="zh-CN" sz="1800" b="1" dirty="0"/>
          </a:p>
          <a:p>
            <a:pPr lvl="1"/>
            <a:r>
              <a:rPr lang="en-US" altLang="zh-CN" sz="1800" b="1" dirty="0"/>
              <a:t>Fold3D</a:t>
            </a:r>
            <a:r>
              <a:rPr lang="zh-CN" altLang="en-US" sz="1800" b="1" dirty="0"/>
              <a:t>根据训练集群网络和流水线并行计算的耗时，决定每个微批的切分份数</a:t>
            </a:r>
            <a:endParaRPr lang="en-US" altLang="zh-CN" sz="1800" b="1" dirty="0"/>
          </a:p>
          <a:p>
            <a:pPr lvl="1"/>
            <a:r>
              <a:rPr lang="en-US" altLang="zh-CN" sz="1800" b="1" dirty="0"/>
              <a:t>Megatron</a:t>
            </a:r>
            <a:r>
              <a:rPr lang="zh-CN" altLang="en-US" sz="1800" b="1" dirty="0"/>
              <a:t>也切分</a:t>
            </a:r>
            <a:r>
              <a:rPr lang="en-US" altLang="zh-CN" sz="1800" b="1" dirty="0"/>
              <a:t>micro-batch</a:t>
            </a:r>
            <a:r>
              <a:rPr lang="zh-CN" altLang="en-US" sz="1800" b="1" dirty="0"/>
              <a:t>，但目的是减少流水线维度的气泡，不是解决</a:t>
            </a:r>
            <a:r>
              <a:rPr lang="en-US" altLang="zh-CN" sz="1800" b="1" dirty="0" err="1"/>
              <a:t>DP.sync</a:t>
            </a:r>
            <a:r>
              <a:rPr lang="zh-CN" altLang="en-US" sz="1800" b="1" dirty="0"/>
              <a:t>阻塞</a:t>
            </a:r>
            <a:r>
              <a:rPr lang="en-US" altLang="zh-CN" sz="1800" b="1" dirty="0"/>
              <a:t>PP</a:t>
            </a:r>
            <a:r>
              <a:rPr lang="zh-CN" altLang="en-US" sz="1800" b="1" dirty="0"/>
              <a:t>的问题</a:t>
            </a:r>
            <a:endParaRPr lang="en-US" altLang="zh-CN" sz="1800" b="1" dirty="0"/>
          </a:p>
          <a:p>
            <a:pPr lvl="1"/>
            <a:endParaRPr lang="en-US" altLang="zh-CN" sz="1800" b="1" dirty="0"/>
          </a:p>
          <a:p>
            <a:endParaRPr lang="en-US" altLang="zh-CN" sz="2000" b="1" u="sng" dirty="0"/>
          </a:p>
          <a:p>
            <a:endParaRPr lang="en-US" altLang="zh-CN" sz="2000" b="1" u="sng" dirty="0"/>
          </a:p>
          <a:p>
            <a:endParaRPr lang="en-US" altLang="zh-CN" sz="2000" b="1" u="sng" dirty="0"/>
          </a:p>
          <a:p>
            <a:endParaRPr lang="en-US" altLang="zh-CN" sz="2000" b="1" u="sng" dirty="0"/>
          </a:p>
          <a:p>
            <a:pPr marL="0" indent="0">
              <a:buNone/>
            </a:pPr>
            <a:endParaRPr lang="en-US" altLang="zh-CN" sz="2000" b="1" u="sng" dirty="0"/>
          </a:p>
        </p:txBody>
      </p:sp>
      <p:sp>
        <p:nvSpPr>
          <p:cNvPr id="4" name="灯片编号占位符 3">
            <a:extLst>
              <a:ext uri="{FF2B5EF4-FFF2-40B4-BE49-F238E27FC236}">
                <a16:creationId xmlns:a16="http://schemas.microsoft.com/office/drawing/2014/main" id="{BBBAF0DC-0EB0-328F-4C74-9E74CEFF2071}"/>
              </a:ext>
            </a:extLst>
          </p:cNvPr>
          <p:cNvSpPr>
            <a:spLocks noGrp="1"/>
          </p:cNvSpPr>
          <p:nvPr>
            <p:ph type="sldNum" sz="quarter" idx="12"/>
          </p:nvPr>
        </p:nvSpPr>
        <p:spPr>
          <a:xfrm>
            <a:off x="8891336" y="6440575"/>
            <a:ext cx="3050511" cy="327426"/>
          </a:xfrm>
        </p:spPr>
        <p:txBody>
          <a:bodyPr/>
          <a:lstStyle/>
          <a:p>
            <a:fld id="{A7CD31F4-64FA-4BA0-9498-67783267A8C8}" type="slidenum">
              <a:rPr lang="en-US" smtClean="0"/>
              <a:t>10</a:t>
            </a:fld>
            <a:endParaRPr lang="en-US"/>
          </a:p>
        </p:txBody>
      </p:sp>
      <p:sp>
        <p:nvSpPr>
          <p:cNvPr id="7" name="标题 6">
            <a:extLst>
              <a:ext uri="{FF2B5EF4-FFF2-40B4-BE49-F238E27FC236}">
                <a16:creationId xmlns:a16="http://schemas.microsoft.com/office/drawing/2014/main" id="{91CDF967-FFC6-592F-8001-F366EDF73615}"/>
              </a:ext>
            </a:extLst>
          </p:cNvPr>
          <p:cNvSpPr>
            <a:spLocks noGrp="1"/>
          </p:cNvSpPr>
          <p:nvPr>
            <p:ph type="title"/>
          </p:nvPr>
        </p:nvSpPr>
        <p:spPr>
          <a:xfrm>
            <a:off x="92404" y="90000"/>
            <a:ext cx="12052113" cy="709200"/>
          </a:xfrm>
        </p:spPr>
        <p:txBody>
          <a:bodyPr/>
          <a:lstStyle/>
          <a:p>
            <a:r>
              <a:rPr lang="zh-CN" altLang="en-US" dirty="0"/>
              <a:t>国际</a:t>
            </a:r>
            <a:r>
              <a:rPr lang="en-US" altLang="zh-CN" dirty="0"/>
              <a:t>3D</a:t>
            </a:r>
            <a:r>
              <a:rPr lang="zh-CN" altLang="en-US" dirty="0"/>
              <a:t>并行</a:t>
            </a:r>
            <a:r>
              <a:rPr lang="en-US" altLang="zh-CN" dirty="0"/>
              <a:t>1F1B</a:t>
            </a:r>
            <a:r>
              <a:rPr lang="zh-CN" altLang="en-US" dirty="0"/>
              <a:t>（上半部）；我们是</a:t>
            </a:r>
            <a:r>
              <a:rPr lang="en-US" altLang="zh-CN" dirty="0"/>
              <a:t>AFAB</a:t>
            </a:r>
            <a:r>
              <a:rPr lang="zh-CN" altLang="en-US" dirty="0"/>
              <a:t>（下半部）</a:t>
            </a:r>
          </a:p>
        </p:txBody>
      </p:sp>
      <p:pic>
        <p:nvPicPr>
          <p:cNvPr id="12" name="图片 11">
            <a:extLst>
              <a:ext uri="{FF2B5EF4-FFF2-40B4-BE49-F238E27FC236}">
                <a16:creationId xmlns:a16="http://schemas.microsoft.com/office/drawing/2014/main" id="{42E272E6-6ECC-2FF3-8737-0D3F76D192F2}"/>
              </a:ext>
            </a:extLst>
          </p:cNvPr>
          <p:cNvPicPr>
            <a:picLocks noChangeAspect="1"/>
          </p:cNvPicPr>
          <p:nvPr/>
        </p:nvPicPr>
        <p:blipFill>
          <a:blip r:embed="rId3"/>
          <a:stretch>
            <a:fillRect/>
          </a:stretch>
        </p:blipFill>
        <p:spPr>
          <a:xfrm>
            <a:off x="134489" y="4302963"/>
            <a:ext cx="4665487" cy="1555162"/>
          </a:xfrm>
          <a:prstGeom prst="rect">
            <a:avLst/>
          </a:prstGeom>
        </p:spPr>
      </p:pic>
      <p:pic>
        <p:nvPicPr>
          <p:cNvPr id="13" name="图片 12">
            <a:extLst>
              <a:ext uri="{FF2B5EF4-FFF2-40B4-BE49-F238E27FC236}">
                <a16:creationId xmlns:a16="http://schemas.microsoft.com/office/drawing/2014/main" id="{D8C1CB75-5A93-D68C-C927-78D46F3B42EA}"/>
              </a:ext>
            </a:extLst>
          </p:cNvPr>
          <p:cNvPicPr>
            <a:picLocks noChangeAspect="1"/>
          </p:cNvPicPr>
          <p:nvPr/>
        </p:nvPicPr>
        <p:blipFill>
          <a:blip r:embed="rId4"/>
          <a:stretch>
            <a:fillRect/>
          </a:stretch>
        </p:blipFill>
        <p:spPr>
          <a:xfrm>
            <a:off x="134491" y="1424350"/>
            <a:ext cx="4680000" cy="1539188"/>
          </a:xfrm>
          <a:prstGeom prst="rect">
            <a:avLst/>
          </a:prstGeom>
        </p:spPr>
      </p:pic>
      <p:sp>
        <p:nvSpPr>
          <p:cNvPr id="234" name="文本框 233">
            <a:extLst>
              <a:ext uri="{FF2B5EF4-FFF2-40B4-BE49-F238E27FC236}">
                <a16:creationId xmlns:a16="http://schemas.microsoft.com/office/drawing/2014/main" id="{CBACB873-01C5-4AB3-338E-88DA6A425E1F}"/>
              </a:ext>
            </a:extLst>
          </p:cNvPr>
          <p:cNvSpPr txBox="1"/>
          <p:nvPr/>
        </p:nvSpPr>
        <p:spPr>
          <a:xfrm>
            <a:off x="5455303" y="5489211"/>
            <a:ext cx="2976374" cy="584775"/>
          </a:xfrm>
          <a:prstGeom prst="rect">
            <a:avLst/>
          </a:prstGeom>
          <a:noFill/>
        </p:spPr>
        <p:txBody>
          <a:bodyPr wrap="square" rtlCol="0">
            <a:spAutoFit/>
          </a:bodyPr>
          <a:lstStyle/>
          <a:p>
            <a:pPr algn="ctr"/>
            <a:r>
              <a:rPr lang="en-US" altLang="zh-CN" sz="1600" b="1" dirty="0"/>
              <a:t>Backward: </a:t>
            </a:r>
            <a:r>
              <a:rPr lang="en-US" altLang="zh-CN" sz="1600" b="1" dirty="0" err="1"/>
              <a:t>DP.sync</a:t>
            </a:r>
            <a:r>
              <a:rPr lang="en-US" altLang="zh-CN" sz="1600" b="1" dirty="0"/>
              <a:t> current iteration’s  gradients</a:t>
            </a:r>
            <a:endParaRPr lang="zh-CN" altLang="en-US" sz="1600" b="1" dirty="0"/>
          </a:p>
        </p:txBody>
      </p:sp>
      <p:sp>
        <p:nvSpPr>
          <p:cNvPr id="235" name="文本框 234">
            <a:extLst>
              <a:ext uri="{FF2B5EF4-FFF2-40B4-BE49-F238E27FC236}">
                <a16:creationId xmlns:a16="http://schemas.microsoft.com/office/drawing/2014/main" id="{82BCCBD8-3050-221E-E0BA-BE22A3208FAF}"/>
              </a:ext>
            </a:extLst>
          </p:cNvPr>
          <p:cNvSpPr txBox="1"/>
          <p:nvPr/>
        </p:nvSpPr>
        <p:spPr>
          <a:xfrm>
            <a:off x="4972046" y="4566231"/>
            <a:ext cx="3405030" cy="584775"/>
          </a:xfrm>
          <a:prstGeom prst="rect">
            <a:avLst/>
          </a:prstGeom>
          <a:noFill/>
        </p:spPr>
        <p:txBody>
          <a:bodyPr wrap="square" rtlCol="0">
            <a:spAutoFit/>
          </a:bodyPr>
          <a:lstStyle/>
          <a:p>
            <a:pPr algn="ctr"/>
            <a:r>
              <a:rPr lang="en-US" altLang="zh-CN" sz="1600" b="1" dirty="0"/>
              <a:t>Forward: </a:t>
            </a:r>
            <a:r>
              <a:rPr lang="en-US" altLang="zh-CN" sz="1600" b="1" dirty="0" err="1"/>
              <a:t>DP.sync</a:t>
            </a:r>
            <a:r>
              <a:rPr lang="en-US" altLang="zh-CN" sz="1600" b="1" dirty="0"/>
              <a:t> last iteration’s updated parameters</a:t>
            </a:r>
            <a:endParaRPr lang="zh-CN" altLang="en-US" sz="1600" b="1" dirty="0"/>
          </a:p>
        </p:txBody>
      </p:sp>
      <p:sp>
        <p:nvSpPr>
          <p:cNvPr id="148" name="矩形 147">
            <a:extLst>
              <a:ext uri="{FF2B5EF4-FFF2-40B4-BE49-F238E27FC236}">
                <a16:creationId xmlns:a16="http://schemas.microsoft.com/office/drawing/2014/main" id="{D6E083AD-5BBD-D7D4-C92D-F46813EDEAC5}"/>
              </a:ext>
            </a:extLst>
          </p:cNvPr>
          <p:cNvSpPr/>
          <p:nvPr/>
        </p:nvSpPr>
        <p:spPr>
          <a:xfrm>
            <a:off x="6200418"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149" name="矩形 148">
            <a:extLst>
              <a:ext uri="{FF2B5EF4-FFF2-40B4-BE49-F238E27FC236}">
                <a16:creationId xmlns:a16="http://schemas.microsoft.com/office/drawing/2014/main" id="{AFA25AF8-863F-C1B7-C44C-08944B0DFD40}"/>
              </a:ext>
            </a:extLst>
          </p:cNvPr>
          <p:cNvSpPr/>
          <p:nvPr/>
        </p:nvSpPr>
        <p:spPr>
          <a:xfrm>
            <a:off x="5770883"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150" name="矩形 149">
            <a:extLst>
              <a:ext uri="{FF2B5EF4-FFF2-40B4-BE49-F238E27FC236}">
                <a16:creationId xmlns:a16="http://schemas.microsoft.com/office/drawing/2014/main" id="{16ADB55F-6E7A-D860-33D7-D4B43C22DA79}"/>
              </a:ext>
            </a:extLst>
          </p:cNvPr>
          <p:cNvSpPr/>
          <p:nvPr/>
        </p:nvSpPr>
        <p:spPr>
          <a:xfrm>
            <a:off x="5339889"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51" name="矩形 150">
            <a:extLst>
              <a:ext uri="{FF2B5EF4-FFF2-40B4-BE49-F238E27FC236}">
                <a16:creationId xmlns:a16="http://schemas.microsoft.com/office/drawing/2014/main" id="{C911C673-030F-7032-4356-9D7CE0D5F4EC}"/>
              </a:ext>
            </a:extLst>
          </p:cNvPr>
          <p:cNvSpPr/>
          <p:nvPr/>
        </p:nvSpPr>
        <p:spPr>
          <a:xfrm>
            <a:off x="4910354"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52" name="矩形 151">
            <a:extLst>
              <a:ext uri="{FF2B5EF4-FFF2-40B4-BE49-F238E27FC236}">
                <a16:creationId xmlns:a16="http://schemas.microsoft.com/office/drawing/2014/main" id="{23C4C6D4-0763-9589-2A27-0658BE4F4FCE}"/>
              </a:ext>
            </a:extLst>
          </p:cNvPr>
          <p:cNvSpPr/>
          <p:nvPr/>
        </p:nvSpPr>
        <p:spPr>
          <a:xfrm>
            <a:off x="4477900"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153" name="矩形 152">
            <a:extLst>
              <a:ext uri="{FF2B5EF4-FFF2-40B4-BE49-F238E27FC236}">
                <a16:creationId xmlns:a16="http://schemas.microsoft.com/office/drawing/2014/main" id="{960C552B-A3AE-68D9-3CCA-E0C01B7B9B1B}"/>
              </a:ext>
            </a:extLst>
          </p:cNvPr>
          <p:cNvSpPr/>
          <p:nvPr/>
        </p:nvSpPr>
        <p:spPr>
          <a:xfrm>
            <a:off x="4045900" y="1837201"/>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154" name="矩形 153">
            <a:extLst>
              <a:ext uri="{FF2B5EF4-FFF2-40B4-BE49-F238E27FC236}">
                <a16:creationId xmlns:a16="http://schemas.microsoft.com/office/drawing/2014/main" id="{D3A679D7-CE8E-93FD-DE70-B0648893260B}"/>
              </a:ext>
            </a:extLst>
          </p:cNvPr>
          <p:cNvSpPr/>
          <p:nvPr/>
        </p:nvSpPr>
        <p:spPr>
          <a:xfrm>
            <a:off x="6631412" y="1837201"/>
            <a:ext cx="216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a:extLst>
              <a:ext uri="{FF2B5EF4-FFF2-40B4-BE49-F238E27FC236}">
                <a16:creationId xmlns:a16="http://schemas.microsoft.com/office/drawing/2014/main" id="{B7DC7D7D-25D7-767E-1062-B045EE6DB59C}"/>
              </a:ext>
            </a:extLst>
          </p:cNvPr>
          <p:cNvSpPr txBox="1"/>
          <p:nvPr/>
        </p:nvSpPr>
        <p:spPr>
          <a:xfrm>
            <a:off x="7441915" y="1832562"/>
            <a:ext cx="540000"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156" name="矩形: 圆角 155">
            <a:extLst>
              <a:ext uri="{FF2B5EF4-FFF2-40B4-BE49-F238E27FC236}">
                <a16:creationId xmlns:a16="http://schemas.microsoft.com/office/drawing/2014/main" id="{387DF0AE-13E5-CEAB-F389-CB450FA207B2}"/>
              </a:ext>
            </a:extLst>
          </p:cNvPr>
          <p:cNvSpPr/>
          <p:nvPr/>
        </p:nvSpPr>
        <p:spPr>
          <a:xfrm>
            <a:off x="7478694" y="2049234"/>
            <a:ext cx="468000" cy="108000"/>
          </a:xfrm>
          <a:prstGeom prst="round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a:extLst>
              <a:ext uri="{FF2B5EF4-FFF2-40B4-BE49-F238E27FC236}">
                <a16:creationId xmlns:a16="http://schemas.microsoft.com/office/drawing/2014/main" id="{230ABEAF-9959-2678-0A34-5695DD7C0EDF}"/>
              </a:ext>
            </a:extLst>
          </p:cNvPr>
          <p:cNvSpPr/>
          <p:nvPr/>
        </p:nvSpPr>
        <p:spPr>
          <a:xfrm>
            <a:off x="9207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58" name="矩形 157">
            <a:extLst>
              <a:ext uri="{FF2B5EF4-FFF2-40B4-BE49-F238E27FC236}">
                <a16:creationId xmlns:a16="http://schemas.microsoft.com/office/drawing/2014/main" id="{A7B86CEA-6667-51A3-1113-5AB2A018FAB5}"/>
              </a:ext>
            </a:extLst>
          </p:cNvPr>
          <p:cNvSpPr/>
          <p:nvPr/>
        </p:nvSpPr>
        <p:spPr>
          <a:xfrm>
            <a:off x="9351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59" name="矩形 158">
            <a:extLst>
              <a:ext uri="{FF2B5EF4-FFF2-40B4-BE49-F238E27FC236}">
                <a16:creationId xmlns:a16="http://schemas.microsoft.com/office/drawing/2014/main" id="{C0E89F49-B4A4-9B45-4435-393C764B30D1}"/>
              </a:ext>
            </a:extLst>
          </p:cNvPr>
          <p:cNvSpPr/>
          <p:nvPr/>
        </p:nvSpPr>
        <p:spPr>
          <a:xfrm>
            <a:off x="9495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60" name="矩形 159">
            <a:extLst>
              <a:ext uri="{FF2B5EF4-FFF2-40B4-BE49-F238E27FC236}">
                <a16:creationId xmlns:a16="http://schemas.microsoft.com/office/drawing/2014/main" id="{16867B89-9468-C1A7-3394-7527195A9317}"/>
              </a:ext>
            </a:extLst>
          </p:cNvPr>
          <p:cNvSpPr/>
          <p:nvPr/>
        </p:nvSpPr>
        <p:spPr>
          <a:xfrm>
            <a:off x="9639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61" name="矩形 160">
            <a:extLst>
              <a:ext uri="{FF2B5EF4-FFF2-40B4-BE49-F238E27FC236}">
                <a16:creationId xmlns:a16="http://schemas.microsoft.com/office/drawing/2014/main" id="{7E398387-3159-FE3B-7E69-30755F71761C}"/>
              </a:ext>
            </a:extLst>
          </p:cNvPr>
          <p:cNvSpPr/>
          <p:nvPr/>
        </p:nvSpPr>
        <p:spPr>
          <a:xfrm>
            <a:off x="9783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62" name="矩形 161">
            <a:extLst>
              <a:ext uri="{FF2B5EF4-FFF2-40B4-BE49-F238E27FC236}">
                <a16:creationId xmlns:a16="http://schemas.microsoft.com/office/drawing/2014/main" id="{168C3378-C8BB-6857-DA56-3F4FA50BD15D}"/>
              </a:ext>
            </a:extLst>
          </p:cNvPr>
          <p:cNvSpPr/>
          <p:nvPr/>
        </p:nvSpPr>
        <p:spPr>
          <a:xfrm>
            <a:off x="9927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63" name="矩形 162">
            <a:extLst>
              <a:ext uri="{FF2B5EF4-FFF2-40B4-BE49-F238E27FC236}">
                <a16:creationId xmlns:a16="http://schemas.microsoft.com/office/drawing/2014/main" id="{8A97B1C0-2CFF-515F-D796-FBFB4E0594BF}"/>
              </a:ext>
            </a:extLst>
          </p:cNvPr>
          <p:cNvSpPr/>
          <p:nvPr/>
        </p:nvSpPr>
        <p:spPr>
          <a:xfrm>
            <a:off x="10071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64" name="矩形 163">
            <a:extLst>
              <a:ext uri="{FF2B5EF4-FFF2-40B4-BE49-F238E27FC236}">
                <a16:creationId xmlns:a16="http://schemas.microsoft.com/office/drawing/2014/main" id="{C3C09C89-B214-5267-800E-A8F901EB27D8}"/>
              </a:ext>
            </a:extLst>
          </p:cNvPr>
          <p:cNvSpPr/>
          <p:nvPr/>
        </p:nvSpPr>
        <p:spPr>
          <a:xfrm>
            <a:off x="10215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65" name="矩形 164">
            <a:extLst>
              <a:ext uri="{FF2B5EF4-FFF2-40B4-BE49-F238E27FC236}">
                <a16:creationId xmlns:a16="http://schemas.microsoft.com/office/drawing/2014/main" id="{1F553FDF-B7CE-D88A-51A7-E12B0AD2BBF5}"/>
              </a:ext>
            </a:extLst>
          </p:cNvPr>
          <p:cNvSpPr/>
          <p:nvPr/>
        </p:nvSpPr>
        <p:spPr>
          <a:xfrm>
            <a:off x="10359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66" name="矩形 165">
            <a:extLst>
              <a:ext uri="{FF2B5EF4-FFF2-40B4-BE49-F238E27FC236}">
                <a16:creationId xmlns:a16="http://schemas.microsoft.com/office/drawing/2014/main" id="{C24E80E7-470A-0B1B-D623-DA9E94732886}"/>
              </a:ext>
            </a:extLst>
          </p:cNvPr>
          <p:cNvSpPr/>
          <p:nvPr/>
        </p:nvSpPr>
        <p:spPr>
          <a:xfrm>
            <a:off x="10503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67" name="矩形 166">
            <a:extLst>
              <a:ext uri="{FF2B5EF4-FFF2-40B4-BE49-F238E27FC236}">
                <a16:creationId xmlns:a16="http://schemas.microsoft.com/office/drawing/2014/main" id="{3691C67C-9B76-D398-0CC2-32D75B27C42B}"/>
              </a:ext>
            </a:extLst>
          </p:cNvPr>
          <p:cNvSpPr/>
          <p:nvPr/>
        </p:nvSpPr>
        <p:spPr>
          <a:xfrm>
            <a:off x="10647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68" name="矩形 167">
            <a:extLst>
              <a:ext uri="{FF2B5EF4-FFF2-40B4-BE49-F238E27FC236}">
                <a16:creationId xmlns:a16="http://schemas.microsoft.com/office/drawing/2014/main" id="{1AD52393-734A-54A4-E1E4-81631D0F2ED5}"/>
              </a:ext>
            </a:extLst>
          </p:cNvPr>
          <p:cNvSpPr/>
          <p:nvPr/>
        </p:nvSpPr>
        <p:spPr>
          <a:xfrm>
            <a:off x="10791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69" name="矩形 168">
            <a:extLst>
              <a:ext uri="{FF2B5EF4-FFF2-40B4-BE49-F238E27FC236}">
                <a16:creationId xmlns:a16="http://schemas.microsoft.com/office/drawing/2014/main" id="{FDC98903-B113-9D69-7464-12AFD12E3291}"/>
              </a:ext>
            </a:extLst>
          </p:cNvPr>
          <p:cNvSpPr/>
          <p:nvPr/>
        </p:nvSpPr>
        <p:spPr>
          <a:xfrm>
            <a:off x="10935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70" name="矩形 169">
            <a:extLst>
              <a:ext uri="{FF2B5EF4-FFF2-40B4-BE49-F238E27FC236}">
                <a16:creationId xmlns:a16="http://schemas.microsoft.com/office/drawing/2014/main" id="{0B2A86AD-7055-8700-9459-EBDBAA99A20B}"/>
              </a:ext>
            </a:extLst>
          </p:cNvPr>
          <p:cNvSpPr/>
          <p:nvPr/>
        </p:nvSpPr>
        <p:spPr>
          <a:xfrm>
            <a:off x="11079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71" name="矩形 170">
            <a:extLst>
              <a:ext uri="{FF2B5EF4-FFF2-40B4-BE49-F238E27FC236}">
                <a16:creationId xmlns:a16="http://schemas.microsoft.com/office/drawing/2014/main" id="{C9CC9343-AA44-9162-5030-F54F6791807B}"/>
              </a:ext>
            </a:extLst>
          </p:cNvPr>
          <p:cNvSpPr/>
          <p:nvPr/>
        </p:nvSpPr>
        <p:spPr>
          <a:xfrm>
            <a:off x="11223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72" name="矩形 171">
            <a:extLst>
              <a:ext uri="{FF2B5EF4-FFF2-40B4-BE49-F238E27FC236}">
                <a16:creationId xmlns:a16="http://schemas.microsoft.com/office/drawing/2014/main" id="{7A8E914E-2203-C35B-E8C0-6B7C5D408C62}"/>
              </a:ext>
            </a:extLst>
          </p:cNvPr>
          <p:cNvSpPr/>
          <p:nvPr/>
        </p:nvSpPr>
        <p:spPr>
          <a:xfrm>
            <a:off x="11367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73" name="矩形 172">
            <a:extLst>
              <a:ext uri="{FF2B5EF4-FFF2-40B4-BE49-F238E27FC236}">
                <a16:creationId xmlns:a16="http://schemas.microsoft.com/office/drawing/2014/main" id="{04937BA9-9457-DE12-540A-06F40B13EC7A}"/>
              </a:ext>
            </a:extLst>
          </p:cNvPr>
          <p:cNvSpPr/>
          <p:nvPr/>
        </p:nvSpPr>
        <p:spPr>
          <a:xfrm>
            <a:off x="11511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74" name="矩形 173">
            <a:extLst>
              <a:ext uri="{FF2B5EF4-FFF2-40B4-BE49-F238E27FC236}">
                <a16:creationId xmlns:a16="http://schemas.microsoft.com/office/drawing/2014/main" id="{8457EF19-3417-45E5-0625-5E21C2444F1E}"/>
              </a:ext>
            </a:extLst>
          </p:cNvPr>
          <p:cNvSpPr/>
          <p:nvPr/>
        </p:nvSpPr>
        <p:spPr>
          <a:xfrm>
            <a:off x="11655082" y="273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75" name="矩形 174">
            <a:extLst>
              <a:ext uri="{FF2B5EF4-FFF2-40B4-BE49-F238E27FC236}">
                <a16:creationId xmlns:a16="http://schemas.microsoft.com/office/drawing/2014/main" id="{7D36A28B-4801-7B47-729B-4840456A9A80}"/>
              </a:ext>
            </a:extLst>
          </p:cNvPr>
          <p:cNvSpPr/>
          <p:nvPr/>
        </p:nvSpPr>
        <p:spPr>
          <a:xfrm>
            <a:off x="9351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76" name="矩形 175">
            <a:extLst>
              <a:ext uri="{FF2B5EF4-FFF2-40B4-BE49-F238E27FC236}">
                <a16:creationId xmlns:a16="http://schemas.microsoft.com/office/drawing/2014/main" id="{EE31E2E9-983B-4BF3-71E7-DA78D298E77B}"/>
              </a:ext>
            </a:extLst>
          </p:cNvPr>
          <p:cNvSpPr/>
          <p:nvPr/>
        </p:nvSpPr>
        <p:spPr>
          <a:xfrm>
            <a:off x="9495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77" name="矩形 176">
            <a:extLst>
              <a:ext uri="{FF2B5EF4-FFF2-40B4-BE49-F238E27FC236}">
                <a16:creationId xmlns:a16="http://schemas.microsoft.com/office/drawing/2014/main" id="{6A0522C0-BF3D-82FC-F402-FA87C27399F4}"/>
              </a:ext>
            </a:extLst>
          </p:cNvPr>
          <p:cNvSpPr/>
          <p:nvPr/>
        </p:nvSpPr>
        <p:spPr>
          <a:xfrm>
            <a:off x="9639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0</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78" name="矩形 177">
            <a:extLst>
              <a:ext uri="{FF2B5EF4-FFF2-40B4-BE49-F238E27FC236}">
                <a16:creationId xmlns:a16="http://schemas.microsoft.com/office/drawing/2014/main" id="{3C8A6A78-0725-4C43-5624-1F3B96128F1F}"/>
              </a:ext>
            </a:extLst>
          </p:cNvPr>
          <p:cNvSpPr/>
          <p:nvPr/>
        </p:nvSpPr>
        <p:spPr>
          <a:xfrm>
            <a:off x="9783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79" name="矩形 178">
            <a:extLst>
              <a:ext uri="{FF2B5EF4-FFF2-40B4-BE49-F238E27FC236}">
                <a16:creationId xmlns:a16="http://schemas.microsoft.com/office/drawing/2014/main" id="{AC9DF1D6-445B-2FE2-6D73-4715A7AA4DAA}"/>
              </a:ext>
            </a:extLst>
          </p:cNvPr>
          <p:cNvSpPr/>
          <p:nvPr/>
        </p:nvSpPr>
        <p:spPr>
          <a:xfrm>
            <a:off x="9927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80" name="矩形 179">
            <a:extLst>
              <a:ext uri="{FF2B5EF4-FFF2-40B4-BE49-F238E27FC236}">
                <a16:creationId xmlns:a16="http://schemas.microsoft.com/office/drawing/2014/main" id="{CC31C5FE-2677-E245-626B-863D89D74FE6}"/>
              </a:ext>
            </a:extLst>
          </p:cNvPr>
          <p:cNvSpPr/>
          <p:nvPr/>
        </p:nvSpPr>
        <p:spPr>
          <a:xfrm>
            <a:off x="10071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1</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81" name="矩形 180">
            <a:extLst>
              <a:ext uri="{FF2B5EF4-FFF2-40B4-BE49-F238E27FC236}">
                <a16:creationId xmlns:a16="http://schemas.microsoft.com/office/drawing/2014/main" id="{B0A68438-31E4-6E51-DF05-720A5215ED35}"/>
              </a:ext>
            </a:extLst>
          </p:cNvPr>
          <p:cNvSpPr/>
          <p:nvPr/>
        </p:nvSpPr>
        <p:spPr>
          <a:xfrm>
            <a:off x="10215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82" name="矩形 181">
            <a:extLst>
              <a:ext uri="{FF2B5EF4-FFF2-40B4-BE49-F238E27FC236}">
                <a16:creationId xmlns:a16="http://schemas.microsoft.com/office/drawing/2014/main" id="{BB77DD3C-F310-D815-EC36-6184FE322EA2}"/>
              </a:ext>
            </a:extLst>
          </p:cNvPr>
          <p:cNvSpPr/>
          <p:nvPr/>
        </p:nvSpPr>
        <p:spPr>
          <a:xfrm>
            <a:off x="10359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83" name="矩形 182">
            <a:extLst>
              <a:ext uri="{FF2B5EF4-FFF2-40B4-BE49-F238E27FC236}">
                <a16:creationId xmlns:a16="http://schemas.microsoft.com/office/drawing/2014/main" id="{9FA215D7-3680-4FA8-1702-34ABAF46E154}"/>
              </a:ext>
            </a:extLst>
          </p:cNvPr>
          <p:cNvSpPr/>
          <p:nvPr/>
        </p:nvSpPr>
        <p:spPr>
          <a:xfrm>
            <a:off x="10503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2</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84" name="矩形 183">
            <a:extLst>
              <a:ext uri="{FF2B5EF4-FFF2-40B4-BE49-F238E27FC236}">
                <a16:creationId xmlns:a16="http://schemas.microsoft.com/office/drawing/2014/main" id="{0BF68A60-13E4-73F5-9F89-CD9914F6DBCE}"/>
              </a:ext>
            </a:extLst>
          </p:cNvPr>
          <p:cNvSpPr/>
          <p:nvPr/>
        </p:nvSpPr>
        <p:spPr>
          <a:xfrm>
            <a:off x="10647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85" name="矩形 184">
            <a:extLst>
              <a:ext uri="{FF2B5EF4-FFF2-40B4-BE49-F238E27FC236}">
                <a16:creationId xmlns:a16="http://schemas.microsoft.com/office/drawing/2014/main" id="{106710F5-9E61-53BD-7BD1-AC0F1FBA9E3E}"/>
              </a:ext>
            </a:extLst>
          </p:cNvPr>
          <p:cNvSpPr/>
          <p:nvPr/>
        </p:nvSpPr>
        <p:spPr>
          <a:xfrm>
            <a:off x="10791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86" name="矩形 185">
            <a:extLst>
              <a:ext uri="{FF2B5EF4-FFF2-40B4-BE49-F238E27FC236}">
                <a16:creationId xmlns:a16="http://schemas.microsoft.com/office/drawing/2014/main" id="{78074E23-FDEC-E653-BA32-D144614D81FB}"/>
              </a:ext>
            </a:extLst>
          </p:cNvPr>
          <p:cNvSpPr/>
          <p:nvPr/>
        </p:nvSpPr>
        <p:spPr>
          <a:xfrm>
            <a:off x="10935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3</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87" name="矩形 186">
            <a:extLst>
              <a:ext uri="{FF2B5EF4-FFF2-40B4-BE49-F238E27FC236}">
                <a16:creationId xmlns:a16="http://schemas.microsoft.com/office/drawing/2014/main" id="{14626DC2-09ED-851B-1E88-A57B3FDA0AFA}"/>
              </a:ext>
            </a:extLst>
          </p:cNvPr>
          <p:cNvSpPr/>
          <p:nvPr/>
        </p:nvSpPr>
        <p:spPr>
          <a:xfrm>
            <a:off x="11079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88" name="矩形 187">
            <a:extLst>
              <a:ext uri="{FF2B5EF4-FFF2-40B4-BE49-F238E27FC236}">
                <a16:creationId xmlns:a16="http://schemas.microsoft.com/office/drawing/2014/main" id="{27EAEFCB-71F0-5D93-A9A6-42E2FF449365}"/>
              </a:ext>
            </a:extLst>
          </p:cNvPr>
          <p:cNvSpPr/>
          <p:nvPr/>
        </p:nvSpPr>
        <p:spPr>
          <a:xfrm>
            <a:off x="11223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89" name="矩形 188">
            <a:extLst>
              <a:ext uri="{FF2B5EF4-FFF2-40B4-BE49-F238E27FC236}">
                <a16:creationId xmlns:a16="http://schemas.microsoft.com/office/drawing/2014/main" id="{1BD86C82-E1DE-D460-AFD3-359EB53DBF36}"/>
              </a:ext>
            </a:extLst>
          </p:cNvPr>
          <p:cNvSpPr/>
          <p:nvPr/>
        </p:nvSpPr>
        <p:spPr>
          <a:xfrm>
            <a:off x="11367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4</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90" name="矩形 189">
            <a:extLst>
              <a:ext uri="{FF2B5EF4-FFF2-40B4-BE49-F238E27FC236}">
                <a16:creationId xmlns:a16="http://schemas.microsoft.com/office/drawing/2014/main" id="{C36BB17B-2B2E-D984-CCEC-A3C41240C29D}"/>
              </a:ext>
            </a:extLst>
          </p:cNvPr>
          <p:cNvSpPr/>
          <p:nvPr/>
        </p:nvSpPr>
        <p:spPr>
          <a:xfrm>
            <a:off x="11511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p0</a:t>
            </a:r>
            <a:endParaRPr lang="en-US" altLang="zh-CN" sz="2800" kern="100" spc="-100" dirty="0">
              <a:solidFill>
                <a:schemeClr val="tx1"/>
              </a:solidFill>
            </a:endParaRPr>
          </a:p>
        </p:txBody>
      </p:sp>
      <p:sp>
        <p:nvSpPr>
          <p:cNvPr id="191" name="矩形 190">
            <a:extLst>
              <a:ext uri="{FF2B5EF4-FFF2-40B4-BE49-F238E27FC236}">
                <a16:creationId xmlns:a16="http://schemas.microsoft.com/office/drawing/2014/main" id="{65F43BC1-43D9-6966-D3BC-5A7B89EE4BB6}"/>
              </a:ext>
            </a:extLst>
          </p:cNvPr>
          <p:cNvSpPr/>
          <p:nvPr/>
        </p:nvSpPr>
        <p:spPr>
          <a:xfrm>
            <a:off x="11655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p1</a:t>
            </a:r>
            <a:endParaRPr lang="en-US" altLang="zh-CN" sz="2800" kern="100" spc="-100" dirty="0">
              <a:solidFill>
                <a:schemeClr val="tx1"/>
              </a:solidFill>
            </a:endParaRPr>
          </a:p>
        </p:txBody>
      </p:sp>
      <p:sp>
        <p:nvSpPr>
          <p:cNvPr id="192" name="矩形 191">
            <a:extLst>
              <a:ext uri="{FF2B5EF4-FFF2-40B4-BE49-F238E27FC236}">
                <a16:creationId xmlns:a16="http://schemas.microsoft.com/office/drawing/2014/main" id="{FFC08C92-6EA1-6302-F79E-6DBE359DC6C8}"/>
              </a:ext>
            </a:extLst>
          </p:cNvPr>
          <p:cNvSpPr/>
          <p:nvPr/>
        </p:nvSpPr>
        <p:spPr>
          <a:xfrm>
            <a:off x="11799082" y="2376962"/>
            <a:ext cx="144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kern="100" spc="-100" dirty="0">
                <a:solidFill>
                  <a:schemeClr val="tx1"/>
                </a:solidFill>
              </a:rPr>
              <a:t>5</a:t>
            </a:r>
          </a:p>
          <a:p>
            <a:pPr algn="ctr"/>
            <a:r>
              <a:rPr lang="en-US" altLang="zh-CN" sz="1000" kern="100" spc="-100" dirty="0">
                <a:solidFill>
                  <a:schemeClr val="tx1"/>
                </a:solidFill>
              </a:rPr>
              <a:t>p2</a:t>
            </a:r>
            <a:endParaRPr lang="en-US" altLang="zh-CN" sz="2800" kern="100" spc="-100" dirty="0">
              <a:solidFill>
                <a:schemeClr val="tx1"/>
              </a:solidFill>
            </a:endParaRPr>
          </a:p>
        </p:txBody>
      </p:sp>
      <p:sp>
        <p:nvSpPr>
          <p:cNvPr id="193" name="矩形 192">
            <a:extLst>
              <a:ext uri="{FF2B5EF4-FFF2-40B4-BE49-F238E27FC236}">
                <a16:creationId xmlns:a16="http://schemas.microsoft.com/office/drawing/2014/main" id="{C9456591-82B4-CF05-9316-629E01067DB2}"/>
              </a:ext>
            </a:extLst>
          </p:cNvPr>
          <p:cNvSpPr/>
          <p:nvPr/>
        </p:nvSpPr>
        <p:spPr>
          <a:xfrm>
            <a:off x="11799082" y="2736962"/>
            <a:ext cx="144000" cy="360000"/>
          </a:xfrm>
          <a:prstGeom prst="rect">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ndParaRPr>
          </a:p>
        </p:txBody>
      </p:sp>
      <p:sp>
        <p:nvSpPr>
          <p:cNvPr id="231" name="矩形 230">
            <a:extLst>
              <a:ext uri="{FF2B5EF4-FFF2-40B4-BE49-F238E27FC236}">
                <a16:creationId xmlns:a16="http://schemas.microsoft.com/office/drawing/2014/main" id="{70CC4BE4-48AA-991D-2813-66F9BBD30D25}"/>
              </a:ext>
            </a:extLst>
          </p:cNvPr>
          <p:cNvSpPr/>
          <p:nvPr/>
        </p:nvSpPr>
        <p:spPr>
          <a:xfrm>
            <a:off x="1107731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232" name="矩形 231">
            <a:extLst>
              <a:ext uri="{FF2B5EF4-FFF2-40B4-BE49-F238E27FC236}">
                <a16:creationId xmlns:a16="http://schemas.microsoft.com/office/drawing/2014/main" id="{A08474B8-48B5-3AFE-7DD2-E872638DD18C}"/>
              </a:ext>
            </a:extLst>
          </p:cNvPr>
          <p:cNvSpPr/>
          <p:nvPr/>
        </p:nvSpPr>
        <p:spPr>
          <a:xfrm>
            <a:off x="1064778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233" name="矩形 232">
            <a:extLst>
              <a:ext uri="{FF2B5EF4-FFF2-40B4-BE49-F238E27FC236}">
                <a16:creationId xmlns:a16="http://schemas.microsoft.com/office/drawing/2014/main" id="{3E4638D5-D073-8D0A-9559-4B2C6EB56AA5}"/>
              </a:ext>
            </a:extLst>
          </p:cNvPr>
          <p:cNvSpPr/>
          <p:nvPr/>
        </p:nvSpPr>
        <p:spPr>
          <a:xfrm>
            <a:off x="1021825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236" name="矩形 235">
            <a:extLst>
              <a:ext uri="{FF2B5EF4-FFF2-40B4-BE49-F238E27FC236}">
                <a16:creationId xmlns:a16="http://schemas.microsoft.com/office/drawing/2014/main" id="{35986380-B921-8D39-5FBF-CDDCA0F1B446}"/>
              </a:ext>
            </a:extLst>
          </p:cNvPr>
          <p:cNvSpPr/>
          <p:nvPr/>
        </p:nvSpPr>
        <p:spPr>
          <a:xfrm>
            <a:off x="978872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237" name="矩形 236">
            <a:extLst>
              <a:ext uri="{FF2B5EF4-FFF2-40B4-BE49-F238E27FC236}">
                <a16:creationId xmlns:a16="http://schemas.microsoft.com/office/drawing/2014/main" id="{DCEF6F9D-5471-EC14-D606-7781F43B9764}"/>
              </a:ext>
            </a:extLst>
          </p:cNvPr>
          <p:cNvSpPr/>
          <p:nvPr/>
        </p:nvSpPr>
        <p:spPr>
          <a:xfrm>
            <a:off x="935919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238" name="矩形 237">
            <a:extLst>
              <a:ext uri="{FF2B5EF4-FFF2-40B4-BE49-F238E27FC236}">
                <a16:creationId xmlns:a16="http://schemas.microsoft.com/office/drawing/2014/main" id="{38213F6A-37DF-8BEB-730B-CD5110D666FD}"/>
              </a:ext>
            </a:extLst>
          </p:cNvPr>
          <p:cNvSpPr/>
          <p:nvPr/>
        </p:nvSpPr>
        <p:spPr>
          <a:xfrm>
            <a:off x="8929668" y="183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239" name="矩形 238">
            <a:extLst>
              <a:ext uri="{FF2B5EF4-FFF2-40B4-BE49-F238E27FC236}">
                <a16:creationId xmlns:a16="http://schemas.microsoft.com/office/drawing/2014/main" id="{418DE264-C31A-ACD6-A58B-CFE2A5D1EC9C}"/>
              </a:ext>
            </a:extLst>
          </p:cNvPr>
          <p:cNvSpPr/>
          <p:nvPr/>
        </p:nvSpPr>
        <p:spPr>
          <a:xfrm>
            <a:off x="11511082" y="1836962"/>
            <a:ext cx="432000" cy="360000"/>
          </a:xfrm>
          <a:prstGeom prst="rect">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40" name="矩形 239">
            <a:extLst>
              <a:ext uri="{FF2B5EF4-FFF2-40B4-BE49-F238E27FC236}">
                <a16:creationId xmlns:a16="http://schemas.microsoft.com/office/drawing/2014/main" id="{5BE45B4F-031B-2A96-86B7-61FD4F11BBC1}"/>
              </a:ext>
            </a:extLst>
          </p:cNvPr>
          <p:cNvSpPr/>
          <p:nvPr/>
        </p:nvSpPr>
        <p:spPr>
          <a:xfrm>
            <a:off x="1150984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241" name="矩形 240">
            <a:extLst>
              <a:ext uri="{FF2B5EF4-FFF2-40B4-BE49-F238E27FC236}">
                <a16:creationId xmlns:a16="http://schemas.microsoft.com/office/drawing/2014/main" id="{8E4CA334-9C69-F11A-A6CB-5707678BBDEA}"/>
              </a:ext>
            </a:extLst>
          </p:cNvPr>
          <p:cNvSpPr/>
          <p:nvPr/>
        </p:nvSpPr>
        <p:spPr>
          <a:xfrm>
            <a:off x="1108031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242" name="矩形 241">
            <a:extLst>
              <a:ext uri="{FF2B5EF4-FFF2-40B4-BE49-F238E27FC236}">
                <a16:creationId xmlns:a16="http://schemas.microsoft.com/office/drawing/2014/main" id="{1C5A25FA-AF03-E5F9-7853-E21EE3240AF8}"/>
              </a:ext>
            </a:extLst>
          </p:cNvPr>
          <p:cNvSpPr/>
          <p:nvPr/>
        </p:nvSpPr>
        <p:spPr>
          <a:xfrm>
            <a:off x="1065078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243" name="矩形 242">
            <a:extLst>
              <a:ext uri="{FF2B5EF4-FFF2-40B4-BE49-F238E27FC236}">
                <a16:creationId xmlns:a16="http://schemas.microsoft.com/office/drawing/2014/main" id="{4F5049CF-EDB8-A827-AB09-5AF7793D3FB2}"/>
              </a:ext>
            </a:extLst>
          </p:cNvPr>
          <p:cNvSpPr/>
          <p:nvPr/>
        </p:nvSpPr>
        <p:spPr>
          <a:xfrm>
            <a:off x="1022125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244" name="矩形 243">
            <a:extLst>
              <a:ext uri="{FF2B5EF4-FFF2-40B4-BE49-F238E27FC236}">
                <a16:creationId xmlns:a16="http://schemas.microsoft.com/office/drawing/2014/main" id="{0D21C675-F131-CDEE-C8F1-6B0A529038D2}"/>
              </a:ext>
            </a:extLst>
          </p:cNvPr>
          <p:cNvSpPr/>
          <p:nvPr/>
        </p:nvSpPr>
        <p:spPr>
          <a:xfrm>
            <a:off x="979172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245" name="矩形 244">
            <a:extLst>
              <a:ext uri="{FF2B5EF4-FFF2-40B4-BE49-F238E27FC236}">
                <a16:creationId xmlns:a16="http://schemas.microsoft.com/office/drawing/2014/main" id="{E70D1F9E-E946-A66B-4FF7-03507B4997B3}"/>
              </a:ext>
            </a:extLst>
          </p:cNvPr>
          <p:cNvSpPr/>
          <p:nvPr/>
        </p:nvSpPr>
        <p:spPr>
          <a:xfrm>
            <a:off x="9362197" y="1476962"/>
            <a:ext cx="432000" cy="360000"/>
          </a:xfrm>
          <a:prstGeom prst="rect">
            <a:avLst/>
          </a:prstGeom>
          <a:solidFill>
            <a:srgbClr val="F7F7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246" name="矩形 245">
            <a:extLst>
              <a:ext uri="{FF2B5EF4-FFF2-40B4-BE49-F238E27FC236}">
                <a16:creationId xmlns:a16="http://schemas.microsoft.com/office/drawing/2014/main" id="{75CA5827-A39F-C045-1564-ADE85052A16E}"/>
              </a:ext>
            </a:extLst>
          </p:cNvPr>
          <p:cNvSpPr/>
          <p:nvPr/>
        </p:nvSpPr>
        <p:spPr>
          <a:xfrm>
            <a:off x="8851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矩形 246">
            <a:extLst>
              <a:ext uri="{FF2B5EF4-FFF2-40B4-BE49-F238E27FC236}">
                <a16:creationId xmlns:a16="http://schemas.microsoft.com/office/drawing/2014/main" id="{14CB0C72-FEB8-EE02-1CFC-97B8BD5077FE}"/>
              </a:ext>
            </a:extLst>
          </p:cNvPr>
          <p:cNvSpPr/>
          <p:nvPr/>
        </p:nvSpPr>
        <p:spPr>
          <a:xfrm>
            <a:off x="8959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矩形 247">
            <a:extLst>
              <a:ext uri="{FF2B5EF4-FFF2-40B4-BE49-F238E27FC236}">
                <a16:creationId xmlns:a16="http://schemas.microsoft.com/office/drawing/2014/main" id="{EF15DF0D-708E-D214-AED7-EE8D261F39B3}"/>
              </a:ext>
            </a:extLst>
          </p:cNvPr>
          <p:cNvSpPr/>
          <p:nvPr/>
        </p:nvSpPr>
        <p:spPr>
          <a:xfrm>
            <a:off x="9067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9" name="矩形 248">
            <a:extLst>
              <a:ext uri="{FF2B5EF4-FFF2-40B4-BE49-F238E27FC236}">
                <a16:creationId xmlns:a16="http://schemas.microsoft.com/office/drawing/2014/main" id="{9589BD06-D4AE-E79C-4FFF-218E137F69E5}"/>
              </a:ext>
            </a:extLst>
          </p:cNvPr>
          <p:cNvSpPr/>
          <p:nvPr/>
        </p:nvSpPr>
        <p:spPr>
          <a:xfrm>
            <a:off x="9175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矩形 249">
            <a:extLst>
              <a:ext uri="{FF2B5EF4-FFF2-40B4-BE49-F238E27FC236}">
                <a16:creationId xmlns:a16="http://schemas.microsoft.com/office/drawing/2014/main" id="{C07B1E8A-542E-5D90-66B6-88D26BBF07DF}"/>
              </a:ext>
            </a:extLst>
          </p:cNvPr>
          <p:cNvSpPr/>
          <p:nvPr/>
        </p:nvSpPr>
        <p:spPr>
          <a:xfrm>
            <a:off x="9283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矩形 250">
            <a:extLst>
              <a:ext uri="{FF2B5EF4-FFF2-40B4-BE49-F238E27FC236}">
                <a16:creationId xmlns:a16="http://schemas.microsoft.com/office/drawing/2014/main" id="{B197C014-500E-19B6-42F4-51DF619CF8C9}"/>
              </a:ext>
            </a:extLst>
          </p:cNvPr>
          <p:cNvSpPr/>
          <p:nvPr/>
        </p:nvSpPr>
        <p:spPr>
          <a:xfrm>
            <a:off x="9391611" y="4802350"/>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矩形 251">
            <a:extLst>
              <a:ext uri="{FF2B5EF4-FFF2-40B4-BE49-F238E27FC236}">
                <a16:creationId xmlns:a16="http://schemas.microsoft.com/office/drawing/2014/main" id="{7FFA2A91-76C9-CA93-D8A4-F025DE694FF1}"/>
              </a:ext>
            </a:extLst>
          </p:cNvPr>
          <p:cNvSpPr/>
          <p:nvPr/>
        </p:nvSpPr>
        <p:spPr>
          <a:xfrm>
            <a:off x="9499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3" name="矩形 252">
            <a:extLst>
              <a:ext uri="{FF2B5EF4-FFF2-40B4-BE49-F238E27FC236}">
                <a16:creationId xmlns:a16="http://schemas.microsoft.com/office/drawing/2014/main" id="{9B9CB4E5-0719-6A0F-3369-53AB4BABF721}"/>
              </a:ext>
            </a:extLst>
          </p:cNvPr>
          <p:cNvSpPr/>
          <p:nvPr/>
        </p:nvSpPr>
        <p:spPr>
          <a:xfrm>
            <a:off x="9607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4" name="矩形 253">
            <a:extLst>
              <a:ext uri="{FF2B5EF4-FFF2-40B4-BE49-F238E27FC236}">
                <a16:creationId xmlns:a16="http://schemas.microsoft.com/office/drawing/2014/main" id="{265E9A61-304C-1272-8ABF-0032EAA02FFF}"/>
              </a:ext>
            </a:extLst>
          </p:cNvPr>
          <p:cNvSpPr/>
          <p:nvPr/>
        </p:nvSpPr>
        <p:spPr>
          <a:xfrm>
            <a:off x="9715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矩形 254">
            <a:extLst>
              <a:ext uri="{FF2B5EF4-FFF2-40B4-BE49-F238E27FC236}">
                <a16:creationId xmlns:a16="http://schemas.microsoft.com/office/drawing/2014/main" id="{4F2EF3A8-966E-94DF-328D-E7F72E228FCC}"/>
              </a:ext>
            </a:extLst>
          </p:cNvPr>
          <p:cNvSpPr/>
          <p:nvPr/>
        </p:nvSpPr>
        <p:spPr>
          <a:xfrm>
            <a:off x="9823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矩形 255">
            <a:extLst>
              <a:ext uri="{FF2B5EF4-FFF2-40B4-BE49-F238E27FC236}">
                <a16:creationId xmlns:a16="http://schemas.microsoft.com/office/drawing/2014/main" id="{32A279D7-A37C-B75A-C32A-5A434D2008BC}"/>
              </a:ext>
            </a:extLst>
          </p:cNvPr>
          <p:cNvSpPr/>
          <p:nvPr/>
        </p:nvSpPr>
        <p:spPr>
          <a:xfrm>
            <a:off x="9931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矩形 256">
            <a:extLst>
              <a:ext uri="{FF2B5EF4-FFF2-40B4-BE49-F238E27FC236}">
                <a16:creationId xmlns:a16="http://schemas.microsoft.com/office/drawing/2014/main" id="{5ADACCA9-1451-9894-AE48-6B20147B23F1}"/>
              </a:ext>
            </a:extLst>
          </p:cNvPr>
          <p:cNvSpPr/>
          <p:nvPr/>
        </p:nvSpPr>
        <p:spPr>
          <a:xfrm>
            <a:off x="10039611" y="4802350"/>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矩形 257">
            <a:extLst>
              <a:ext uri="{FF2B5EF4-FFF2-40B4-BE49-F238E27FC236}">
                <a16:creationId xmlns:a16="http://schemas.microsoft.com/office/drawing/2014/main" id="{BDE94AAA-9151-30DB-EFFB-F8A4AD5DF895}"/>
              </a:ext>
            </a:extLst>
          </p:cNvPr>
          <p:cNvSpPr/>
          <p:nvPr/>
        </p:nvSpPr>
        <p:spPr>
          <a:xfrm>
            <a:off x="10147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9" name="矩形 258">
            <a:extLst>
              <a:ext uri="{FF2B5EF4-FFF2-40B4-BE49-F238E27FC236}">
                <a16:creationId xmlns:a16="http://schemas.microsoft.com/office/drawing/2014/main" id="{52652351-5632-123E-D065-A72130CBE2F5}"/>
              </a:ext>
            </a:extLst>
          </p:cNvPr>
          <p:cNvSpPr/>
          <p:nvPr/>
        </p:nvSpPr>
        <p:spPr>
          <a:xfrm>
            <a:off x="10255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0" name="矩形 259">
            <a:extLst>
              <a:ext uri="{FF2B5EF4-FFF2-40B4-BE49-F238E27FC236}">
                <a16:creationId xmlns:a16="http://schemas.microsoft.com/office/drawing/2014/main" id="{C2BC2A52-717B-3C32-022B-862CD3C0DBFA}"/>
              </a:ext>
            </a:extLst>
          </p:cNvPr>
          <p:cNvSpPr/>
          <p:nvPr/>
        </p:nvSpPr>
        <p:spPr>
          <a:xfrm>
            <a:off x="10363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1" name="矩形 260">
            <a:extLst>
              <a:ext uri="{FF2B5EF4-FFF2-40B4-BE49-F238E27FC236}">
                <a16:creationId xmlns:a16="http://schemas.microsoft.com/office/drawing/2014/main" id="{D352D8D6-560F-B8F4-757C-B5AED4810E1F}"/>
              </a:ext>
            </a:extLst>
          </p:cNvPr>
          <p:cNvSpPr/>
          <p:nvPr/>
        </p:nvSpPr>
        <p:spPr>
          <a:xfrm>
            <a:off x="10471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矩形 261">
            <a:extLst>
              <a:ext uri="{FF2B5EF4-FFF2-40B4-BE49-F238E27FC236}">
                <a16:creationId xmlns:a16="http://schemas.microsoft.com/office/drawing/2014/main" id="{401A2A8F-8684-397C-8D4E-12E401D957E9}"/>
              </a:ext>
            </a:extLst>
          </p:cNvPr>
          <p:cNvSpPr/>
          <p:nvPr/>
        </p:nvSpPr>
        <p:spPr>
          <a:xfrm>
            <a:off x="10579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矩形 262">
            <a:extLst>
              <a:ext uri="{FF2B5EF4-FFF2-40B4-BE49-F238E27FC236}">
                <a16:creationId xmlns:a16="http://schemas.microsoft.com/office/drawing/2014/main" id="{C6F991B7-2EF8-63FC-3275-2B57EB067D92}"/>
              </a:ext>
            </a:extLst>
          </p:cNvPr>
          <p:cNvSpPr/>
          <p:nvPr/>
        </p:nvSpPr>
        <p:spPr>
          <a:xfrm>
            <a:off x="10687611" y="4802350"/>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矩形 263">
            <a:extLst>
              <a:ext uri="{FF2B5EF4-FFF2-40B4-BE49-F238E27FC236}">
                <a16:creationId xmlns:a16="http://schemas.microsoft.com/office/drawing/2014/main" id="{2692E907-6DE7-CCDC-A331-BB6581357D58}"/>
              </a:ext>
            </a:extLst>
          </p:cNvPr>
          <p:cNvSpPr/>
          <p:nvPr/>
        </p:nvSpPr>
        <p:spPr>
          <a:xfrm>
            <a:off x="10795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矩形 264">
            <a:extLst>
              <a:ext uri="{FF2B5EF4-FFF2-40B4-BE49-F238E27FC236}">
                <a16:creationId xmlns:a16="http://schemas.microsoft.com/office/drawing/2014/main" id="{8E4337E1-D253-C09D-F161-166977DCA933}"/>
              </a:ext>
            </a:extLst>
          </p:cNvPr>
          <p:cNvSpPr/>
          <p:nvPr/>
        </p:nvSpPr>
        <p:spPr>
          <a:xfrm>
            <a:off x="10903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矩形 265">
            <a:extLst>
              <a:ext uri="{FF2B5EF4-FFF2-40B4-BE49-F238E27FC236}">
                <a16:creationId xmlns:a16="http://schemas.microsoft.com/office/drawing/2014/main" id="{B4B7C55F-D319-3036-1BF5-178536CA3AAA}"/>
              </a:ext>
            </a:extLst>
          </p:cNvPr>
          <p:cNvSpPr/>
          <p:nvPr/>
        </p:nvSpPr>
        <p:spPr>
          <a:xfrm>
            <a:off x="11011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矩形 266">
            <a:extLst>
              <a:ext uri="{FF2B5EF4-FFF2-40B4-BE49-F238E27FC236}">
                <a16:creationId xmlns:a16="http://schemas.microsoft.com/office/drawing/2014/main" id="{50CCE06E-C1F3-27A9-3E53-BA9A398ADA76}"/>
              </a:ext>
            </a:extLst>
          </p:cNvPr>
          <p:cNvSpPr/>
          <p:nvPr/>
        </p:nvSpPr>
        <p:spPr>
          <a:xfrm>
            <a:off x="11119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266566FC-0ECB-D02B-7F73-13BDEE175307}"/>
              </a:ext>
            </a:extLst>
          </p:cNvPr>
          <p:cNvSpPr/>
          <p:nvPr/>
        </p:nvSpPr>
        <p:spPr>
          <a:xfrm>
            <a:off x="11227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a:extLst>
              <a:ext uri="{FF2B5EF4-FFF2-40B4-BE49-F238E27FC236}">
                <a16:creationId xmlns:a16="http://schemas.microsoft.com/office/drawing/2014/main" id="{054C2791-8A2C-3528-0EF4-598E359029F3}"/>
              </a:ext>
            </a:extLst>
          </p:cNvPr>
          <p:cNvSpPr/>
          <p:nvPr/>
        </p:nvSpPr>
        <p:spPr>
          <a:xfrm>
            <a:off x="11335611" y="4802350"/>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941E87C0-0D9B-9CB3-E9AE-6D14F5B2507A}"/>
              </a:ext>
            </a:extLst>
          </p:cNvPr>
          <p:cNvSpPr/>
          <p:nvPr/>
        </p:nvSpPr>
        <p:spPr>
          <a:xfrm>
            <a:off x="10154945" y="4437966"/>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文本框 270">
            <a:extLst>
              <a:ext uri="{FF2B5EF4-FFF2-40B4-BE49-F238E27FC236}">
                <a16:creationId xmlns:a16="http://schemas.microsoft.com/office/drawing/2014/main" id="{9CC643F3-D58F-C4C2-9104-CA8282EF76B5}"/>
              </a:ext>
            </a:extLst>
          </p:cNvPr>
          <p:cNvSpPr txBox="1"/>
          <p:nvPr/>
        </p:nvSpPr>
        <p:spPr>
          <a:xfrm>
            <a:off x="10154945" y="4437966"/>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272" name="矩形: 圆角 271">
            <a:extLst>
              <a:ext uri="{FF2B5EF4-FFF2-40B4-BE49-F238E27FC236}">
                <a16:creationId xmlns:a16="http://schemas.microsoft.com/office/drawing/2014/main" id="{09255EA9-3313-6079-3A60-A434CD0DF375}"/>
              </a:ext>
            </a:extLst>
          </p:cNvPr>
          <p:cNvSpPr/>
          <p:nvPr/>
        </p:nvSpPr>
        <p:spPr>
          <a:xfrm>
            <a:off x="10191724" y="4654638"/>
            <a:ext cx="466549" cy="96849"/>
          </a:xfrm>
          <a:prstGeom prst="round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a:extLst>
              <a:ext uri="{FF2B5EF4-FFF2-40B4-BE49-F238E27FC236}">
                <a16:creationId xmlns:a16="http://schemas.microsoft.com/office/drawing/2014/main" id="{1918BA8E-0508-A9BB-BCFA-709F9FC01286}"/>
              </a:ext>
            </a:extLst>
          </p:cNvPr>
          <p:cNvSpPr/>
          <p:nvPr/>
        </p:nvSpPr>
        <p:spPr>
          <a:xfrm>
            <a:off x="9500357" y="4437966"/>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a:extLst>
              <a:ext uri="{FF2B5EF4-FFF2-40B4-BE49-F238E27FC236}">
                <a16:creationId xmlns:a16="http://schemas.microsoft.com/office/drawing/2014/main" id="{BAF2D036-0574-8D7B-7BCA-D730D6FF5F90}"/>
              </a:ext>
            </a:extLst>
          </p:cNvPr>
          <p:cNvSpPr txBox="1"/>
          <p:nvPr/>
        </p:nvSpPr>
        <p:spPr>
          <a:xfrm>
            <a:off x="9500357" y="4437966"/>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275" name="矩形: 圆角 274">
            <a:extLst>
              <a:ext uri="{FF2B5EF4-FFF2-40B4-BE49-F238E27FC236}">
                <a16:creationId xmlns:a16="http://schemas.microsoft.com/office/drawing/2014/main" id="{4E071038-7EBA-011E-0347-91460D3B5ACB}"/>
              </a:ext>
            </a:extLst>
          </p:cNvPr>
          <p:cNvSpPr/>
          <p:nvPr/>
        </p:nvSpPr>
        <p:spPr>
          <a:xfrm>
            <a:off x="9537136" y="4654638"/>
            <a:ext cx="466549" cy="96849"/>
          </a:xfrm>
          <a:prstGeom prst="round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矩形 275">
            <a:extLst>
              <a:ext uri="{FF2B5EF4-FFF2-40B4-BE49-F238E27FC236}">
                <a16:creationId xmlns:a16="http://schemas.microsoft.com/office/drawing/2014/main" id="{5529ED04-FE3D-A3A6-901E-CA780FF41284}"/>
              </a:ext>
            </a:extLst>
          </p:cNvPr>
          <p:cNvSpPr/>
          <p:nvPr/>
        </p:nvSpPr>
        <p:spPr>
          <a:xfrm>
            <a:off x="8848950" y="4442350"/>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文本框 276">
            <a:extLst>
              <a:ext uri="{FF2B5EF4-FFF2-40B4-BE49-F238E27FC236}">
                <a16:creationId xmlns:a16="http://schemas.microsoft.com/office/drawing/2014/main" id="{B5F69985-60FD-D271-8593-1FA4938A1821}"/>
              </a:ext>
            </a:extLst>
          </p:cNvPr>
          <p:cNvSpPr txBox="1"/>
          <p:nvPr/>
        </p:nvSpPr>
        <p:spPr>
          <a:xfrm>
            <a:off x="8848950" y="4442350"/>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278" name="矩形: 圆角 277">
            <a:extLst>
              <a:ext uri="{FF2B5EF4-FFF2-40B4-BE49-F238E27FC236}">
                <a16:creationId xmlns:a16="http://schemas.microsoft.com/office/drawing/2014/main" id="{FBA44D4D-F8C9-AD16-0AFF-E22296B5217E}"/>
              </a:ext>
            </a:extLst>
          </p:cNvPr>
          <p:cNvSpPr/>
          <p:nvPr/>
        </p:nvSpPr>
        <p:spPr>
          <a:xfrm>
            <a:off x="8885729" y="4659022"/>
            <a:ext cx="466549" cy="96849"/>
          </a:xfrm>
          <a:prstGeom prst="round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9" name="矩形 328">
            <a:extLst>
              <a:ext uri="{FF2B5EF4-FFF2-40B4-BE49-F238E27FC236}">
                <a16:creationId xmlns:a16="http://schemas.microsoft.com/office/drawing/2014/main" id="{D79B0446-D733-0C79-0D4E-AE87E3D006B2}"/>
              </a:ext>
            </a:extLst>
          </p:cNvPr>
          <p:cNvSpPr/>
          <p:nvPr/>
        </p:nvSpPr>
        <p:spPr>
          <a:xfrm>
            <a:off x="8309837" y="4442350"/>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文本框 329">
            <a:extLst>
              <a:ext uri="{FF2B5EF4-FFF2-40B4-BE49-F238E27FC236}">
                <a16:creationId xmlns:a16="http://schemas.microsoft.com/office/drawing/2014/main" id="{22232676-6F32-F49E-4171-47E6966CF3AA}"/>
              </a:ext>
            </a:extLst>
          </p:cNvPr>
          <p:cNvSpPr txBox="1"/>
          <p:nvPr/>
        </p:nvSpPr>
        <p:spPr>
          <a:xfrm>
            <a:off x="8309837" y="4442350"/>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31" name="矩形: 圆角 330">
            <a:extLst>
              <a:ext uri="{FF2B5EF4-FFF2-40B4-BE49-F238E27FC236}">
                <a16:creationId xmlns:a16="http://schemas.microsoft.com/office/drawing/2014/main" id="{44AE996B-4BC4-E97F-B138-C54710952F3E}"/>
              </a:ext>
            </a:extLst>
          </p:cNvPr>
          <p:cNvSpPr/>
          <p:nvPr/>
        </p:nvSpPr>
        <p:spPr>
          <a:xfrm>
            <a:off x="8346616" y="4659022"/>
            <a:ext cx="466549" cy="96849"/>
          </a:xfrm>
          <a:prstGeom prst="round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2" name="矩形 331">
            <a:extLst>
              <a:ext uri="{FF2B5EF4-FFF2-40B4-BE49-F238E27FC236}">
                <a16:creationId xmlns:a16="http://schemas.microsoft.com/office/drawing/2014/main" id="{0B97FBE7-678E-05C3-259C-71EA0B933FA6}"/>
              </a:ext>
            </a:extLst>
          </p:cNvPr>
          <p:cNvSpPr/>
          <p:nvPr/>
        </p:nvSpPr>
        <p:spPr>
          <a:xfrm>
            <a:off x="8344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矩形 332">
            <a:extLst>
              <a:ext uri="{FF2B5EF4-FFF2-40B4-BE49-F238E27FC236}">
                <a16:creationId xmlns:a16="http://schemas.microsoft.com/office/drawing/2014/main" id="{0EEB70E3-79B7-8E51-83A7-50C86ED3F0D8}"/>
              </a:ext>
            </a:extLst>
          </p:cNvPr>
          <p:cNvSpPr/>
          <p:nvPr/>
        </p:nvSpPr>
        <p:spPr>
          <a:xfrm>
            <a:off x="8452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矩形 333">
            <a:extLst>
              <a:ext uri="{FF2B5EF4-FFF2-40B4-BE49-F238E27FC236}">
                <a16:creationId xmlns:a16="http://schemas.microsoft.com/office/drawing/2014/main" id="{74399A45-A9D3-E274-B6A1-A72770FC352D}"/>
              </a:ext>
            </a:extLst>
          </p:cNvPr>
          <p:cNvSpPr/>
          <p:nvPr/>
        </p:nvSpPr>
        <p:spPr>
          <a:xfrm>
            <a:off x="8560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矩形 334">
            <a:extLst>
              <a:ext uri="{FF2B5EF4-FFF2-40B4-BE49-F238E27FC236}">
                <a16:creationId xmlns:a16="http://schemas.microsoft.com/office/drawing/2014/main" id="{3EE25238-F632-900F-2620-C91032C1D168}"/>
              </a:ext>
            </a:extLst>
          </p:cNvPr>
          <p:cNvSpPr/>
          <p:nvPr/>
        </p:nvSpPr>
        <p:spPr>
          <a:xfrm>
            <a:off x="8668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矩形 335">
            <a:extLst>
              <a:ext uri="{FF2B5EF4-FFF2-40B4-BE49-F238E27FC236}">
                <a16:creationId xmlns:a16="http://schemas.microsoft.com/office/drawing/2014/main" id="{999E34B8-55EA-3DDC-352E-99CF59E21FB2}"/>
              </a:ext>
            </a:extLst>
          </p:cNvPr>
          <p:cNvSpPr/>
          <p:nvPr/>
        </p:nvSpPr>
        <p:spPr>
          <a:xfrm>
            <a:off x="8776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矩形 336">
            <a:extLst>
              <a:ext uri="{FF2B5EF4-FFF2-40B4-BE49-F238E27FC236}">
                <a16:creationId xmlns:a16="http://schemas.microsoft.com/office/drawing/2014/main" id="{67756288-EF6E-03F4-74CF-165A879B14CE}"/>
              </a:ext>
            </a:extLst>
          </p:cNvPr>
          <p:cNvSpPr/>
          <p:nvPr/>
        </p:nvSpPr>
        <p:spPr>
          <a:xfrm>
            <a:off x="8884391" y="5738549"/>
            <a:ext cx="107665" cy="32283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矩形 337">
            <a:extLst>
              <a:ext uri="{FF2B5EF4-FFF2-40B4-BE49-F238E27FC236}">
                <a16:creationId xmlns:a16="http://schemas.microsoft.com/office/drawing/2014/main" id="{5BD11300-8A47-8CF0-014D-8657817B3395}"/>
              </a:ext>
            </a:extLst>
          </p:cNvPr>
          <p:cNvSpPr/>
          <p:nvPr/>
        </p:nvSpPr>
        <p:spPr>
          <a:xfrm>
            <a:off x="8992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矩形 338">
            <a:extLst>
              <a:ext uri="{FF2B5EF4-FFF2-40B4-BE49-F238E27FC236}">
                <a16:creationId xmlns:a16="http://schemas.microsoft.com/office/drawing/2014/main" id="{E35BCC1F-35B2-F415-84E1-4F890FED5482}"/>
              </a:ext>
            </a:extLst>
          </p:cNvPr>
          <p:cNvSpPr/>
          <p:nvPr/>
        </p:nvSpPr>
        <p:spPr>
          <a:xfrm>
            <a:off x="9100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a:extLst>
              <a:ext uri="{FF2B5EF4-FFF2-40B4-BE49-F238E27FC236}">
                <a16:creationId xmlns:a16="http://schemas.microsoft.com/office/drawing/2014/main" id="{76190CB5-F60E-CBA9-2E7F-0C21CB685189}"/>
              </a:ext>
            </a:extLst>
          </p:cNvPr>
          <p:cNvSpPr/>
          <p:nvPr/>
        </p:nvSpPr>
        <p:spPr>
          <a:xfrm>
            <a:off x="9208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矩形 340">
            <a:extLst>
              <a:ext uri="{FF2B5EF4-FFF2-40B4-BE49-F238E27FC236}">
                <a16:creationId xmlns:a16="http://schemas.microsoft.com/office/drawing/2014/main" id="{6F0FFE9C-F550-B55B-2CA9-34E239450F4B}"/>
              </a:ext>
            </a:extLst>
          </p:cNvPr>
          <p:cNvSpPr/>
          <p:nvPr/>
        </p:nvSpPr>
        <p:spPr>
          <a:xfrm>
            <a:off x="9316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2" name="矩形 341">
            <a:extLst>
              <a:ext uri="{FF2B5EF4-FFF2-40B4-BE49-F238E27FC236}">
                <a16:creationId xmlns:a16="http://schemas.microsoft.com/office/drawing/2014/main" id="{C77CA713-8138-25B3-FCEE-645C1BF71A6A}"/>
              </a:ext>
            </a:extLst>
          </p:cNvPr>
          <p:cNvSpPr/>
          <p:nvPr/>
        </p:nvSpPr>
        <p:spPr>
          <a:xfrm>
            <a:off x="9424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矩形 342">
            <a:extLst>
              <a:ext uri="{FF2B5EF4-FFF2-40B4-BE49-F238E27FC236}">
                <a16:creationId xmlns:a16="http://schemas.microsoft.com/office/drawing/2014/main" id="{30E2B74A-E782-BE75-94B5-C423B91281D4}"/>
              </a:ext>
            </a:extLst>
          </p:cNvPr>
          <p:cNvSpPr/>
          <p:nvPr/>
        </p:nvSpPr>
        <p:spPr>
          <a:xfrm>
            <a:off x="9532391" y="5738549"/>
            <a:ext cx="107665" cy="32283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4" name="矩形 343">
            <a:extLst>
              <a:ext uri="{FF2B5EF4-FFF2-40B4-BE49-F238E27FC236}">
                <a16:creationId xmlns:a16="http://schemas.microsoft.com/office/drawing/2014/main" id="{EBF23AF9-7D64-697F-8118-ADFA742484B9}"/>
              </a:ext>
            </a:extLst>
          </p:cNvPr>
          <p:cNvSpPr/>
          <p:nvPr/>
        </p:nvSpPr>
        <p:spPr>
          <a:xfrm>
            <a:off x="9640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5" name="矩形 344">
            <a:extLst>
              <a:ext uri="{FF2B5EF4-FFF2-40B4-BE49-F238E27FC236}">
                <a16:creationId xmlns:a16="http://schemas.microsoft.com/office/drawing/2014/main" id="{2813365A-91B7-016A-EC64-BE8D1AB83BF4}"/>
              </a:ext>
            </a:extLst>
          </p:cNvPr>
          <p:cNvSpPr/>
          <p:nvPr/>
        </p:nvSpPr>
        <p:spPr>
          <a:xfrm>
            <a:off x="9748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6" name="矩形 345">
            <a:extLst>
              <a:ext uri="{FF2B5EF4-FFF2-40B4-BE49-F238E27FC236}">
                <a16:creationId xmlns:a16="http://schemas.microsoft.com/office/drawing/2014/main" id="{A3AB1E8D-4172-38CC-0102-B441D3BD15DF}"/>
              </a:ext>
            </a:extLst>
          </p:cNvPr>
          <p:cNvSpPr/>
          <p:nvPr/>
        </p:nvSpPr>
        <p:spPr>
          <a:xfrm>
            <a:off x="9856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7" name="矩形 346">
            <a:extLst>
              <a:ext uri="{FF2B5EF4-FFF2-40B4-BE49-F238E27FC236}">
                <a16:creationId xmlns:a16="http://schemas.microsoft.com/office/drawing/2014/main" id="{05EE30C9-3DE2-7BFA-FC69-01D6898A6744}"/>
              </a:ext>
            </a:extLst>
          </p:cNvPr>
          <p:cNvSpPr/>
          <p:nvPr/>
        </p:nvSpPr>
        <p:spPr>
          <a:xfrm>
            <a:off x="9964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8" name="矩形 347">
            <a:extLst>
              <a:ext uri="{FF2B5EF4-FFF2-40B4-BE49-F238E27FC236}">
                <a16:creationId xmlns:a16="http://schemas.microsoft.com/office/drawing/2014/main" id="{75EF613C-2A99-2F54-E04B-938361FDF819}"/>
              </a:ext>
            </a:extLst>
          </p:cNvPr>
          <p:cNvSpPr/>
          <p:nvPr/>
        </p:nvSpPr>
        <p:spPr>
          <a:xfrm>
            <a:off x="10072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9" name="矩形 348">
            <a:extLst>
              <a:ext uri="{FF2B5EF4-FFF2-40B4-BE49-F238E27FC236}">
                <a16:creationId xmlns:a16="http://schemas.microsoft.com/office/drawing/2014/main" id="{7CA1656B-7318-5592-A357-64EFC9195AE0}"/>
              </a:ext>
            </a:extLst>
          </p:cNvPr>
          <p:cNvSpPr/>
          <p:nvPr/>
        </p:nvSpPr>
        <p:spPr>
          <a:xfrm>
            <a:off x="10180391" y="5738549"/>
            <a:ext cx="107665" cy="32283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矩形 349">
            <a:extLst>
              <a:ext uri="{FF2B5EF4-FFF2-40B4-BE49-F238E27FC236}">
                <a16:creationId xmlns:a16="http://schemas.microsoft.com/office/drawing/2014/main" id="{3529A41F-674C-FC83-3E4C-0A34F9B787C8}"/>
              </a:ext>
            </a:extLst>
          </p:cNvPr>
          <p:cNvSpPr/>
          <p:nvPr/>
        </p:nvSpPr>
        <p:spPr>
          <a:xfrm>
            <a:off x="10288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1" name="矩形 350">
            <a:extLst>
              <a:ext uri="{FF2B5EF4-FFF2-40B4-BE49-F238E27FC236}">
                <a16:creationId xmlns:a16="http://schemas.microsoft.com/office/drawing/2014/main" id="{11B565A9-6223-C868-1A0B-AAF00DBB0113}"/>
              </a:ext>
            </a:extLst>
          </p:cNvPr>
          <p:cNvSpPr/>
          <p:nvPr/>
        </p:nvSpPr>
        <p:spPr>
          <a:xfrm>
            <a:off x="10396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矩形 351">
            <a:extLst>
              <a:ext uri="{FF2B5EF4-FFF2-40B4-BE49-F238E27FC236}">
                <a16:creationId xmlns:a16="http://schemas.microsoft.com/office/drawing/2014/main" id="{B37FE68A-95C6-FC00-F18B-9D4FF6043F92}"/>
              </a:ext>
            </a:extLst>
          </p:cNvPr>
          <p:cNvSpPr/>
          <p:nvPr/>
        </p:nvSpPr>
        <p:spPr>
          <a:xfrm>
            <a:off x="10504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3" name="矩形 352">
            <a:extLst>
              <a:ext uri="{FF2B5EF4-FFF2-40B4-BE49-F238E27FC236}">
                <a16:creationId xmlns:a16="http://schemas.microsoft.com/office/drawing/2014/main" id="{8B4E7739-100B-9A2F-4D5C-7EBD8EC0B7F4}"/>
              </a:ext>
            </a:extLst>
          </p:cNvPr>
          <p:cNvSpPr/>
          <p:nvPr/>
        </p:nvSpPr>
        <p:spPr>
          <a:xfrm>
            <a:off x="10612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4" name="矩形 353">
            <a:extLst>
              <a:ext uri="{FF2B5EF4-FFF2-40B4-BE49-F238E27FC236}">
                <a16:creationId xmlns:a16="http://schemas.microsoft.com/office/drawing/2014/main" id="{38579A01-81D4-1346-F0CA-B95082DE3DA8}"/>
              </a:ext>
            </a:extLst>
          </p:cNvPr>
          <p:cNvSpPr/>
          <p:nvPr/>
        </p:nvSpPr>
        <p:spPr>
          <a:xfrm>
            <a:off x="10720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矩形 354">
            <a:extLst>
              <a:ext uri="{FF2B5EF4-FFF2-40B4-BE49-F238E27FC236}">
                <a16:creationId xmlns:a16="http://schemas.microsoft.com/office/drawing/2014/main" id="{1574A503-70EA-5AC6-8F5F-ABB32CEAEFD2}"/>
              </a:ext>
            </a:extLst>
          </p:cNvPr>
          <p:cNvSpPr/>
          <p:nvPr/>
        </p:nvSpPr>
        <p:spPr>
          <a:xfrm>
            <a:off x="10828391" y="5738549"/>
            <a:ext cx="107665" cy="32283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矩形 355">
            <a:extLst>
              <a:ext uri="{FF2B5EF4-FFF2-40B4-BE49-F238E27FC236}">
                <a16:creationId xmlns:a16="http://schemas.microsoft.com/office/drawing/2014/main" id="{3762DEE7-56B2-6B06-D7A7-3D6BF595E379}"/>
              </a:ext>
            </a:extLst>
          </p:cNvPr>
          <p:cNvSpPr/>
          <p:nvPr/>
        </p:nvSpPr>
        <p:spPr>
          <a:xfrm>
            <a:off x="8995442" y="5378549"/>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7" name="文本框 356">
            <a:extLst>
              <a:ext uri="{FF2B5EF4-FFF2-40B4-BE49-F238E27FC236}">
                <a16:creationId xmlns:a16="http://schemas.microsoft.com/office/drawing/2014/main" id="{A7832180-F8A5-D5C0-9E2A-72FDFEA34CC5}"/>
              </a:ext>
            </a:extLst>
          </p:cNvPr>
          <p:cNvSpPr txBox="1"/>
          <p:nvPr/>
        </p:nvSpPr>
        <p:spPr>
          <a:xfrm>
            <a:off x="8995442" y="5378549"/>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58" name="矩形: 圆角 357">
            <a:extLst>
              <a:ext uri="{FF2B5EF4-FFF2-40B4-BE49-F238E27FC236}">
                <a16:creationId xmlns:a16="http://schemas.microsoft.com/office/drawing/2014/main" id="{8A6646F3-1BDB-F854-68EF-02C6D264EFDC}"/>
              </a:ext>
            </a:extLst>
          </p:cNvPr>
          <p:cNvSpPr/>
          <p:nvPr/>
        </p:nvSpPr>
        <p:spPr>
          <a:xfrm>
            <a:off x="9032221" y="5595221"/>
            <a:ext cx="466549" cy="96849"/>
          </a:xfrm>
          <a:prstGeom prst="round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矩形 358">
            <a:extLst>
              <a:ext uri="{FF2B5EF4-FFF2-40B4-BE49-F238E27FC236}">
                <a16:creationId xmlns:a16="http://schemas.microsoft.com/office/drawing/2014/main" id="{67629A73-65BB-85E4-5B07-E4C35C0F4E13}"/>
              </a:ext>
            </a:extLst>
          </p:cNvPr>
          <p:cNvSpPr/>
          <p:nvPr/>
        </p:nvSpPr>
        <p:spPr>
          <a:xfrm>
            <a:off x="9641137" y="5378549"/>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文本框 359">
            <a:extLst>
              <a:ext uri="{FF2B5EF4-FFF2-40B4-BE49-F238E27FC236}">
                <a16:creationId xmlns:a16="http://schemas.microsoft.com/office/drawing/2014/main" id="{23EDFF23-8FDF-B064-DB90-3F485EB7C70D}"/>
              </a:ext>
            </a:extLst>
          </p:cNvPr>
          <p:cNvSpPr txBox="1"/>
          <p:nvPr/>
        </p:nvSpPr>
        <p:spPr>
          <a:xfrm>
            <a:off x="9641137" y="5378549"/>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61" name="矩形: 圆角 360">
            <a:extLst>
              <a:ext uri="{FF2B5EF4-FFF2-40B4-BE49-F238E27FC236}">
                <a16:creationId xmlns:a16="http://schemas.microsoft.com/office/drawing/2014/main" id="{34EF8BA3-F6C5-3F47-AC3F-BB92AAFE4046}"/>
              </a:ext>
            </a:extLst>
          </p:cNvPr>
          <p:cNvSpPr/>
          <p:nvPr/>
        </p:nvSpPr>
        <p:spPr>
          <a:xfrm>
            <a:off x="9677916" y="5595221"/>
            <a:ext cx="466549" cy="96849"/>
          </a:xfrm>
          <a:prstGeom prst="round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矩形 361">
            <a:extLst>
              <a:ext uri="{FF2B5EF4-FFF2-40B4-BE49-F238E27FC236}">
                <a16:creationId xmlns:a16="http://schemas.microsoft.com/office/drawing/2014/main" id="{0B1B7D18-3F66-47F0-DDC4-37EB61BA0518}"/>
              </a:ext>
            </a:extLst>
          </p:cNvPr>
          <p:cNvSpPr/>
          <p:nvPr/>
        </p:nvSpPr>
        <p:spPr>
          <a:xfrm>
            <a:off x="10288391" y="5378549"/>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文本框 362">
            <a:extLst>
              <a:ext uri="{FF2B5EF4-FFF2-40B4-BE49-F238E27FC236}">
                <a16:creationId xmlns:a16="http://schemas.microsoft.com/office/drawing/2014/main" id="{51AF101B-8231-6A03-E439-84B2DCB89D5A}"/>
              </a:ext>
            </a:extLst>
          </p:cNvPr>
          <p:cNvSpPr txBox="1"/>
          <p:nvPr/>
        </p:nvSpPr>
        <p:spPr>
          <a:xfrm>
            <a:off x="10288391" y="5378549"/>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64" name="矩形: 圆角 363">
            <a:extLst>
              <a:ext uri="{FF2B5EF4-FFF2-40B4-BE49-F238E27FC236}">
                <a16:creationId xmlns:a16="http://schemas.microsoft.com/office/drawing/2014/main" id="{80099E3A-4442-5411-4240-BEA7251EF0AB}"/>
              </a:ext>
            </a:extLst>
          </p:cNvPr>
          <p:cNvSpPr/>
          <p:nvPr/>
        </p:nvSpPr>
        <p:spPr>
          <a:xfrm>
            <a:off x="10325170" y="5595221"/>
            <a:ext cx="466549" cy="96849"/>
          </a:xfrm>
          <a:prstGeom prst="round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5" name="矩形 364">
            <a:extLst>
              <a:ext uri="{FF2B5EF4-FFF2-40B4-BE49-F238E27FC236}">
                <a16:creationId xmlns:a16="http://schemas.microsoft.com/office/drawing/2014/main" id="{262E0663-2609-6F05-9F24-8F6B306F9DDE}"/>
              </a:ext>
            </a:extLst>
          </p:cNvPr>
          <p:cNvSpPr/>
          <p:nvPr/>
        </p:nvSpPr>
        <p:spPr>
          <a:xfrm>
            <a:off x="10935645" y="5378549"/>
            <a:ext cx="538325" cy="32283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文本框 365">
            <a:extLst>
              <a:ext uri="{FF2B5EF4-FFF2-40B4-BE49-F238E27FC236}">
                <a16:creationId xmlns:a16="http://schemas.microsoft.com/office/drawing/2014/main" id="{9660B959-4EC4-EB90-445A-7A1DA612B92A}"/>
              </a:ext>
            </a:extLst>
          </p:cNvPr>
          <p:cNvSpPr txBox="1"/>
          <p:nvPr/>
        </p:nvSpPr>
        <p:spPr>
          <a:xfrm>
            <a:off x="10935645" y="5378549"/>
            <a:ext cx="538325"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67" name="矩形: 圆角 366">
            <a:extLst>
              <a:ext uri="{FF2B5EF4-FFF2-40B4-BE49-F238E27FC236}">
                <a16:creationId xmlns:a16="http://schemas.microsoft.com/office/drawing/2014/main" id="{5C622F21-88A3-49E2-AD46-D5DE4A45AC03}"/>
              </a:ext>
            </a:extLst>
          </p:cNvPr>
          <p:cNvSpPr/>
          <p:nvPr/>
        </p:nvSpPr>
        <p:spPr>
          <a:xfrm>
            <a:off x="10972424" y="5595221"/>
            <a:ext cx="466549" cy="96849"/>
          </a:xfrm>
          <a:prstGeom prst="round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6D832012-0F22-C07C-9826-4B04C202296E}"/>
              </a:ext>
            </a:extLst>
          </p:cNvPr>
          <p:cNvCxnSpPr>
            <a:cxnSpLocks/>
          </p:cNvCxnSpPr>
          <p:nvPr/>
        </p:nvCxnSpPr>
        <p:spPr>
          <a:xfrm flipV="1">
            <a:off x="-4799" y="3176387"/>
            <a:ext cx="12222837" cy="409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88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0">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0">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7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5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6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6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7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7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6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6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6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6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6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3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3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3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3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3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3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3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5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5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5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3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3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4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4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34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34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36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3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35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4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34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34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34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34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34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36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36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362"/>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5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35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352"/>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353"/>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35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355"/>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36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366"/>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365"/>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230">
                                            <p:txEl>
                                              <p:pRg st="15" end="15"/>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230">
                                            <p:txEl>
                                              <p:pRg st="16" end="16"/>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231"/>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32"/>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33"/>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36"/>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237"/>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38"/>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39"/>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4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41"/>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42"/>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43"/>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44"/>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245"/>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5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58"/>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59"/>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60"/>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61"/>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62"/>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63"/>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64"/>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65"/>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66"/>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67"/>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168"/>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69"/>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70"/>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71"/>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72"/>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73"/>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174"/>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75"/>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76"/>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77"/>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78"/>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79"/>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80"/>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181"/>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182"/>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183"/>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84"/>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85"/>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86"/>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187"/>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188"/>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89"/>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90"/>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191"/>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192"/>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P spid="235" grpId="0"/>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231" grpId="0" animBg="1"/>
      <p:bldP spid="232" grpId="0" animBg="1"/>
      <p:bldP spid="233"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7"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p:bldP spid="272" grpId="0" animBg="1"/>
      <p:bldP spid="273" grpId="0" animBg="1"/>
      <p:bldP spid="274" grpId="0"/>
      <p:bldP spid="275" grpId="0" animBg="1"/>
      <p:bldP spid="276" grpId="0" animBg="1"/>
      <p:bldP spid="277" grpId="0"/>
      <p:bldP spid="278" grpId="0" animBg="1"/>
      <p:bldP spid="329" grpId="0" animBg="1"/>
      <p:bldP spid="330" grpId="0"/>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P spid="343" grpId="0" animBg="1"/>
      <p:bldP spid="344" grpId="0" animBg="1"/>
      <p:bldP spid="345" grpId="0" animBg="1"/>
      <p:bldP spid="346" grpId="0" animBg="1"/>
      <p:bldP spid="347" grpId="0" animBg="1"/>
      <p:bldP spid="348" grpId="0" animBg="1"/>
      <p:bldP spid="349" grpId="0" animBg="1"/>
      <p:bldP spid="350" grpId="0" animBg="1"/>
      <p:bldP spid="351" grpId="0" animBg="1"/>
      <p:bldP spid="352" grpId="0" animBg="1"/>
      <p:bldP spid="353" grpId="0" animBg="1"/>
      <p:bldP spid="354" grpId="0" animBg="1"/>
      <p:bldP spid="355" grpId="0" animBg="1"/>
      <p:bldP spid="356" grpId="0" animBg="1"/>
      <p:bldP spid="357" grpId="0"/>
      <p:bldP spid="358" grpId="0" animBg="1"/>
      <p:bldP spid="359" grpId="0" animBg="1"/>
      <p:bldP spid="360" grpId="0"/>
      <p:bldP spid="361" grpId="0" animBg="1"/>
      <p:bldP spid="362" grpId="0" animBg="1"/>
      <p:bldP spid="363" grpId="0"/>
      <p:bldP spid="364" grpId="0" animBg="1"/>
      <p:bldP spid="365" grpId="0" animBg="1"/>
      <p:bldP spid="366" grpId="0"/>
      <p:bldP spid="3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662C537-8A6F-1927-F03F-7BBAACBC38DE}"/>
              </a:ext>
            </a:extLst>
          </p:cNvPr>
          <p:cNvSpPr>
            <a:spLocks noGrp="1"/>
          </p:cNvSpPr>
          <p:nvPr>
            <p:ph type="sldNum" sz="quarter" idx="12"/>
          </p:nvPr>
        </p:nvSpPr>
        <p:spPr/>
        <p:txBody>
          <a:bodyPr/>
          <a:lstStyle/>
          <a:p>
            <a:fld id="{A7CD31F4-64FA-4BA0-9498-67783267A8C8}" type="slidenum">
              <a:rPr lang="en-US" smtClean="0"/>
              <a:t>11</a:t>
            </a:fld>
            <a:endParaRPr lang="en-US"/>
          </a:p>
        </p:txBody>
      </p:sp>
      <p:pic>
        <p:nvPicPr>
          <p:cNvPr id="5" name="图片 4">
            <a:extLst>
              <a:ext uri="{FF2B5EF4-FFF2-40B4-BE49-F238E27FC236}">
                <a16:creationId xmlns:a16="http://schemas.microsoft.com/office/drawing/2014/main" id="{B1DE2125-3588-EF36-1BB7-1EA23166FFFA}"/>
              </a:ext>
            </a:extLst>
          </p:cNvPr>
          <p:cNvPicPr>
            <a:picLocks noChangeAspect="1"/>
          </p:cNvPicPr>
          <p:nvPr/>
        </p:nvPicPr>
        <p:blipFill rotWithShape="1">
          <a:blip r:embed="rId3"/>
          <a:srcRect t="47752"/>
          <a:stretch/>
        </p:blipFill>
        <p:spPr>
          <a:xfrm>
            <a:off x="167612" y="3038296"/>
            <a:ext cx="11783724" cy="3365963"/>
          </a:xfrm>
          <a:prstGeom prst="rect">
            <a:avLst/>
          </a:prstGeom>
        </p:spPr>
      </p:pic>
      <p:sp>
        <p:nvSpPr>
          <p:cNvPr id="8" name="标题 7">
            <a:extLst>
              <a:ext uri="{FF2B5EF4-FFF2-40B4-BE49-F238E27FC236}">
                <a16:creationId xmlns:a16="http://schemas.microsoft.com/office/drawing/2014/main" id="{A55A9394-6DE1-91FE-C24C-7B7515BC524E}"/>
              </a:ext>
            </a:extLst>
          </p:cNvPr>
          <p:cNvSpPr>
            <a:spLocks noGrp="1"/>
          </p:cNvSpPr>
          <p:nvPr>
            <p:ph type="title"/>
          </p:nvPr>
        </p:nvSpPr>
        <p:spPr>
          <a:xfrm>
            <a:off x="280800" y="90000"/>
            <a:ext cx="9951220" cy="709200"/>
          </a:xfrm>
        </p:spPr>
        <p:txBody>
          <a:bodyPr/>
          <a:lstStyle/>
          <a:p>
            <a:r>
              <a:rPr lang="en-US" altLang="zh-CN"/>
              <a:t>Fold</a:t>
            </a:r>
            <a:r>
              <a:rPr lang="zh-CN" altLang="en-US"/>
              <a:t>（去序列化）调度（假设给定</a:t>
            </a:r>
            <a:r>
              <a:rPr lang="en-US" altLang="zh-CN"/>
              <a:t>PP</a:t>
            </a:r>
            <a:r>
              <a:rPr lang="zh-CN" altLang="en-US"/>
              <a:t>等于</a:t>
            </a:r>
            <a:r>
              <a:rPr lang="en-US" altLang="zh-CN"/>
              <a:t>3</a:t>
            </a:r>
            <a:r>
              <a:rPr lang="zh-CN" altLang="en-US"/>
              <a:t>）</a:t>
            </a:r>
          </a:p>
        </p:txBody>
      </p:sp>
      <p:sp>
        <p:nvSpPr>
          <p:cNvPr id="3" name="内容占位符 2">
            <a:extLst>
              <a:ext uri="{FF2B5EF4-FFF2-40B4-BE49-F238E27FC236}">
                <a16:creationId xmlns:a16="http://schemas.microsoft.com/office/drawing/2014/main" id="{63AB627B-E58C-57EB-995A-788B6B65522C}"/>
              </a:ext>
            </a:extLst>
          </p:cNvPr>
          <p:cNvSpPr>
            <a:spLocks noGrp="1"/>
          </p:cNvSpPr>
          <p:nvPr>
            <p:ph idx="1"/>
          </p:nvPr>
        </p:nvSpPr>
        <p:spPr>
          <a:xfrm>
            <a:off x="573989" y="1469403"/>
            <a:ext cx="10970969" cy="1015663"/>
          </a:xfrm>
        </p:spPr>
        <p:txBody>
          <a:bodyPr>
            <a:normAutofit/>
          </a:bodyPr>
          <a:lstStyle/>
          <a:p>
            <a:r>
              <a:rPr lang="en-US" altLang="zh-CN" sz="2000"/>
              <a:t>Fold</a:t>
            </a:r>
            <a:r>
              <a:rPr lang="zh-CN" altLang="en-US" sz="2000"/>
              <a:t>中的每个微批次（</a:t>
            </a:r>
            <a:r>
              <a:rPr lang="en-US" altLang="zh-CN" sz="2000"/>
              <a:t>0-8</a:t>
            </a:r>
            <a:r>
              <a:rPr lang="zh-CN" altLang="en-US" sz="2000"/>
              <a:t>）按模型尺寸和网络情况等切成</a:t>
            </a:r>
            <a:r>
              <a:rPr lang="en-US" altLang="zh-CN" sz="2000"/>
              <a:t>F</a:t>
            </a:r>
            <a:r>
              <a:rPr lang="zh-CN" altLang="en-US" sz="2000"/>
              <a:t>部分（如下图中红蓝），在</a:t>
            </a:r>
            <a:r>
              <a:rPr lang="en-US" altLang="zh-CN" sz="2000"/>
              <a:t>PP</a:t>
            </a:r>
            <a:r>
              <a:rPr lang="zh-CN" altLang="en-US" sz="2000"/>
              <a:t>反向传播中，把所有微批次的蓝色部分的</a:t>
            </a:r>
            <a:r>
              <a:rPr lang="en-US" altLang="zh-CN" sz="2000" err="1"/>
              <a:t>DP.sync</a:t>
            </a:r>
            <a:r>
              <a:rPr lang="zh-CN" altLang="en-US" sz="2000"/>
              <a:t>时间总和和红色部分的</a:t>
            </a:r>
            <a:r>
              <a:rPr lang="en-US" altLang="zh-CN" sz="2000"/>
              <a:t>PP</a:t>
            </a:r>
            <a:r>
              <a:rPr lang="zh-CN" altLang="en-US" sz="2000"/>
              <a:t>反向传播计算时间总和，高度并行重叠</a:t>
            </a:r>
            <a:endParaRPr lang="en-US" altLang="zh-CN" sz="2000"/>
          </a:p>
        </p:txBody>
      </p:sp>
      <p:sp>
        <p:nvSpPr>
          <p:cNvPr id="10" name="内容占位符 2">
            <a:extLst>
              <a:ext uri="{FF2B5EF4-FFF2-40B4-BE49-F238E27FC236}">
                <a16:creationId xmlns:a16="http://schemas.microsoft.com/office/drawing/2014/main" id="{38CB5AB5-F2EA-4A36-3B4D-B8C3F60DF050}"/>
              </a:ext>
            </a:extLst>
          </p:cNvPr>
          <p:cNvSpPr txBox="1">
            <a:spLocks/>
          </p:cNvSpPr>
          <p:nvPr/>
        </p:nvSpPr>
        <p:spPr>
          <a:xfrm>
            <a:off x="573988" y="1977234"/>
            <a:ext cx="10970969" cy="1015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a:t>Megatron</a:t>
            </a:r>
            <a:r>
              <a:rPr lang="zh-CN" altLang="en-US" sz="2000"/>
              <a:t>中</a:t>
            </a:r>
            <a:r>
              <a:rPr lang="en-US" altLang="zh-CN" sz="2000"/>
              <a:t>Stage 0</a:t>
            </a:r>
            <a:r>
              <a:rPr lang="zh-CN" altLang="en-US" sz="2000"/>
              <a:t>需要等层</a:t>
            </a:r>
            <a:r>
              <a:rPr lang="en-US" altLang="zh-CN" sz="2000"/>
              <a:t>A</a:t>
            </a:r>
            <a:r>
              <a:rPr lang="zh-CN" altLang="en-US" sz="2000"/>
              <a:t>的最后一个微批次</a:t>
            </a:r>
            <a:r>
              <a:rPr lang="en-US" altLang="zh-CN" sz="2000"/>
              <a:t>(8)</a:t>
            </a:r>
            <a:r>
              <a:rPr lang="zh-CN" altLang="en-US" sz="2000"/>
              <a:t>的</a:t>
            </a:r>
            <a:r>
              <a:rPr lang="en-US" altLang="zh-CN" sz="2000"/>
              <a:t>PP</a:t>
            </a:r>
            <a:r>
              <a:rPr lang="zh-CN" altLang="en-US" sz="2000"/>
              <a:t>反向传播在</a:t>
            </a:r>
            <a:r>
              <a:rPr lang="en-US" altLang="zh-CN" sz="2000"/>
              <a:t>Stage 0</a:t>
            </a:r>
            <a:r>
              <a:rPr lang="zh-CN" altLang="en-US" sz="2000"/>
              <a:t>完成，</a:t>
            </a:r>
            <a:r>
              <a:rPr lang="en-US" altLang="zh-CN" sz="2000"/>
              <a:t>Stage 0</a:t>
            </a:r>
            <a:r>
              <a:rPr lang="zh-CN" altLang="en-US" sz="2000"/>
              <a:t>的</a:t>
            </a:r>
            <a:r>
              <a:rPr lang="en-US" altLang="zh-CN" sz="2000"/>
              <a:t>DP</a:t>
            </a:r>
            <a:r>
              <a:rPr lang="zh-CN" altLang="en-US" sz="2000"/>
              <a:t>才能开始</a:t>
            </a:r>
            <a:r>
              <a:rPr lang="en-US" altLang="zh-CN" sz="2000"/>
              <a:t> (</a:t>
            </a:r>
            <a:r>
              <a:rPr lang="zh-CN" altLang="en-US" sz="2000"/>
              <a:t>把单次</a:t>
            </a:r>
            <a:r>
              <a:rPr lang="en-US" altLang="zh-CN" sz="2000"/>
              <a:t>PP</a:t>
            </a:r>
            <a:r>
              <a:rPr lang="zh-CN" altLang="en-US" sz="2000"/>
              <a:t>计算粒度切为</a:t>
            </a:r>
            <a:r>
              <a:rPr lang="en-US" altLang="zh-CN" sz="2000"/>
              <a:t>M</a:t>
            </a:r>
            <a:r>
              <a:rPr lang="zh-CN" altLang="en-US" sz="2000"/>
              <a:t>份，越细越好，如上图中橙绿，从而使</a:t>
            </a:r>
            <a:r>
              <a:rPr lang="en-US" altLang="zh-CN" sz="2000"/>
              <a:t>PP</a:t>
            </a:r>
            <a:r>
              <a:rPr lang="zh-CN" altLang="en-US" sz="2000"/>
              <a:t>维度</a:t>
            </a:r>
            <a:r>
              <a:rPr lang="en-US" altLang="zh-CN" sz="2000"/>
              <a:t>Bubble</a:t>
            </a:r>
            <a:r>
              <a:rPr lang="zh-CN" altLang="en-US" sz="2000"/>
              <a:t>最小化</a:t>
            </a:r>
            <a:r>
              <a:rPr lang="en-US" altLang="zh-CN" sz="2000"/>
              <a:t>)</a:t>
            </a:r>
          </a:p>
          <a:p>
            <a:endParaRPr lang="en-US" altLang="zh-CN" sz="2000"/>
          </a:p>
        </p:txBody>
      </p:sp>
      <p:pic>
        <p:nvPicPr>
          <p:cNvPr id="1028" name="Picture 4">
            <a:extLst>
              <a:ext uri="{FF2B5EF4-FFF2-40B4-BE49-F238E27FC236}">
                <a16:creationId xmlns:a16="http://schemas.microsoft.com/office/drawing/2014/main" id="{2FD9CF9B-A7BC-747D-B875-90963F1119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34" y="3646046"/>
            <a:ext cx="12399467" cy="2150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31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EB445-A677-320B-BF92-4C25494927FB}"/>
              </a:ext>
            </a:extLst>
          </p:cNvPr>
          <p:cNvSpPr>
            <a:spLocks noGrp="1"/>
          </p:cNvSpPr>
          <p:nvPr>
            <p:ph type="title"/>
          </p:nvPr>
        </p:nvSpPr>
        <p:spPr>
          <a:xfrm>
            <a:off x="280799" y="90000"/>
            <a:ext cx="11767113" cy="709200"/>
          </a:xfrm>
        </p:spPr>
        <p:txBody>
          <a:bodyPr/>
          <a:lstStyle/>
          <a:p>
            <a:r>
              <a:rPr lang="en-US" altLang="zh-CN"/>
              <a:t>Megatron</a:t>
            </a:r>
            <a:r>
              <a:rPr lang="zh-CN" altLang="en-US"/>
              <a:t>（上图）和</a:t>
            </a:r>
            <a:r>
              <a:rPr lang="en-US" altLang="zh-CN"/>
              <a:t>Fold3D</a:t>
            </a:r>
            <a:r>
              <a:rPr lang="zh-CN" altLang="en-US"/>
              <a:t>（下图）的调度对比</a:t>
            </a:r>
          </a:p>
        </p:txBody>
      </p:sp>
      <p:sp>
        <p:nvSpPr>
          <p:cNvPr id="3" name="内容占位符 2">
            <a:extLst>
              <a:ext uri="{FF2B5EF4-FFF2-40B4-BE49-F238E27FC236}">
                <a16:creationId xmlns:a16="http://schemas.microsoft.com/office/drawing/2014/main" id="{710B8D5F-7FF0-E906-B3FE-B63DD8F13020}"/>
              </a:ext>
            </a:extLst>
          </p:cNvPr>
          <p:cNvSpPr>
            <a:spLocks noGrp="1"/>
          </p:cNvSpPr>
          <p:nvPr>
            <p:ph idx="1"/>
          </p:nvPr>
        </p:nvSpPr>
        <p:spPr>
          <a:xfrm>
            <a:off x="249982" y="1035111"/>
            <a:ext cx="11651477" cy="4630840"/>
          </a:xfrm>
        </p:spPr>
        <p:txBody>
          <a:bodyPr>
            <a:normAutofit/>
          </a:bodyPr>
          <a:lstStyle/>
          <a:p>
            <a:r>
              <a:rPr lang="en-US" altLang="zh-CN" sz="2000" dirty="0"/>
              <a:t>Megatron</a:t>
            </a:r>
            <a:r>
              <a:rPr lang="zh-CN" altLang="en-US" sz="2000" dirty="0"/>
              <a:t>：</a:t>
            </a:r>
            <a:r>
              <a:rPr lang="en-US" altLang="zh-CN" sz="2000" dirty="0"/>
              <a:t>PP</a:t>
            </a:r>
            <a:r>
              <a:rPr lang="zh-CN" altLang="en-US" sz="2000" dirty="0"/>
              <a:t>维度计算</a:t>
            </a:r>
            <a:r>
              <a:rPr lang="en-US" altLang="zh-CN" sz="2000" dirty="0"/>
              <a:t>bubble</a:t>
            </a:r>
            <a:r>
              <a:rPr lang="zh-CN" altLang="en-US" sz="2000" dirty="0"/>
              <a:t>最小化，适合独占集群预训练（高网络带宽使</a:t>
            </a:r>
            <a:r>
              <a:rPr lang="en-US" altLang="zh-CN" sz="2000" dirty="0" err="1"/>
              <a:t>DP.sync</a:t>
            </a:r>
            <a:r>
              <a:rPr lang="zh-CN" altLang="en-US" sz="2000" dirty="0"/>
              <a:t>占比很低）；</a:t>
            </a:r>
            <a:r>
              <a:rPr lang="en-US" altLang="zh-CN" sz="2000" dirty="0"/>
              <a:t>Fold3D</a:t>
            </a:r>
            <a:r>
              <a:rPr lang="zh-CN" altLang="en-US" sz="2000" dirty="0"/>
              <a:t>：</a:t>
            </a:r>
            <a:r>
              <a:rPr lang="en-US" altLang="zh-CN" sz="2000" dirty="0"/>
              <a:t>PP</a:t>
            </a:r>
            <a:r>
              <a:rPr lang="zh-CN" altLang="en-US" sz="2000" dirty="0"/>
              <a:t>计算以及</a:t>
            </a:r>
            <a:r>
              <a:rPr lang="en-US" altLang="zh-CN" sz="2000" dirty="0" err="1"/>
              <a:t>DP.sync</a:t>
            </a:r>
            <a:r>
              <a:rPr lang="zh-CN" altLang="en-US" sz="2000" dirty="0"/>
              <a:t>通信的尽量重叠并行，比较适合商用云共享网络，预训练和泛化微调；</a:t>
            </a:r>
            <a:r>
              <a:rPr lang="en-US" altLang="zh-CN" sz="2000" dirty="0"/>
              <a:t>Megatron</a:t>
            </a:r>
            <a:r>
              <a:rPr lang="zh-CN" altLang="en-US" sz="2000" dirty="0"/>
              <a:t>和</a:t>
            </a:r>
            <a:r>
              <a:rPr lang="en-US" altLang="zh-CN" sz="2000" dirty="0"/>
              <a:t>Fold3D</a:t>
            </a:r>
            <a:r>
              <a:rPr lang="zh-CN" altLang="en-US" sz="2000" dirty="0"/>
              <a:t>具有同样优质的训练收敛性（即</a:t>
            </a:r>
            <a:r>
              <a:rPr lang="en-US" altLang="zh-CN" sz="2000" dirty="0"/>
              <a:t>BSP</a:t>
            </a:r>
            <a:r>
              <a:rPr lang="zh-CN" altLang="en-US" sz="2000" dirty="0"/>
              <a:t>）。</a:t>
            </a:r>
            <a:endParaRPr lang="en-US" altLang="zh-CN" sz="2000" dirty="0"/>
          </a:p>
        </p:txBody>
      </p:sp>
      <p:pic>
        <p:nvPicPr>
          <p:cNvPr id="4" name="图片 3">
            <a:extLst>
              <a:ext uri="{FF2B5EF4-FFF2-40B4-BE49-F238E27FC236}">
                <a16:creationId xmlns:a16="http://schemas.microsoft.com/office/drawing/2014/main" id="{CF39A063-BB7A-C7FE-559F-B1110446C512}"/>
              </a:ext>
            </a:extLst>
          </p:cNvPr>
          <p:cNvPicPr>
            <a:picLocks noChangeAspect="1"/>
          </p:cNvPicPr>
          <p:nvPr/>
        </p:nvPicPr>
        <p:blipFill rotWithShape="1">
          <a:blip r:embed="rId3"/>
          <a:srcRect t="47752"/>
          <a:stretch/>
        </p:blipFill>
        <p:spPr>
          <a:xfrm>
            <a:off x="117736" y="3764287"/>
            <a:ext cx="11783724" cy="3365963"/>
          </a:xfrm>
          <a:prstGeom prst="rect">
            <a:avLst/>
          </a:prstGeom>
        </p:spPr>
      </p:pic>
      <p:pic>
        <p:nvPicPr>
          <p:cNvPr id="5" name="Picture 4">
            <a:extLst>
              <a:ext uri="{FF2B5EF4-FFF2-40B4-BE49-F238E27FC236}">
                <a16:creationId xmlns:a16="http://schemas.microsoft.com/office/drawing/2014/main" id="{5525E557-E4E1-F383-1724-16F7AB1BA1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10" y="1595567"/>
            <a:ext cx="12399467" cy="215046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4144FCD8-36F8-4CEC-3AFD-101FBBA20130}"/>
              </a:ext>
            </a:extLst>
          </p:cNvPr>
          <p:cNvSpPr/>
          <p:nvPr/>
        </p:nvSpPr>
        <p:spPr>
          <a:xfrm>
            <a:off x="5030762" y="3807830"/>
            <a:ext cx="2670518" cy="18763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45C2B57-ED13-F7CD-D7CC-30C970221C02}"/>
              </a:ext>
            </a:extLst>
          </p:cNvPr>
          <p:cNvSpPr/>
          <p:nvPr/>
        </p:nvSpPr>
        <p:spPr>
          <a:xfrm>
            <a:off x="494322" y="3764287"/>
            <a:ext cx="1654518" cy="18763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F441229-E1C7-4AAD-06E1-EFD39B015F5E}"/>
              </a:ext>
            </a:extLst>
          </p:cNvPr>
          <p:cNvSpPr/>
          <p:nvPr/>
        </p:nvSpPr>
        <p:spPr>
          <a:xfrm>
            <a:off x="10652760" y="3812910"/>
            <a:ext cx="1112520" cy="18763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913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56408EB-02EA-36C1-528D-C974658E99FB}"/>
              </a:ext>
            </a:extLst>
          </p:cNvPr>
          <p:cNvSpPr>
            <a:spLocks noGrp="1"/>
          </p:cNvSpPr>
          <p:nvPr>
            <p:ph idx="1"/>
          </p:nvPr>
        </p:nvSpPr>
        <p:spPr>
          <a:xfrm>
            <a:off x="654536" y="1077532"/>
            <a:ext cx="10980000" cy="4630840"/>
          </a:xfrm>
        </p:spPr>
        <p:txBody>
          <a:bodyPr>
            <a:normAutofit/>
          </a:bodyPr>
          <a:lstStyle/>
          <a:p>
            <a:r>
              <a:rPr lang="zh-CN" altLang="en-US" sz="1600" dirty="0"/>
              <a:t>美国</a:t>
            </a:r>
            <a:r>
              <a:rPr lang="en-US" altLang="zh-CN" sz="1600" dirty="0"/>
              <a:t>GPU</a:t>
            </a:r>
            <a:r>
              <a:rPr lang="zh-CN" altLang="en-US" sz="1600" dirty="0"/>
              <a:t>：</a:t>
            </a:r>
            <a:r>
              <a:rPr lang="en-US" altLang="zh-CN" sz="1600" dirty="0" err="1"/>
              <a:t>PyTorch</a:t>
            </a:r>
            <a:r>
              <a:rPr lang="en-US" altLang="zh-CN" sz="1600" dirty="0"/>
              <a:t> + 256</a:t>
            </a:r>
            <a:r>
              <a:rPr lang="zh-CN" altLang="en-US" sz="1600" dirty="0"/>
              <a:t>个</a:t>
            </a:r>
            <a:r>
              <a:rPr lang="en-US" altLang="zh-CN" sz="1600" dirty="0"/>
              <a:t>A100 GPU</a:t>
            </a:r>
            <a:r>
              <a:rPr lang="zh-CN" altLang="en-US" sz="1600" dirty="0"/>
              <a:t>：</a:t>
            </a:r>
            <a:r>
              <a:rPr lang="en-US" altLang="zh-CN" sz="1400" dirty="0"/>
              <a:t>GPT-3 81B</a:t>
            </a:r>
            <a:r>
              <a:rPr lang="zh-CN" altLang="en-US" sz="1400" dirty="0"/>
              <a:t>：相较于</a:t>
            </a:r>
            <a:r>
              <a:rPr lang="en-US" altLang="zh-CN" sz="1400" dirty="0"/>
              <a:t>Megatron 3.0</a:t>
            </a:r>
            <a:r>
              <a:rPr lang="zh-CN" altLang="en-US" sz="1400" dirty="0"/>
              <a:t>，吞吐量提高了</a:t>
            </a:r>
            <a:r>
              <a:rPr lang="en-US" altLang="zh-CN" sz="1400" dirty="0"/>
              <a:t>31%</a:t>
            </a:r>
            <a:r>
              <a:rPr lang="zh-CN" altLang="en-US" sz="1400" dirty="0"/>
              <a:t>以上。</a:t>
            </a:r>
            <a:endParaRPr lang="en-US" altLang="zh-CN" sz="1400" dirty="0"/>
          </a:p>
          <a:p>
            <a:r>
              <a:rPr lang="zh-CN" altLang="en-US" sz="1600" b="1" dirty="0"/>
              <a:t>我的博士生们和华为人员，在升腾进行了艰苦和大量的软硬件协同，以及实现和调试</a:t>
            </a:r>
            <a:r>
              <a:rPr lang="zh-CN" altLang="en-US" sz="1600" dirty="0"/>
              <a:t>：</a:t>
            </a:r>
            <a:r>
              <a:rPr lang="en-US" altLang="zh-CN" sz="1600" dirty="0" err="1"/>
              <a:t>MindSpore</a:t>
            </a:r>
            <a:r>
              <a:rPr lang="zh-CN" altLang="en-US" sz="1600" dirty="0"/>
              <a:t>上开源，并产业化</a:t>
            </a:r>
            <a:endParaRPr lang="en-US" altLang="zh-CN" sz="1600" dirty="0"/>
          </a:p>
          <a:p>
            <a:pPr lvl="1"/>
            <a:r>
              <a:rPr lang="zh-CN" altLang="zh-CN" sz="1400" b="1" dirty="0">
                <a:latin typeface="Arial" panose="020B0604020202020204" pitchFamily="34" charset="0"/>
              </a:rPr>
              <a:t>算子图切图</a:t>
            </a:r>
            <a:r>
              <a:rPr lang="zh-CN" altLang="en-US" sz="1400" b="1" dirty="0">
                <a:latin typeface="Arial" panose="020B0604020202020204" pitchFamily="34" charset="0"/>
              </a:rPr>
              <a:t>：</a:t>
            </a:r>
            <a:r>
              <a:rPr lang="zh-CN" altLang="en-US" sz="1400" dirty="0">
                <a:latin typeface="Arial" panose="020B0604020202020204" pitchFamily="34" charset="0"/>
              </a:rPr>
              <a:t>将大</a:t>
            </a:r>
            <a:r>
              <a:rPr lang="zh-CN" altLang="zh-CN" sz="1400" dirty="0">
                <a:latin typeface="Arial" panose="020B0604020202020204" pitchFamily="34" charset="0"/>
              </a:rPr>
              <a:t>模型在图编译阶段划分为多个子图</a:t>
            </a:r>
            <a:r>
              <a:rPr lang="zh-CN" altLang="en-US" sz="1400" dirty="0">
                <a:latin typeface="Arial" panose="020B0604020202020204" pitchFamily="34" charset="0"/>
              </a:rPr>
              <a:t>，下发给多个设备来支持分布式训练。</a:t>
            </a:r>
            <a:r>
              <a:rPr lang="zh-CN" altLang="zh-CN" sz="1400" dirty="0">
                <a:latin typeface="Arial" panose="020B0604020202020204" pitchFamily="34" charset="0"/>
              </a:rPr>
              <a:t>我们优化了切图策略，使其更贴合硬件拓扑与计算数据流，提升整体计算效率。</a:t>
            </a:r>
          </a:p>
          <a:p>
            <a:pPr lvl="1"/>
            <a:r>
              <a:rPr lang="zh-CN" altLang="zh-CN" sz="1400" b="1" dirty="0">
                <a:latin typeface="Arial" panose="020B0604020202020204" pitchFamily="34" charset="0"/>
              </a:rPr>
              <a:t>通信算子下发与 P2P 死锁问题</a:t>
            </a:r>
            <a:r>
              <a:rPr lang="zh-CN" altLang="en-US" sz="1400" b="1" dirty="0">
                <a:latin typeface="Arial" panose="020B0604020202020204" pitchFamily="34" charset="0"/>
              </a:rPr>
              <a:t>：</a:t>
            </a:r>
            <a:r>
              <a:rPr lang="zh-CN" altLang="zh-CN" sz="1400" dirty="0">
                <a:latin typeface="Arial" panose="020B0604020202020204" pitchFamily="34" charset="0"/>
              </a:rPr>
              <a:t>在多卡训练中，通信算子（如 Send/Recv）存在下发不当易引发设备间 P2P 死锁的风险。我们通过图调度优化与通信调度融合，</a:t>
            </a:r>
            <a:r>
              <a:rPr lang="zh-CN" altLang="en-US" sz="1400" dirty="0">
                <a:latin typeface="Arial" panose="020B0604020202020204" pitchFamily="34" charset="0"/>
              </a:rPr>
              <a:t>避免</a:t>
            </a:r>
            <a:r>
              <a:rPr lang="zh-CN" altLang="zh-CN" sz="1400" dirty="0">
                <a:latin typeface="Arial" panose="020B0604020202020204" pitchFamily="34" charset="0"/>
              </a:rPr>
              <a:t>通信阻塞。</a:t>
            </a:r>
            <a:endParaRPr lang="en-US" altLang="zh-CN" sz="1400" dirty="0">
              <a:latin typeface="Arial" panose="020B0604020202020204" pitchFamily="34" charset="0"/>
            </a:endParaRPr>
          </a:p>
          <a:p>
            <a:pPr lvl="1"/>
            <a:r>
              <a:rPr lang="zh-CN" altLang="zh-CN" sz="1400" b="1" dirty="0">
                <a:latin typeface="Arial" panose="020B0604020202020204" pitchFamily="34" charset="0"/>
              </a:rPr>
              <a:t>整图下发与流水并行</a:t>
            </a:r>
            <a:r>
              <a:rPr lang="zh-CN" altLang="en-US" sz="1400" b="1" dirty="0">
                <a:latin typeface="Arial" panose="020B0604020202020204" pitchFamily="34" charset="0"/>
              </a:rPr>
              <a:t>：</a:t>
            </a:r>
            <a:r>
              <a:rPr lang="zh-CN" altLang="zh-CN" sz="1400" dirty="0">
                <a:latin typeface="Arial" panose="020B0604020202020204" pitchFamily="34" charset="0"/>
              </a:rPr>
              <a:t>大模型生成的指令集极其庞大，导致任务调度器面临严重下发压力。我们引入整图融合下发机制</a:t>
            </a:r>
            <a:r>
              <a:rPr lang="zh-CN" altLang="en-US" sz="1400" dirty="0">
                <a:latin typeface="Arial" panose="020B0604020202020204" pitchFamily="34" charset="0"/>
              </a:rPr>
              <a:t>，</a:t>
            </a:r>
            <a:r>
              <a:rPr lang="zh-CN" altLang="zh-CN" sz="1400" dirty="0">
                <a:latin typeface="Arial" panose="020B0604020202020204" pitchFamily="34" charset="0"/>
              </a:rPr>
              <a:t>减少频繁 Host </a:t>
            </a:r>
            <a:r>
              <a:rPr lang="en-US" altLang="zh-CN" sz="1400" dirty="0">
                <a:latin typeface="Arial" panose="020B0604020202020204" pitchFamily="34" charset="0"/>
              </a:rPr>
              <a:t>&lt;-&gt; </a:t>
            </a:r>
            <a:r>
              <a:rPr lang="zh-CN" altLang="zh-CN" sz="1400" dirty="0">
                <a:latin typeface="Arial" panose="020B0604020202020204" pitchFamily="34" charset="0"/>
              </a:rPr>
              <a:t>Device 控制指令交互</a:t>
            </a:r>
            <a:r>
              <a:rPr lang="zh-CN" altLang="en-US" sz="1400" dirty="0">
                <a:latin typeface="Arial" panose="020B0604020202020204" pitchFamily="34" charset="0"/>
              </a:rPr>
              <a:t>。同时</a:t>
            </a:r>
            <a:r>
              <a:rPr lang="zh-CN" altLang="zh-CN" sz="1400" dirty="0">
                <a:latin typeface="Arial" panose="020B0604020202020204" pitchFamily="34" charset="0"/>
              </a:rPr>
              <a:t>配合异步流水调度，可实现计算、通信、内存拷贝多阶段并行，充分发挥昇腾架构优势</a:t>
            </a:r>
            <a:r>
              <a:rPr lang="zh-CN" altLang="en-US" sz="1400" dirty="0">
                <a:latin typeface="Arial" panose="020B0604020202020204" pitchFamily="34" charset="0"/>
              </a:rPr>
              <a:t>。</a:t>
            </a:r>
            <a:endParaRPr lang="zh-CN" altLang="zh-CN" sz="1400" dirty="0">
              <a:latin typeface="Arial" panose="020B0604020202020204" pitchFamily="34" charset="0"/>
            </a:endParaRPr>
          </a:p>
          <a:p>
            <a:pPr lvl="1"/>
            <a:r>
              <a:rPr lang="zh-CN" altLang="zh-CN" sz="1400" b="1" dirty="0">
                <a:latin typeface="Arial" panose="020B0604020202020204" pitchFamily="34" charset="0"/>
              </a:rPr>
              <a:t>内存拷贝算子指令化</a:t>
            </a:r>
            <a:r>
              <a:rPr lang="zh-CN" altLang="en-US" sz="1400" b="1" dirty="0">
                <a:latin typeface="Arial" panose="020B0604020202020204" pitchFamily="34" charset="0"/>
              </a:rPr>
              <a:t>：</a:t>
            </a:r>
            <a:r>
              <a:rPr lang="zh-CN" altLang="zh-CN" sz="1400" dirty="0">
                <a:latin typeface="Arial" panose="020B0604020202020204" pitchFamily="34" charset="0"/>
              </a:rPr>
              <a:t>针对高频内存拷贝操作（</a:t>
            </a:r>
            <a:r>
              <a:rPr lang="en-US" altLang="zh-CN" sz="1400" dirty="0">
                <a:latin typeface="Arial" panose="020B0604020202020204" pitchFamily="34" charset="0"/>
              </a:rPr>
              <a:t>CPU-NPU </a:t>
            </a:r>
            <a:r>
              <a:rPr lang="zh-CN" altLang="zh-CN" sz="1400" dirty="0">
                <a:latin typeface="Arial" panose="020B0604020202020204" pitchFamily="34" charset="0"/>
              </a:rPr>
              <a:t>Memcpy），我们通过“指令化”优化策略，采用轻量</a:t>
            </a:r>
            <a:r>
              <a:rPr lang="en-US" altLang="zh-CN" sz="1400" dirty="0">
                <a:latin typeface="Arial" panose="020B0604020202020204" pitchFamily="34" charset="0"/>
              </a:rPr>
              <a:t>SOC</a:t>
            </a:r>
            <a:r>
              <a:rPr lang="zh-CN" altLang="zh-CN" sz="1400" dirty="0">
                <a:latin typeface="Arial" panose="020B0604020202020204" pitchFamily="34" charset="0"/>
              </a:rPr>
              <a:t>指令下发替代传统算子路径，显著减小拷贝带来的调度开销</a:t>
            </a:r>
            <a:r>
              <a:rPr lang="zh-CN" altLang="en-US" sz="1400" dirty="0">
                <a:latin typeface="Arial" panose="020B0604020202020204" pitchFamily="34" charset="0"/>
              </a:rPr>
              <a:t>。</a:t>
            </a:r>
            <a:endParaRPr lang="en-US" altLang="zh-CN" sz="1400" dirty="0"/>
          </a:p>
          <a:p>
            <a:pPr lvl="1"/>
            <a:r>
              <a:rPr lang="en-US" altLang="zh-CN" sz="1400" dirty="0"/>
              <a:t>Fold3D</a:t>
            </a:r>
            <a:r>
              <a:rPr lang="zh-CN" altLang="en-US" sz="1400" dirty="0"/>
              <a:t>（</a:t>
            </a:r>
            <a:r>
              <a:rPr lang="en-US" altLang="zh-CN" sz="1400" dirty="0" err="1"/>
              <a:t>FoldPipelineTransformer</a:t>
            </a:r>
            <a:r>
              <a:rPr lang="zh-CN" altLang="en-US" sz="1400" dirty="0"/>
              <a:t>）相对于</a:t>
            </a:r>
            <a:r>
              <a:rPr lang="en-US" altLang="zh-CN" sz="1400" dirty="0" err="1"/>
              <a:t>MindSpore</a:t>
            </a:r>
            <a:r>
              <a:rPr lang="zh-CN" altLang="en-US" sz="1400" dirty="0"/>
              <a:t>中的所有其他四个参考美国（斯坦福</a:t>
            </a:r>
            <a:r>
              <a:rPr lang="en-US" altLang="zh-CN" sz="1400" dirty="0"/>
              <a:t>/</a:t>
            </a:r>
            <a:r>
              <a:rPr lang="zh-CN" altLang="en-US" sz="1400" dirty="0"/>
              <a:t>英伟达</a:t>
            </a:r>
            <a:r>
              <a:rPr lang="en-US" altLang="zh-CN" sz="1400" dirty="0"/>
              <a:t>/</a:t>
            </a:r>
            <a:r>
              <a:rPr lang="zh-CN" altLang="en-US" sz="1400" dirty="0"/>
              <a:t>谷歌</a:t>
            </a:r>
            <a:r>
              <a:rPr lang="en-US" altLang="zh-CN" sz="1400" dirty="0"/>
              <a:t>/</a:t>
            </a:r>
            <a:r>
              <a:rPr lang="zh-CN" altLang="en-US" sz="1400" dirty="0"/>
              <a:t>微软等）的训练方案，我们</a:t>
            </a:r>
            <a:r>
              <a:rPr lang="en-US" altLang="zh-CN" sz="1400" dirty="0"/>
              <a:t>Fold3D</a:t>
            </a:r>
            <a:r>
              <a:rPr lang="zh-CN" altLang="en-US" sz="1400" dirty="0"/>
              <a:t>自主训练系统的训练吞吐量（性能），提高了</a:t>
            </a:r>
            <a:r>
              <a:rPr lang="en-US" altLang="zh-CN" sz="1400" dirty="0"/>
              <a:t>30%</a:t>
            </a:r>
            <a:r>
              <a:rPr lang="zh-CN" altLang="en-US" sz="1400" dirty="0"/>
              <a:t>以上。</a:t>
            </a:r>
            <a:endParaRPr lang="en-US" altLang="zh-CN" sz="1400" dirty="0"/>
          </a:p>
          <a:p>
            <a:endParaRPr lang="zh-CN" altLang="en-US" sz="1800" dirty="0"/>
          </a:p>
        </p:txBody>
      </p:sp>
      <p:sp>
        <p:nvSpPr>
          <p:cNvPr id="4" name="灯片编号占位符 3">
            <a:extLst>
              <a:ext uri="{FF2B5EF4-FFF2-40B4-BE49-F238E27FC236}">
                <a16:creationId xmlns:a16="http://schemas.microsoft.com/office/drawing/2014/main" id="{FEF9982C-088F-F392-F859-7E47D5968529}"/>
              </a:ext>
            </a:extLst>
          </p:cNvPr>
          <p:cNvSpPr>
            <a:spLocks noGrp="1"/>
          </p:cNvSpPr>
          <p:nvPr>
            <p:ph type="sldNum" sz="quarter" idx="12"/>
          </p:nvPr>
        </p:nvSpPr>
        <p:spPr/>
        <p:txBody>
          <a:bodyPr/>
          <a:lstStyle/>
          <a:p>
            <a:fld id="{A7CD31F4-64FA-4BA0-9498-67783267A8C8}" type="slidenum">
              <a:rPr lang="en-US" smtClean="0"/>
              <a:t>13</a:t>
            </a:fld>
            <a:endParaRPr lang="en-US"/>
          </a:p>
        </p:txBody>
      </p:sp>
      <p:pic>
        <p:nvPicPr>
          <p:cNvPr id="5" name="内容占位符 4" descr="图表, 条形图&#10;&#10;描述已自动生成">
            <a:extLst>
              <a:ext uri="{FF2B5EF4-FFF2-40B4-BE49-F238E27FC236}">
                <a16:creationId xmlns:a16="http://schemas.microsoft.com/office/drawing/2014/main" id="{26CE5546-B9BC-3C4C-DA32-661997B7BF80}"/>
              </a:ext>
            </a:extLst>
          </p:cNvPr>
          <p:cNvPicPr>
            <a:picLocks noChangeAspect="1"/>
          </p:cNvPicPr>
          <p:nvPr/>
        </p:nvPicPr>
        <p:blipFill>
          <a:blip r:embed="rId3"/>
          <a:srcRect b="33074"/>
          <a:stretch>
            <a:fillRect/>
          </a:stretch>
        </p:blipFill>
        <p:spPr>
          <a:xfrm>
            <a:off x="987090" y="4305767"/>
            <a:ext cx="4146550" cy="1606781"/>
          </a:xfrm>
          <a:prstGeom prst="rect">
            <a:avLst/>
          </a:prstGeom>
        </p:spPr>
      </p:pic>
      <p:pic>
        <p:nvPicPr>
          <p:cNvPr id="7" name="图片 6" descr="表格&#10;&#10;描述已自动生成">
            <a:extLst>
              <a:ext uri="{FF2B5EF4-FFF2-40B4-BE49-F238E27FC236}">
                <a16:creationId xmlns:a16="http://schemas.microsoft.com/office/drawing/2014/main" id="{EEABEF66-410A-BB52-369B-D363EB7EDC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1563" y="4457069"/>
            <a:ext cx="6199299" cy="2128302"/>
          </a:xfrm>
          <a:prstGeom prst="rect">
            <a:avLst/>
          </a:prstGeom>
        </p:spPr>
      </p:pic>
      <p:sp>
        <p:nvSpPr>
          <p:cNvPr id="8" name="标题 7">
            <a:extLst>
              <a:ext uri="{FF2B5EF4-FFF2-40B4-BE49-F238E27FC236}">
                <a16:creationId xmlns:a16="http://schemas.microsoft.com/office/drawing/2014/main" id="{14644762-D0AE-E0C0-94E0-28CB78F709A1}"/>
              </a:ext>
            </a:extLst>
          </p:cNvPr>
          <p:cNvSpPr>
            <a:spLocks noGrp="1"/>
          </p:cNvSpPr>
          <p:nvPr>
            <p:ph type="title"/>
          </p:nvPr>
        </p:nvSpPr>
        <p:spPr>
          <a:xfrm>
            <a:off x="280799" y="90000"/>
            <a:ext cx="11151971" cy="709200"/>
          </a:xfrm>
        </p:spPr>
        <p:txBody>
          <a:bodyPr/>
          <a:lstStyle/>
          <a:p>
            <a:r>
              <a:rPr lang="zh-CN" altLang="en-US" dirty="0"/>
              <a:t>部分数据（详尽数据请看</a:t>
            </a:r>
            <a:r>
              <a:rPr lang="en-US" altLang="zh-CN" dirty="0"/>
              <a:t>[Fold3D TPDS 2023]</a:t>
            </a:r>
            <a:r>
              <a:rPr lang="zh-CN" altLang="en-US" dirty="0"/>
              <a:t>）</a:t>
            </a:r>
          </a:p>
        </p:txBody>
      </p:sp>
      <p:sp>
        <p:nvSpPr>
          <p:cNvPr id="2" name="文本框 1">
            <a:extLst>
              <a:ext uri="{FF2B5EF4-FFF2-40B4-BE49-F238E27FC236}">
                <a16:creationId xmlns:a16="http://schemas.microsoft.com/office/drawing/2014/main" id="{1573A3DD-1EE1-B3E3-9F91-5F8AE02930A4}"/>
              </a:ext>
            </a:extLst>
          </p:cNvPr>
          <p:cNvSpPr txBox="1"/>
          <p:nvPr/>
        </p:nvSpPr>
        <p:spPr>
          <a:xfrm>
            <a:off x="1626669" y="5819272"/>
            <a:ext cx="2935706" cy="1200329"/>
          </a:xfrm>
          <a:prstGeom prst="rect">
            <a:avLst/>
          </a:prstGeom>
          <a:noFill/>
        </p:spPr>
        <p:txBody>
          <a:bodyPr wrap="square" rtlCol="0">
            <a:spAutoFit/>
          </a:bodyPr>
          <a:lstStyle/>
          <a:p>
            <a:r>
              <a:rPr lang="en-US" altLang="zh-CN" dirty="0"/>
              <a:t>2024</a:t>
            </a:r>
            <a:r>
              <a:rPr lang="zh-CN" altLang="en-US" dirty="0"/>
              <a:t>年，深圳</a:t>
            </a:r>
            <a:r>
              <a:rPr lang="en-US" altLang="zh-CN" dirty="0"/>
              <a:t>3072</a:t>
            </a:r>
            <a:r>
              <a:rPr lang="zh-CN" altLang="en-US" dirty="0"/>
              <a:t>个华为昇腾</a:t>
            </a:r>
            <a:r>
              <a:rPr lang="en-US" altLang="zh-CN" dirty="0"/>
              <a:t>910B NPUs</a:t>
            </a:r>
            <a:r>
              <a:rPr lang="zh-CN" altLang="en-US" dirty="0"/>
              <a:t>，训练盘古（总算力提升</a:t>
            </a:r>
            <a:r>
              <a:rPr lang="en-US" altLang="zh-CN" dirty="0"/>
              <a:t>~140PFLOPS</a:t>
            </a:r>
            <a:r>
              <a:rPr lang="zh-CN" altLang="en-US" dirty="0"/>
              <a:t>）</a:t>
            </a:r>
            <a:endParaRPr lang="en-US" altLang="zh-CN" dirty="0"/>
          </a:p>
          <a:p>
            <a:endParaRPr kumimoji="1" lang="zh-CN" altLang="en-US" dirty="0"/>
          </a:p>
        </p:txBody>
      </p:sp>
    </p:spTree>
    <p:extLst>
      <p:ext uri="{BB962C8B-B14F-4D97-AF65-F5344CB8AC3E}">
        <p14:creationId xmlns:p14="http://schemas.microsoft.com/office/powerpoint/2010/main" val="1174542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DC778A-F75B-4812-A849-A0DC645475A2}"/>
              </a:ext>
            </a:extLst>
          </p:cNvPr>
          <p:cNvSpPr>
            <a:spLocks noGrp="1"/>
          </p:cNvSpPr>
          <p:nvPr>
            <p:ph type="title"/>
          </p:nvPr>
        </p:nvSpPr>
        <p:spPr>
          <a:xfrm>
            <a:off x="280800" y="90000"/>
            <a:ext cx="11855782" cy="709200"/>
          </a:xfrm>
        </p:spPr>
        <p:txBody>
          <a:bodyPr/>
          <a:lstStyle/>
          <a:p>
            <a:r>
              <a:rPr lang="zh-CN" altLang="en-US" dirty="0"/>
              <a:t>训练的</a:t>
            </a:r>
            <a:r>
              <a:rPr lang="en-US" altLang="zh-CN"/>
              <a:t>sharding</a:t>
            </a:r>
            <a:r>
              <a:rPr lang="zh-CN" altLang="en-US" dirty="0"/>
              <a:t> </a:t>
            </a:r>
            <a:r>
              <a:rPr lang="en-US" altLang="zh-CN" dirty="0"/>
              <a:t>[</a:t>
            </a:r>
            <a:r>
              <a:rPr lang="en-US" altLang="zh-CN" dirty="0" err="1"/>
              <a:t>PipeMesh</a:t>
            </a:r>
            <a:r>
              <a:rPr lang="en-US" altLang="zh-CN" dirty="0"/>
              <a:t>, TPDS minor revision]</a:t>
            </a:r>
            <a:endParaRPr lang="zh-CN" altLang="en-US" dirty="0"/>
          </a:p>
        </p:txBody>
      </p:sp>
      <p:sp>
        <p:nvSpPr>
          <p:cNvPr id="3" name="内容占位符 2">
            <a:extLst>
              <a:ext uri="{FF2B5EF4-FFF2-40B4-BE49-F238E27FC236}">
                <a16:creationId xmlns:a16="http://schemas.microsoft.com/office/drawing/2014/main" id="{6F16595E-A7EE-4538-8ECB-A257FFC70522}"/>
              </a:ext>
            </a:extLst>
          </p:cNvPr>
          <p:cNvSpPr>
            <a:spLocks noGrp="1"/>
          </p:cNvSpPr>
          <p:nvPr>
            <p:ph idx="1"/>
          </p:nvPr>
        </p:nvSpPr>
        <p:spPr>
          <a:xfrm>
            <a:off x="280799" y="1231850"/>
            <a:ext cx="11504307" cy="4630840"/>
          </a:xfrm>
        </p:spPr>
        <p:txBody>
          <a:bodyPr>
            <a:normAutofit/>
          </a:bodyPr>
          <a:lstStyle/>
          <a:p>
            <a:r>
              <a:rPr lang="zh-CN" altLang="en-US" sz="2000" dirty="0"/>
              <a:t>随着模型规模的持续扩大，</a:t>
            </a:r>
            <a:r>
              <a:rPr lang="en-US" altLang="zh-CN" sz="2000" dirty="0"/>
              <a:t>GPU</a:t>
            </a:r>
            <a:r>
              <a:rPr lang="zh-CN" altLang="en-US" sz="2000" dirty="0"/>
              <a:t>显存瓶颈已成为继通信瓶颈之后的又一主要挑战</a:t>
            </a:r>
            <a:endParaRPr lang="en-US" altLang="zh-CN" sz="2000" dirty="0"/>
          </a:p>
          <a:p>
            <a:pPr lvl="1"/>
            <a:r>
              <a:rPr lang="zh-CN" altLang="en-US" sz="1600" dirty="0"/>
              <a:t>随着输入序列变长，激活值显著增加，通常需卸载至</a:t>
            </a:r>
            <a:r>
              <a:rPr lang="en-US" altLang="zh-CN" sz="1600" dirty="0"/>
              <a:t>CPU</a:t>
            </a:r>
            <a:r>
              <a:rPr lang="zh-CN" altLang="en-US" sz="1600" dirty="0"/>
              <a:t> （</a:t>
            </a:r>
            <a:r>
              <a:rPr lang="en-US" altLang="zh-CN" sz="1600" dirty="0"/>
              <a:t>CPU offloading</a:t>
            </a:r>
            <a:r>
              <a:rPr lang="zh-CN" altLang="en-US" sz="1600" dirty="0"/>
              <a:t>），严重拖慢训练过程</a:t>
            </a:r>
            <a:endParaRPr lang="en-US" altLang="zh-CN" sz="1600" dirty="0"/>
          </a:p>
          <a:p>
            <a:pPr lvl="1"/>
            <a:r>
              <a:rPr lang="zh-CN" altLang="en-US" sz="1600" dirty="0"/>
              <a:t>模型参数规模不断增长，如</a:t>
            </a:r>
            <a:r>
              <a:rPr lang="en-US" altLang="zh-CN" sz="1600" dirty="0" err="1"/>
              <a:t>MoE</a:t>
            </a:r>
            <a:r>
              <a:rPr lang="zh-CN" altLang="en-US" sz="1600" dirty="0"/>
              <a:t>，模型参数与梯度占用大量内存，从而进一步压缩了激活值可用内存空间</a:t>
            </a:r>
            <a:endParaRPr lang="en-US" altLang="zh-CN" sz="1600" dirty="0"/>
          </a:p>
          <a:p>
            <a:pPr lvl="1"/>
            <a:r>
              <a:rPr lang="en-US" altLang="zh-CN" sz="1600" dirty="0"/>
              <a:t>Megatron</a:t>
            </a:r>
            <a:r>
              <a:rPr lang="zh-CN" altLang="en-US" sz="1600" dirty="0"/>
              <a:t>和</a:t>
            </a:r>
            <a:r>
              <a:rPr lang="en-US" altLang="zh-CN" sz="1600" dirty="0"/>
              <a:t>Fold3D</a:t>
            </a:r>
            <a:r>
              <a:rPr lang="zh-CN" altLang="en-US" sz="1600" dirty="0"/>
              <a:t>均无法解决上述问题；</a:t>
            </a:r>
            <a:r>
              <a:rPr lang="en-US" altLang="zh-CN" sz="1600" dirty="0"/>
              <a:t>sharding</a:t>
            </a:r>
            <a:r>
              <a:rPr lang="zh-CN" altLang="en-US" sz="1600" dirty="0"/>
              <a:t>，是和“</a:t>
            </a:r>
            <a:r>
              <a:rPr lang="en-US" altLang="zh-CN" sz="1600" dirty="0"/>
              <a:t>3D</a:t>
            </a:r>
            <a:r>
              <a:rPr lang="zh-CN" altLang="en-US" sz="1600" dirty="0"/>
              <a:t>并行”，互补的支持超大参数的模型训练的部署方式</a:t>
            </a:r>
            <a:endParaRPr lang="en-US" altLang="zh-CN" sz="2000" dirty="0"/>
          </a:p>
          <a:p>
            <a:r>
              <a:rPr lang="zh-CN" altLang="en-US" sz="2000" dirty="0"/>
              <a:t>我们提出了一种弹性流水线（</a:t>
            </a:r>
            <a:r>
              <a:rPr lang="en-US" altLang="zh-CN" sz="2000" dirty="0"/>
              <a:t>Elastic Pipeline</a:t>
            </a:r>
            <a:r>
              <a:rPr lang="zh-CN" altLang="en-US" sz="2000" dirty="0"/>
              <a:t>）机制 </a:t>
            </a:r>
            <a:endParaRPr lang="en-US" altLang="zh-CN" sz="2000" dirty="0"/>
          </a:p>
          <a:p>
            <a:pPr lvl="1"/>
            <a:r>
              <a:rPr lang="zh-CN" altLang="en-US" sz="1600" b="1" dirty="0">
                <a:solidFill>
                  <a:srgbClr val="FF0000"/>
                </a:solidFill>
              </a:rPr>
              <a:t>“流水线并行的计算 </a:t>
            </a:r>
            <a:r>
              <a:rPr lang="en-US" altLang="zh-CN" sz="1600" b="1" dirty="0">
                <a:solidFill>
                  <a:srgbClr val="FF0000"/>
                </a:solidFill>
              </a:rPr>
              <a:t>+ </a:t>
            </a:r>
            <a:r>
              <a:rPr lang="zh-CN" altLang="en-US" sz="1600" b="1" dirty="0">
                <a:solidFill>
                  <a:srgbClr val="FF0000"/>
                </a:solidFill>
              </a:rPr>
              <a:t>数据并行的</a:t>
            </a:r>
            <a:r>
              <a:rPr lang="en-US" altLang="zh-CN" sz="1600" b="1" dirty="0">
                <a:solidFill>
                  <a:srgbClr val="FF0000"/>
                </a:solidFill>
              </a:rPr>
              <a:t>sync + sharding all gather</a:t>
            </a:r>
            <a:r>
              <a:rPr lang="zh-CN" altLang="en-US" sz="1600" b="1" dirty="0">
                <a:solidFill>
                  <a:srgbClr val="FF0000"/>
                </a:solidFill>
              </a:rPr>
              <a:t>操作”的并行</a:t>
            </a:r>
            <a:endParaRPr lang="en-US" altLang="zh-CN" sz="1600" b="1" dirty="0">
              <a:solidFill>
                <a:srgbClr val="FF0000"/>
              </a:solidFill>
            </a:endParaRPr>
          </a:p>
          <a:p>
            <a:pPr lvl="1"/>
            <a:r>
              <a:rPr lang="zh-CN" altLang="en-US" sz="1600" dirty="0"/>
              <a:t>与将通信和流水线计算动态重叠的工作（</a:t>
            </a:r>
            <a:r>
              <a:rPr lang="en-US" altLang="zh-CN" sz="1600" dirty="0"/>
              <a:t>Centauri [ASPLOS’24]</a:t>
            </a:r>
            <a:r>
              <a:rPr lang="zh-CN" altLang="en-US" sz="1600" dirty="0"/>
              <a:t>）不同，</a:t>
            </a:r>
            <a:endParaRPr lang="en-US" altLang="zh-CN" sz="1600" dirty="0"/>
          </a:p>
          <a:p>
            <a:pPr lvl="1">
              <a:buClr>
                <a:schemeClr val="bg1"/>
              </a:buClr>
            </a:pPr>
            <a:r>
              <a:rPr lang="zh-CN" altLang="en-US" sz="1600" dirty="0"/>
              <a:t>我们</a:t>
            </a:r>
            <a:r>
              <a:rPr lang="en-US" altLang="zh-CN" sz="1600" dirty="0" err="1"/>
              <a:t>PipeMesh</a:t>
            </a:r>
            <a:r>
              <a:rPr lang="zh-CN" altLang="en-US" sz="1600" dirty="0"/>
              <a:t>系统，著重于显存占用的优化，从而提升训练的总体性能</a:t>
            </a:r>
            <a:endParaRPr lang="en-US" altLang="zh-CN" sz="1600" dirty="0"/>
          </a:p>
          <a:p>
            <a:pPr lvl="1"/>
            <a:r>
              <a:rPr lang="zh-CN" altLang="en-US" sz="1600" dirty="0"/>
              <a:t>（技术一）通过选择性重计算，每次执行更多</a:t>
            </a:r>
            <a:r>
              <a:rPr lang="en-US" altLang="zh-CN" sz="1600" dirty="0"/>
              <a:t>micro-batches</a:t>
            </a:r>
          </a:p>
          <a:p>
            <a:pPr lvl="1"/>
            <a:r>
              <a:rPr lang="zh-CN" altLang="en-US" sz="1600" dirty="0"/>
              <a:t>（技术二）引入与流水线计算重叠的模型参数与梯度分片，降低内存占用</a:t>
            </a:r>
            <a:endParaRPr lang="en-US" altLang="zh-CN" sz="1600" dirty="0"/>
          </a:p>
          <a:p>
            <a:endParaRPr lang="zh-CN" altLang="en-US" sz="2000" dirty="0"/>
          </a:p>
        </p:txBody>
      </p:sp>
      <p:pic>
        <p:nvPicPr>
          <p:cNvPr id="4" name="图片 3">
            <a:extLst>
              <a:ext uri="{FF2B5EF4-FFF2-40B4-BE49-F238E27FC236}">
                <a16:creationId xmlns:a16="http://schemas.microsoft.com/office/drawing/2014/main" id="{07C429D7-7FC1-4C6B-8421-1C15B44256D9}"/>
              </a:ext>
            </a:extLst>
          </p:cNvPr>
          <p:cNvPicPr>
            <a:picLocks noChangeAspect="1"/>
          </p:cNvPicPr>
          <p:nvPr/>
        </p:nvPicPr>
        <p:blipFill>
          <a:blip r:embed="rId3"/>
          <a:stretch>
            <a:fillRect/>
          </a:stretch>
        </p:blipFill>
        <p:spPr>
          <a:xfrm>
            <a:off x="7982849" y="2505032"/>
            <a:ext cx="3125433" cy="1617548"/>
          </a:xfrm>
          <a:prstGeom prst="rect">
            <a:avLst/>
          </a:prstGeom>
        </p:spPr>
      </p:pic>
      <p:pic>
        <p:nvPicPr>
          <p:cNvPr id="5" name="图片 4">
            <a:extLst>
              <a:ext uri="{FF2B5EF4-FFF2-40B4-BE49-F238E27FC236}">
                <a16:creationId xmlns:a16="http://schemas.microsoft.com/office/drawing/2014/main" id="{F170194C-88D2-48F4-B0CA-F572005E28D9}"/>
              </a:ext>
            </a:extLst>
          </p:cNvPr>
          <p:cNvPicPr>
            <a:picLocks noChangeAspect="1"/>
          </p:cNvPicPr>
          <p:nvPr/>
        </p:nvPicPr>
        <p:blipFill>
          <a:blip r:embed="rId4"/>
          <a:stretch>
            <a:fillRect/>
          </a:stretch>
        </p:blipFill>
        <p:spPr>
          <a:xfrm>
            <a:off x="7673165" y="5175294"/>
            <a:ext cx="3724795" cy="1009791"/>
          </a:xfrm>
          <a:prstGeom prst="rect">
            <a:avLst/>
          </a:prstGeom>
        </p:spPr>
      </p:pic>
      <p:sp>
        <p:nvSpPr>
          <p:cNvPr id="6" name="文本框 5">
            <a:extLst>
              <a:ext uri="{FF2B5EF4-FFF2-40B4-BE49-F238E27FC236}">
                <a16:creationId xmlns:a16="http://schemas.microsoft.com/office/drawing/2014/main" id="{8DE30E89-EFF0-4107-900C-065F9659A0E9}"/>
              </a:ext>
            </a:extLst>
          </p:cNvPr>
          <p:cNvSpPr txBox="1"/>
          <p:nvPr/>
        </p:nvSpPr>
        <p:spPr>
          <a:xfrm>
            <a:off x="7410926" y="6317403"/>
            <a:ext cx="4543598" cy="523220"/>
          </a:xfrm>
          <a:prstGeom prst="rect">
            <a:avLst/>
          </a:prstGeom>
          <a:noFill/>
        </p:spPr>
        <p:txBody>
          <a:bodyPr wrap="square" rtlCol="0">
            <a:spAutoFit/>
          </a:bodyPr>
          <a:lstStyle/>
          <a:p>
            <a:pPr algn="ctr"/>
            <a:r>
              <a:rPr lang="en-US" altLang="zh-CN" sz="1400" dirty="0" err="1"/>
              <a:t>PipeMesh</a:t>
            </a:r>
            <a:r>
              <a:rPr lang="zh-CN" altLang="en-US" sz="1400" dirty="0"/>
              <a:t>的显存占用量与</a:t>
            </a:r>
            <a:r>
              <a:rPr lang="en-US" altLang="zh-CN" sz="1400" dirty="0"/>
              <a:t>Megatron</a:t>
            </a:r>
            <a:r>
              <a:rPr lang="zh-CN" altLang="en-US" sz="1400" dirty="0"/>
              <a:t>相当（</a:t>
            </a:r>
            <a:r>
              <a:rPr lang="en-US" altLang="zh-CN" sz="1400" dirty="0"/>
              <a:t>25GB</a:t>
            </a:r>
            <a:r>
              <a:rPr lang="zh-CN" altLang="en-US" sz="1400" dirty="0"/>
              <a:t>），远小于</a:t>
            </a:r>
            <a:r>
              <a:rPr lang="en-US" altLang="zh-CN" sz="1400" dirty="0"/>
              <a:t>Fold3D(56GB)</a:t>
            </a:r>
            <a:endParaRPr lang="zh-CN" altLang="en-US" sz="1400" dirty="0"/>
          </a:p>
        </p:txBody>
      </p:sp>
      <p:sp>
        <p:nvSpPr>
          <p:cNvPr id="8" name="文本框 7">
            <a:extLst>
              <a:ext uri="{FF2B5EF4-FFF2-40B4-BE49-F238E27FC236}">
                <a16:creationId xmlns:a16="http://schemas.microsoft.com/office/drawing/2014/main" id="{3AEB74BF-AE99-4F9D-BFFB-49AF84BE1189}"/>
              </a:ext>
            </a:extLst>
          </p:cNvPr>
          <p:cNvSpPr txBox="1"/>
          <p:nvPr/>
        </p:nvSpPr>
        <p:spPr>
          <a:xfrm>
            <a:off x="8124759" y="4061351"/>
            <a:ext cx="3342294" cy="523220"/>
          </a:xfrm>
          <a:prstGeom prst="rect">
            <a:avLst/>
          </a:prstGeom>
          <a:noFill/>
        </p:spPr>
        <p:txBody>
          <a:bodyPr wrap="square" rtlCol="0">
            <a:spAutoFit/>
          </a:bodyPr>
          <a:lstStyle/>
          <a:p>
            <a:r>
              <a:rPr lang="en-US" altLang="zh-CN" sz="1400" dirty="0"/>
              <a:t>A100</a:t>
            </a:r>
            <a:r>
              <a:rPr lang="zh-CN" altLang="en-US" sz="1400" dirty="0"/>
              <a:t>集群，</a:t>
            </a:r>
            <a:r>
              <a:rPr lang="en-US" altLang="zh-CN" sz="1400" dirty="0" err="1"/>
              <a:t>PipeMesh</a:t>
            </a:r>
            <a:r>
              <a:rPr lang="zh-CN" altLang="en-US" sz="1400" dirty="0"/>
              <a:t>的吞吐比</a:t>
            </a:r>
            <a:r>
              <a:rPr lang="en-US" altLang="zh-CN" sz="1400" dirty="0"/>
              <a:t>Megatron</a:t>
            </a:r>
            <a:r>
              <a:rPr lang="zh-CN" altLang="en-US" sz="1400" dirty="0"/>
              <a:t>和</a:t>
            </a:r>
            <a:r>
              <a:rPr lang="en-US" altLang="zh-CN" sz="1400" dirty="0" err="1"/>
              <a:t>MegaScale</a:t>
            </a:r>
            <a:r>
              <a:rPr lang="en-US" altLang="zh-CN" sz="1400" dirty="0"/>
              <a:t>[</a:t>
            </a:r>
            <a:r>
              <a:rPr lang="en-US" altLang="zh-CN" sz="1400" dirty="0" err="1"/>
              <a:t>ByteDance</a:t>
            </a:r>
            <a:r>
              <a:rPr lang="en-US" altLang="zh-CN" sz="1400" dirty="0"/>
              <a:t>]</a:t>
            </a:r>
            <a:r>
              <a:rPr lang="zh-CN" altLang="en-US" sz="1400" dirty="0"/>
              <a:t>高</a:t>
            </a:r>
            <a:r>
              <a:rPr lang="en-US" altLang="zh-CN" sz="1400" dirty="0"/>
              <a:t>20%</a:t>
            </a:r>
            <a:endParaRPr lang="zh-CN" altLang="en-US" sz="1400" dirty="0"/>
          </a:p>
        </p:txBody>
      </p:sp>
      <p:sp>
        <p:nvSpPr>
          <p:cNvPr id="9" name="矩形 8">
            <a:extLst>
              <a:ext uri="{FF2B5EF4-FFF2-40B4-BE49-F238E27FC236}">
                <a16:creationId xmlns:a16="http://schemas.microsoft.com/office/drawing/2014/main" id="{277B0244-3681-4CDD-969B-C6A4E87A646C}"/>
              </a:ext>
            </a:extLst>
          </p:cNvPr>
          <p:cNvSpPr/>
          <p:nvPr/>
        </p:nvSpPr>
        <p:spPr>
          <a:xfrm>
            <a:off x="861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DD1A9A8-DF93-4DFD-9C5B-C034CB4464CA}"/>
              </a:ext>
            </a:extLst>
          </p:cNvPr>
          <p:cNvSpPr/>
          <p:nvPr/>
        </p:nvSpPr>
        <p:spPr>
          <a:xfrm>
            <a:off x="969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8833C967-BD22-43B5-983D-D39FF10DDB84}"/>
              </a:ext>
            </a:extLst>
          </p:cNvPr>
          <p:cNvSpPr/>
          <p:nvPr/>
        </p:nvSpPr>
        <p:spPr>
          <a:xfrm>
            <a:off x="1077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7B3EDCB-67EB-4167-8BC6-5FCA877F383B}"/>
              </a:ext>
            </a:extLst>
          </p:cNvPr>
          <p:cNvSpPr/>
          <p:nvPr/>
        </p:nvSpPr>
        <p:spPr>
          <a:xfrm>
            <a:off x="1185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964125D-D5AF-45FB-8FBE-66C7CF0CA1BF}"/>
              </a:ext>
            </a:extLst>
          </p:cNvPr>
          <p:cNvSpPr/>
          <p:nvPr/>
        </p:nvSpPr>
        <p:spPr>
          <a:xfrm>
            <a:off x="1293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CF4FDAD-6FDC-41D2-9B46-DC26F267059A}"/>
              </a:ext>
            </a:extLst>
          </p:cNvPr>
          <p:cNvSpPr/>
          <p:nvPr/>
        </p:nvSpPr>
        <p:spPr>
          <a:xfrm>
            <a:off x="1401279"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3CF2227-AA68-437F-A4F4-1B4D1DD82397}"/>
              </a:ext>
            </a:extLst>
          </p:cNvPr>
          <p:cNvSpPr/>
          <p:nvPr/>
        </p:nvSpPr>
        <p:spPr>
          <a:xfrm>
            <a:off x="1509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14BC3A7-0C36-4F68-AC3A-B86886AFD499}"/>
              </a:ext>
            </a:extLst>
          </p:cNvPr>
          <p:cNvSpPr/>
          <p:nvPr/>
        </p:nvSpPr>
        <p:spPr>
          <a:xfrm>
            <a:off x="1617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ECA839E-AF83-4077-B06E-E6A16BB9C320}"/>
              </a:ext>
            </a:extLst>
          </p:cNvPr>
          <p:cNvSpPr/>
          <p:nvPr/>
        </p:nvSpPr>
        <p:spPr>
          <a:xfrm>
            <a:off x="1725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4107701-46BD-4F46-8A74-A65B746828FD}"/>
              </a:ext>
            </a:extLst>
          </p:cNvPr>
          <p:cNvSpPr/>
          <p:nvPr/>
        </p:nvSpPr>
        <p:spPr>
          <a:xfrm>
            <a:off x="1833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7E28ECA6-BA91-46CA-8B8D-E6AACD961CC5}"/>
              </a:ext>
            </a:extLst>
          </p:cNvPr>
          <p:cNvSpPr/>
          <p:nvPr/>
        </p:nvSpPr>
        <p:spPr>
          <a:xfrm>
            <a:off x="1941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C13D79C5-E62C-438A-9BC9-CA6912B339A2}"/>
              </a:ext>
            </a:extLst>
          </p:cNvPr>
          <p:cNvSpPr/>
          <p:nvPr/>
        </p:nvSpPr>
        <p:spPr>
          <a:xfrm>
            <a:off x="2049279"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986224D-EBD7-40BF-B47A-6B274726BAB1}"/>
              </a:ext>
            </a:extLst>
          </p:cNvPr>
          <p:cNvSpPr/>
          <p:nvPr/>
        </p:nvSpPr>
        <p:spPr>
          <a:xfrm>
            <a:off x="2157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D5D979D-7C85-4CFA-BB09-3483DB9E67B9}"/>
              </a:ext>
            </a:extLst>
          </p:cNvPr>
          <p:cNvSpPr/>
          <p:nvPr/>
        </p:nvSpPr>
        <p:spPr>
          <a:xfrm>
            <a:off x="2265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B092F009-1E64-4B33-BFB1-527C5BC38A21}"/>
              </a:ext>
            </a:extLst>
          </p:cNvPr>
          <p:cNvSpPr/>
          <p:nvPr/>
        </p:nvSpPr>
        <p:spPr>
          <a:xfrm>
            <a:off x="2373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D5542906-1566-428F-8836-8C6545F6CB4A}"/>
              </a:ext>
            </a:extLst>
          </p:cNvPr>
          <p:cNvSpPr/>
          <p:nvPr/>
        </p:nvSpPr>
        <p:spPr>
          <a:xfrm>
            <a:off x="2481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2FCA6D34-64A8-4467-B3F7-F4302C613750}"/>
              </a:ext>
            </a:extLst>
          </p:cNvPr>
          <p:cNvSpPr/>
          <p:nvPr/>
        </p:nvSpPr>
        <p:spPr>
          <a:xfrm>
            <a:off x="2589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382AEF75-1004-471A-AEE8-9E264FEED597}"/>
              </a:ext>
            </a:extLst>
          </p:cNvPr>
          <p:cNvSpPr/>
          <p:nvPr/>
        </p:nvSpPr>
        <p:spPr>
          <a:xfrm>
            <a:off x="2697279"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C21462DA-2090-4E20-A89D-B05AC40C8420}"/>
              </a:ext>
            </a:extLst>
          </p:cNvPr>
          <p:cNvSpPr/>
          <p:nvPr/>
        </p:nvSpPr>
        <p:spPr>
          <a:xfrm>
            <a:off x="2805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2FB8B524-58F2-410E-9742-00E1AF0DD9F3}"/>
              </a:ext>
            </a:extLst>
          </p:cNvPr>
          <p:cNvSpPr/>
          <p:nvPr/>
        </p:nvSpPr>
        <p:spPr>
          <a:xfrm>
            <a:off x="2913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0B14EE4C-1563-4576-A7B2-50F596203D76}"/>
              </a:ext>
            </a:extLst>
          </p:cNvPr>
          <p:cNvSpPr/>
          <p:nvPr/>
        </p:nvSpPr>
        <p:spPr>
          <a:xfrm>
            <a:off x="3021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C35ED42C-90F0-461B-A985-3E5FC50C9270}"/>
              </a:ext>
            </a:extLst>
          </p:cNvPr>
          <p:cNvSpPr/>
          <p:nvPr/>
        </p:nvSpPr>
        <p:spPr>
          <a:xfrm>
            <a:off x="3129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A6932C59-789A-40FB-B74B-EC0E5C704937}"/>
              </a:ext>
            </a:extLst>
          </p:cNvPr>
          <p:cNvSpPr/>
          <p:nvPr/>
        </p:nvSpPr>
        <p:spPr>
          <a:xfrm>
            <a:off x="3237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9AF4A6CC-65F9-4656-BFBD-584FB094D16A}"/>
              </a:ext>
            </a:extLst>
          </p:cNvPr>
          <p:cNvSpPr/>
          <p:nvPr/>
        </p:nvSpPr>
        <p:spPr>
          <a:xfrm>
            <a:off x="3345279"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A9E31689-EA58-4531-8DAD-39F174C247A8}"/>
              </a:ext>
            </a:extLst>
          </p:cNvPr>
          <p:cNvSpPr/>
          <p:nvPr/>
        </p:nvSpPr>
        <p:spPr>
          <a:xfrm>
            <a:off x="2164613" y="5413121"/>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43A76432-9BA7-47B0-AAF4-A8149EF1300C}"/>
              </a:ext>
            </a:extLst>
          </p:cNvPr>
          <p:cNvSpPr txBox="1"/>
          <p:nvPr/>
        </p:nvSpPr>
        <p:spPr>
          <a:xfrm>
            <a:off x="2164613" y="5413121"/>
            <a:ext cx="540000"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5" name="矩形: 圆角 34">
            <a:extLst>
              <a:ext uri="{FF2B5EF4-FFF2-40B4-BE49-F238E27FC236}">
                <a16:creationId xmlns:a16="http://schemas.microsoft.com/office/drawing/2014/main" id="{225652C3-D35F-49A4-B9A0-6105BDA77EC3}"/>
              </a:ext>
            </a:extLst>
          </p:cNvPr>
          <p:cNvSpPr/>
          <p:nvPr/>
        </p:nvSpPr>
        <p:spPr>
          <a:xfrm>
            <a:off x="2201392" y="5629793"/>
            <a:ext cx="468000" cy="108000"/>
          </a:xfrm>
          <a:prstGeom prst="round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314A4D7-BDF7-452A-8B6B-C757ACC01743}"/>
              </a:ext>
            </a:extLst>
          </p:cNvPr>
          <p:cNvSpPr/>
          <p:nvPr/>
        </p:nvSpPr>
        <p:spPr>
          <a:xfrm>
            <a:off x="1510025" y="5413121"/>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56D83559-5939-4533-830A-BA909BA03A65}"/>
              </a:ext>
            </a:extLst>
          </p:cNvPr>
          <p:cNvSpPr txBox="1"/>
          <p:nvPr/>
        </p:nvSpPr>
        <p:spPr>
          <a:xfrm>
            <a:off x="1510025" y="5413121"/>
            <a:ext cx="540000"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38" name="矩形: 圆角 37">
            <a:extLst>
              <a:ext uri="{FF2B5EF4-FFF2-40B4-BE49-F238E27FC236}">
                <a16:creationId xmlns:a16="http://schemas.microsoft.com/office/drawing/2014/main" id="{A32AAF51-48CA-427D-B342-4E8F714B7505}"/>
              </a:ext>
            </a:extLst>
          </p:cNvPr>
          <p:cNvSpPr/>
          <p:nvPr/>
        </p:nvSpPr>
        <p:spPr>
          <a:xfrm>
            <a:off x="1546804" y="5629793"/>
            <a:ext cx="468000" cy="108000"/>
          </a:xfrm>
          <a:prstGeom prst="round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2B8134BB-83B4-4FED-BC69-2C68164ED949}"/>
              </a:ext>
            </a:extLst>
          </p:cNvPr>
          <p:cNvSpPr/>
          <p:nvPr/>
        </p:nvSpPr>
        <p:spPr>
          <a:xfrm>
            <a:off x="858618" y="5417505"/>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58216205-B0F1-42ED-A017-8BB981B7FA65}"/>
              </a:ext>
            </a:extLst>
          </p:cNvPr>
          <p:cNvSpPr txBox="1"/>
          <p:nvPr/>
        </p:nvSpPr>
        <p:spPr>
          <a:xfrm>
            <a:off x="858618" y="5417505"/>
            <a:ext cx="540000"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41" name="矩形: 圆角 40">
            <a:extLst>
              <a:ext uri="{FF2B5EF4-FFF2-40B4-BE49-F238E27FC236}">
                <a16:creationId xmlns:a16="http://schemas.microsoft.com/office/drawing/2014/main" id="{5A70CD76-7976-4270-A09D-3CAD0893CB48}"/>
              </a:ext>
            </a:extLst>
          </p:cNvPr>
          <p:cNvSpPr/>
          <p:nvPr/>
        </p:nvSpPr>
        <p:spPr>
          <a:xfrm>
            <a:off x="895397" y="5634177"/>
            <a:ext cx="468000" cy="108000"/>
          </a:xfrm>
          <a:prstGeom prst="round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3D8FAA82-485E-4E3F-AD36-0C16E3E793AF}"/>
              </a:ext>
            </a:extLst>
          </p:cNvPr>
          <p:cNvSpPr/>
          <p:nvPr/>
        </p:nvSpPr>
        <p:spPr>
          <a:xfrm>
            <a:off x="319505" y="5417505"/>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91424B61-7987-4CCA-99F2-4F4F17C1B79C}"/>
              </a:ext>
            </a:extLst>
          </p:cNvPr>
          <p:cNvSpPr txBox="1"/>
          <p:nvPr/>
        </p:nvSpPr>
        <p:spPr>
          <a:xfrm>
            <a:off x="319505" y="5417505"/>
            <a:ext cx="540000" cy="184666"/>
          </a:xfrm>
          <a:prstGeom prst="rect">
            <a:avLst/>
          </a:prstGeom>
          <a:noFill/>
        </p:spPr>
        <p:txBody>
          <a:bodyPr wrap="square" lIns="0" tIns="0" rIns="0" bIns="0" rtlCol="0">
            <a:spAutoFit/>
          </a:bodyPr>
          <a:lstStyle/>
          <a:p>
            <a:pPr algn="ctr"/>
            <a:r>
              <a:rPr lang="en-US" altLang="zh-CN" sz="1200" dirty="0" err="1">
                <a:latin typeface="Times New Roman" panose="02020603050405020304" pitchFamily="18" charset="0"/>
                <a:cs typeface="Times New Roman" panose="02020603050405020304" pitchFamily="18" charset="0"/>
              </a:rPr>
              <a:t>DP.sync</a:t>
            </a:r>
            <a:endParaRPr lang="zh-CN" altLang="en-US" sz="1200" dirty="0">
              <a:latin typeface="Times New Roman" panose="02020603050405020304" pitchFamily="18" charset="0"/>
              <a:cs typeface="Times New Roman" panose="02020603050405020304" pitchFamily="18" charset="0"/>
            </a:endParaRPr>
          </a:p>
        </p:txBody>
      </p:sp>
      <p:sp>
        <p:nvSpPr>
          <p:cNvPr id="44" name="矩形: 圆角 43">
            <a:extLst>
              <a:ext uri="{FF2B5EF4-FFF2-40B4-BE49-F238E27FC236}">
                <a16:creationId xmlns:a16="http://schemas.microsoft.com/office/drawing/2014/main" id="{D2847D59-039E-495A-9194-2DF5FEE3CCB1}"/>
              </a:ext>
            </a:extLst>
          </p:cNvPr>
          <p:cNvSpPr/>
          <p:nvPr/>
        </p:nvSpPr>
        <p:spPr>
          <a:xfrm>
            <a:off x="356284" y="5634177"/>
            <a:ext cx="468000" cy="108000"/>
          </a:xfrm>
          <a:prstGeom prst="round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CA600323-AD16-4867-A4F6-2F3DE440C323}"/>
              </a:ext>
            </a:extLst>
          </p:cNvPr>
          <p:cNvSpPr/>
          <p:nvPr/>
        </p:nvSpPr>
        <p:spPr>
          <a:xfrm>
            <a:off x="3452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A38F2B45-21EC-40A5-8418-AA9314870F9A}"/>
              </a:ext>
            </a:extLst>
          </p:cNvPr>
          <p:cNvSpPr/>
          <p:nvPr/>
        </p:nvSpPr>
        <p:spPr>
          <a:xfrm>
            <a:off x="3560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16AA37F2-35C5-4453-BD69-5985515CF184}"/>
              </a:ext>
            </a:extLst>
          </p:cNvPr>
          <p:cNvSpPr/>
          <p:nvPr/>
        </p:nvSpPr>
        <p:spPr>
          <a:xfrm>
            <a:off x="3668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3CC9126A-2748-4EAB-ACAE-5EF89FCD403D}"/>
              </a:ext>
            </a:extLst>
          </p:cNvPr>
          <p:cNvSpPr/>
          <p:nvPr/>
        </p:nvSpPr>
        <p:spPr>
          <a:xfrm>
            <a:off x="3776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FC03422B-8886-400E-AEF8-F560FE60E36D}"/>
              </a:ext>
            </a:extLst>
          </p:cNvPr>
          <p:cNvSpPr/>
          <p:nvPr/>
        </p:nvSpPr>
        <p:spPr>
          <a:xfrm>
            <a:off x="3884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8A4390B3-17AF-4373-9F65-3F64B0FBB55A}"/>
              </a:ext>
            </a:extLst>
          </p:cNvPr>
          <p:cNvSpPr/>
          <p:nvPr/>
        </p:nvSpPr>
        <p:spPr>
          <a:xfrm>
            <a:off x="3992533" y="5777505"/>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3C628C59-5349-4495-9AC1-3349E92C1FF6}"/>
              </a:ext>
            </a:extLst>
          </p:cNvPr>
          <p:cNvSpPr/>
          <p:nvPr/>
        </p:nvSpPr>
        <p:spPr>
          <a:xfrm>
            <a:off x="4100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59365620-CF0F-456F-A795-C4B879D094C3}"/>
              </a:ext>
            </a:extLst>
          </p:cNvPr>
          <p:cNvSpPr/>
          <p:nvPr/>
        </p:nvSpPr>
        <p:spPr>
          <a:xfrm>
            <a:off x="4208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B41A0C92-303B-4035-9EAD-C55CF5D32A87}"/>
              </a:ext>
            </a:extLst>
          </p:cNvPr>
          <p:cNvSpPr/>
          <p:nvPr/>
        </p:nvSpPr>
        <p:spPr>
          <a:xfrm>
            <a:off x="4316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57206684-23A1-4B3E-BD95-877CF6A6D8CA}"/>
              </a:ext>
            </a:extLst>
          </p:cNvPr>
          <p:cNvSpPr/>
          <p:nvPr/>
        </p:nvSpPr>
        <p:spPr>
          <a:xfrm>
            <a:off x="4424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0FCB8CDB-08B5-4E56-831E-4134123C6DC6}"/>
              </a:ext>
            </a:extLst>
          </p:cNvPr>
          <p:cNvSpPr/>
          <p:nvPr/>
        </p:nvSpPr>
        <p:spPr>
          <a:xfrm>
            <a:off x="4532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08C65778-893E-4C0F-BEBC-B424ED1C3AD1}"/>
              </a:ext>
            </a:extLst>
          </p:cNvPr>
          <p:cNvSpPr/>
          <p:nvPr/>
        </p:nvSpPr>
        <p:spPr>
          <a:xfrm>
            <a:off x="4640533" y="5777505"/>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16721C66-DF85-438F-B385-05015E1C7CDE}"/>
              </a:ext>
            </a:extLst>
          </p:cNvPr>
          <p:cNvSpPr/>
          <p:nvPr/>
        </p:nvSpPr>
        <p:spPr>
          <a:xfrm>
            <a:off x="4748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6579A027-F2A4-499B-9BB4-84645EDCC469}"/>
              </a:ext>
            </a:extLst>
          </p:cNvPr>
          <p:cNvSpPr/>
          <p:nvPr/>
        </p:nvSpPr>
        <p:spPr>
          <a:xfrm>
            <a:off x="4856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49FDA2A5-F472-46C2-95ED-EE9509E2C93E}"/>
              </a:ext>
            </a:extLst>
          </p:cNvPr>
          <p:cNvSpPr/>
          <p:nvPr/>
        </p:nvSpPr>
        <p:spPr>
          <a:xfrm>
            <a:off x="4964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5E19CB6A-F6D1-422F-890C-57020AD97624}"/>
              </a:ext>
            </a:extLst>
          </p:cNvPr>
          <p:cNvSpPr/>
          <p:nvPr/>
        </p:nvSpPr>
        <p:spPr>
          <a:xfrm>
            <a:off x="5072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903D5962-9A37-411D-86D7-445C1FA1D73E}"/>
              </a:ext>
            </a:extLst>
          </p:cNvPr>
          <p:cNvSpPr/>
          <p:nvPr/>
        </p:nvSpPr>
        <p:spPr>
          <a:xfrm>
            <a:off x="5180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636EC722-6199-4B62-9732-3751C0C0BAB5}"/>
              </a:ext>
            </a:extLst>
          </p:cNvPr>
          <p:cNvSpPr/>
          <p:nvPr/>
        </p:nvSpPr>
        <p:spPr>
          <a:xfrm>
            <a:off x="5288533" y="5777505"/>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82C5A39D-3A29-44D4-AE6A-7A30EF91EE20}"/>
              </a:ext>
            </a:extLst>
          </p:cNvPr>
          <p:cNvSpPr/>
          <p:nvPr/>
        </p:nvSpPr>
        <p:spPr>
          <a:xfrm>
            <a:off x="5396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0C499BFE-F90C-44B8-B42E-2C2A6CED2622}"/>
              </a:ext>
            </a:extLst>
          </p:cNvPr>
          <p:cNvSpPr/>
          <p:nvPr/>
        </p:nvSpPr>
        <p:spPr>
          <a:xfrm>
            <a:off x="5504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2A2AAF50-715C-4B85-B256-25FFC5A7A278}"/>
              </a:ext>
            </a:extLst>
          </p:cNvPr>
          <p:cNvSpPr/>
          <p:nvPr/>
        </p:nvSpPr>
        <p:spPr>
          <a:xfrm>
            <a:off x="5612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080D33C7-A0D4-4B90-A89B-9E57F3829B96}"/>
              </a:ext>
            </a:extLst>
          </p:cNvPr>
          <p:cNvSpPr/>
          <p:nvPr/>
        </p:nvSpPr>
        <p:spPr>
          <a:xfrm>
            <a:off x="5720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518C7DC2-5712-4F37-B017-65DCD135D2DB}"/>
              </a:ext>
            </a:extLst>
          </p:cNvPr>
          <p:cNvSpPr/>
          <p:nvPr/>
        </p:nvSpPr>
        <p:spPr>
          <a:xfrm>
            <a:off x="5828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008D4447-D25B-43EF-82D5-D42A54E113EE}"/>
              </a:ext>
            </a:extLst>
          </p:cNvPr>
          <p:cNvSpPr/>
          <p:nvPr/>
        </p:nvSpPr>
        <p:spPr>
          <a:xfrm>
            <a:off x="5936533" y="5777505"/>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31B531FE-F0A8-4878-998E-373AF37BB53A}"/>
              </a:ext>
            </a:extLst>
          </p:cNvPr>
          <p:cNvSpPr/>
          <p:nvPr/>
        </p:nvSpPr>
        <p:spPr>
          <a:xfrm>
            <a:off x="4747754" y="5413121"/>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97B7E7EA-6214-415C-8ED1-86F4398BE965}"/>
              </a:ext>
            </a:extLst>
          </p:cNvPr>
          <p:cNvSpPr txBox="1"/>
          <p:nvPr/>
        </p:nvSpPr>
        <p:spPr>
          <a:xfrm>
            <a:off x="4747754" y="5413121"/>
            <a:ext cx="540000" cy="184666"/>
          </a:xfrm>
          <a:prstGeom prst="rect">
            <a:avLst/>
          </a:prstGeom>
          <a:noFill/>
        </p:spPr>
        <p:txBody>
          <a:bodyPr wrap="square" lIns="0" tIns="0" rIns="0" bIns="0" rtlCol="0">
            <a:spAutoFit/>
          </a:bodyPr>
          <a:lstStyle/>
          <a:p>
            <a:pPr algn="ctr"/>
            <a:r>
              <a:rPr lang="en-US" altLang="zh-CN" sz="1200" dirty="0">
                <a:latin typeface="Times New Roman" panose="02020603050405020304" pitchFamily="18" charset="0"/>
                <a:cs typeface="Times New Roman" panose="02020603050405020304" pitchFamily="18" charset="0"/>
              </a:rPr>
              <a:t>Gather</a:t>
            </a:r>
            <a:endParaRPr lang="zh-CN" altLang="en-US" sz="1200" dirty="0">
              <a:latin typeface="Times New Roman" panose="02020603050405020304" pitchFamily="18" charset="0"/>
              <a:cs typeface="Times New Roman" panose="02020603050405020304" pitchFamily="18" charset="0"/>
            </a:endParaRPr>
          </a:p>
        </p:txBody>
      </p:sp>
      <p:sp>
        <p:nvSpPr>
          <p:cNvPr id="71" name="矩形: 圆角 70">
            <a:extLst>
              <a:ext uri="{FF2B5EF4-FFF2-40B4-BE49-F238E27FC236}">
                <a16:creationId xmlns:a16="http://schemas.microsoft.com/office/drawing/2014/main" id="{56155EA6-E06D-4674-AC4E-73786CCC5E6C}"/>
              </a:ext>
            </a:extLst>
          </p:cNvPr>
          <p:cNvSpPr/>
          <p:nvPr/>
        </p:nvSpPr>
        <p:spPr>
          <a:xfrm>
            <a:off x="4784533" y="5629793"/>
            <a:ext cx="468000" cy="108000"/>
          </a:xfrm>
          <a:prstGeom prst="round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a:extLst>
              <a:ext uri="{FF2B5EF4-FFF2-40B4-BE49-F238E27FC236}">
                <a16:creationId xmlns:a16="http://schemas.microsoft.com/office/drawing/2014/main" id="{93060999-EBF6-461F-A9A4-1BDB33CD2721}"/>
              </a:ext>
            </a:extLst>
          </p:cNvPr>
          <p:cNvSpPr/>
          <p:nvPr/>
        </p:nvSpPr>
        <p:spPr>
          <a:xfrm>
            <a:off x="4100533" y="5413121"/>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a:extLst>
              <a:ext uri="{FF2B5EF4-FFF2-40B4-BE49-F238E27FC236}">
                <a16:creationId xmlns:a16="http://schemas.microsoft.com/office/drawing/2014/main" id="{F80E78DB-0433-4E4D-B3C1-6845D6941E61}"/>
              </a:ext>
            </a:extLst>
          </p:cNvPr>
          <p:cNvSpPr txBox="1"/>
          <p:nvPr/>
        </p:nvSpPr>
        <p:spPr>
          <a:xfrm>
            <a:off x="4100533" y="5413121"/>
            <a:ext cx="540000" cy="184666"/>
          </a:xfrm>
          <a:prstGeom prst="rect">
            <a:avLst/>
          </a:prstGeom>
          <a:noFill/>
        </p:spPr>
        <p:txBody>
          <a:bodyPr wrap="square" lIns="0" tIns="0" rIns="0" bIns="0" rtlCol="0">
            <a:spAutoFit/>
          </a:bodyPr>
          <a:lstStyle/>
          <a:p>
            <a:pPr algn="ctr"/>
            <a:r>
              <a:rPr lang="en-US" altLang="zh-CN" sz="1200" dirty="0">
                <a:latin typeface="Times New Roman" panose="02020603050405020304" pitchFamily="18" charset="0"/>
                <a:cs typeface="Times New Roman" panose="02020603050405020304" pitchFamily="18" charset="0"/>
              </a:rPr>
              <a:t>Gather</a:t>
            </a:r>
            <a:endParaRPr lang="zh-CN" altLang="en-US" sz="1200" dirty="0">
              <a:latin typeface="Times New Roman" panose="02020603050405020304" pitchFamily="18" charset="0"/>
              <a:cs typeface="Times New Roman" panose="02020603050405020304" pitchFamily="18" charset="0"/>
            </a:endParaRPr>
          </a:p>
        </p:txBody>
      </p:sp>
      <p:sp>
        <p:nvSpPr>
          <p:cNvPr id="74" name="矩形: 圆角 73">
            <a:extLst>
              <a:ext uri="{FF2B5EF4-FFF2-40B4-BE49-F238E27FC236}">
                <a16:creationId xmlns:a16="http://schemas.microsoft.com/office/drawing/2014/main" id="{700CC472-D5A2-4175-8AFA-EFF7009EC8B9}"/>
              </a:ext>
            </a:extLst>
          </p:cNvPr>
          <p:cNvSpPr/>
          <p:nvPr/>
        </p:nvSpPr>
        <p:spPr>
          <a:xfrm>
            <a:off x="4137312" y="5629793"/>
            <a:ext cx="468000" cy="108000"/>
          </a:xfrm>
          <a:prstGeom prst="round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A907362F-59E3-4F89-9193-5CEB05198DF0}"/>
              </a:ext>
            </a:extLst>
          </p:cNvPr>
          <p:cNvSpPr/>
          <p:nvPr/>
        </p:nvSpPr>
        <p:spPr>
          <a:xfrm>
            <a:off x="3456200" y="5413121"/>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a:extLst>
              <a:ext uri="{FF2B5EF4-FFF2-40B4-BE49-F238E27FC236}">
                <a16:creationId xmlns:a16="http://schemas.microsoft.com/office/drawing/2014/main" id="{CD069421-1E48-4AF1-A745-12E32DA28381}"/>
              </a:ext>
            </a:extLst>
          </p:cNvPr>
          <p:cNvSpPr txBox="1"/>
          <p:nvPr/>
        </p:nvSpPr>
        <p:spPr>
          <a:xfrm>
            <a:off x="3456200" y="5413121"/>
            <a:ext cx="540000" cy="184666"/>
          </a:xfrm>
          <a:prstGeom prst="rect">
            <a:avLst/>
          </a:prstGeom>
          <a:noFill/>
        </p:spPr>
        <p:txBody>
          <a:bodyPr wrap="square" lIns="0" tIns="0" rIns="0" bIns="0" rtlCol="0">
            <a:spAutoFit/>
          </a:bodyPr>
          <a:lstStyle/>
          <a:p>
            <a:pPr algn="ctr"/>
            <a:r>
              <a:rPr lang="en-US" altLang="zh-CN" sz="1200" dirty="0">
                <a:latin typeface="Times New Roman" panose="02020603050405020304" pitchFamily="18" charset="0"/>
                <a:cs typeface="Times New Roman" panose="02020603050405020304" pitchFamily="18" charset="0"/>
              </a:rPr>
              <a:t>Gather</a:t>
            </a:r>
            <a:endParaRPr lang="zh-CN" altLang="en-US" sz="1200" dirty="0">
              <a:latin typeface="Times New Roman" panose="02020603050405020304" pitchFamily="18" charset="0"/>
              <a:cs typeface="Times New Roman" panose="02020603050405020304" pitchFamily="18" charset="0"/>
            </a:endParaRPr>
          </a:p>
        </p:txBody>
      </p:sp>
      <p:sp>
        <p:nvSpPr>
          <p:cNvPr id="77" name="矩形: 圆角 76">
            <a:extLst>
              <a:ext uri="{FF2B5EF4-FFF2-40B4-BE49-F238E27FC236}">
                <a16:creationId xmlns:a16="http://schemas.microsoft.com/office/drawing/2014/main" id="{9059C516-A91F-40C1-86F4-7912A6D42AD8}"/>
              </a:ext>
            </a:extLst>
          </p:cNvPr>
          <p:cNvSpPr/>
          <p:nvPr/>
        </p:nvSpPr>
        <p:spPr>
          <a:xfrm>
            <a:off x="3492979" y="5629793"/>
            <a:ext cx="468000" cy="108000"/>
          </a:xfrm>
          <a:prstGeom prst="round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179D2592-6FBD-42B3-AE12-D5A1CC1DC65B}"/>
              </a:ext>
            </a:extLst>
          </p:cNvPr>
          <p:cNvSpPr/>
          <p:nvPr/>
        </p:nvSpPr>
        <p:spPr>
          <a:xfrm>
            <a:off x="2806201" y="5415313"/>
            <a:ext cx="540000" cy="360000"/>
          </a:xfrm>
          <a:prstGeom prst="rect">
            <a:avLst/>
          </a:prstGeom>
          <a:solidFill>
            <a:srgbClr val="E0D4E6"/>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FA7CB7F3-878D-4518-A7CF-C2E952EC59D3}"/>
              </a:ext>
            </a:extLst>
          </p:cNvPr>
          <p:cNvSpPr txBox="1"/>
          <p:nvPr/>
        </p:nvSpPr>
        <p:spPr>
          <a:xfrm>
            <a:off x="2806201" y="5415313"/>
            <a:ext cx="540000" cy="184666"/>
          </a:xfrm>
          <a:prstGeom prst="rect">
            <a:avLst/>
          </a:prstGeom>
          <a:noFill/>
        </p:spPr>
        <p:txBody>
          <a:bodyPr wrap="square" lIns="0" tIns="0" rIns="0" bIns="0" rtlCol="0">
            <a:spAutoFit/>
          </a:bodyPr>
          <a:lstStyle/>
          <a:p>
            <a:pPr algn="ctr"/>
            <a:r>
              <a:rPr lang="en-US" altLang="zh-CN" sz="1200" dirty="0">
                <a:latin typeface="Times New Roman" panose="02020603050405020304" pitchFamily="18" charset="0"/>
                <a:cs typeface="Times New Roman" panose="02020603050405020304" pitchFamily="18" charset="0"/>
              </a:rPr>
              <a:t>Gather</a:t>
            </a:r>
            <a:endParaRPr lang="zh-CN" altLang="en-US" sz="1200" dirty="0">
              <a:latin typeface="Times New Roman" panose="02020603050405020304" pitchFamily="18" charset="0"/>
              <a:cs typeface="Times New Roman" panose="02020603050405020304" pitchFamily="18" charset="0"/>
            </a:endParaRPr>
          </a:p>
        </p:txBody>
      </p:sp>
      <p:sp>
        <p:nvSpPr>
          <p:cNvPr id="80" name="矩形: 圆角 79">
            <a:extLst>
              <a:ext uri="{FF2B5EF4-FFF2-40B4-BE49-F238E27FC236}">
                <a16:creationId xmlns:a16="http://schemas.microsoft.com/office/drawing/2014/main" id="{C7085FC2-023B-46B2-B0BB-9B6A5489422E}"/>
              </a:ext>
            </a:extLst>
          </p:cNvPr>
          <p:cNvSpPr/>
          <p:nvPr/>
        </p:nvSpPr>
        <p:spPr>
          <a:xfrm>
            <a:off x="2842980" y="5631985"/>
            <a:ext cx="468000" cy="108000"/>
          </a:xfrm>
          <a:prstGeom prst="round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1" name="直接箭头连接符 80">
            <a:extLst>
              <a:ext uri="{FF2B5EF4-FFF2-40B4-BE49-F238E27FC236}">
                <a16:creationId xmlns:a16="http://schemas.microsoft.com/office/drawing/2014/main" id="{D222F5EF-6B88-442A-A6D4-27CC1C65B35B}"/>
              </a:ext>
            </a:extLst>
          </p:cNvPr>
          <p:cNvCxnSpPr>
            <a:cxnSpLocks/>
          </p:cNvCxnSpPr>
          <p:nvPr/>
        </p:nvCxnSpPr>
        <p:spPr>
          <a:xfrm flipV="1">
            <a:off x="2805279" y="6141720"/>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82" name="矩形 81">
            <a:extLst>
              <a:ext uri="{FF2B5EF4-FFF2-40B4-BE49-F238E27FC236}">
                <a16:creationId xmlns:a16="http://schemas.microsoft.com/office/drawing/2014/main" id="{518085EB-3932-4740-BFB8-D2420EB84B18}"/>
              </a:ext>
            </a:extLst>
          </p:cNvPr>
          <p:cNvSpPr/>
          <p:nvPr/>
        </p:nvSpPr>
        <p:spPr>
          <a:xfrm>
            <a:off x="2588112" y="6357720"/>
            <a:ext cx="432000" cy="18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100" dirty="0">
                <a:solidFill>
                  <a:schemeClr val="tx1"/>
                </a:solidFill>
              </a:rPr>
              <a:t>Param</a:t>
            </a:r>
            <a:endParaRPr lang="zh-CN" altLang="en-US" sz="1100" dirty="0">
              <a:solidFill>
                <a:schemeClr val="tx1"/>
              </a:solidFill>
            </a:endParaRPr>
          </a:p>
        </p:txBody>
      </p:sp>
      <p:cxnSp>
        <p:nvCxnSpPr>
          <p:cNvPr id="83" name="直接箭头连接符 82">
            <a:extLst>
              <a:ext uri="{FF2B5EF4-FFF2-40B4-BE49-F238E27FC236}">
                <a16:creationId xmlns:a16="http://schemas.microsoft.com/office/drawing/2014/main" id="{F78D0E17-62C2-4FA4-AF68-B5703238FAD7}"/>
              </a:ext>
            </a:extLst>
          </p:cNvPr>
          <p:cNvCxnSpPr>
            <a:cxnSpLocks/>
          </p:cNvCxnSpPr>
          <p:nvPr/>
        </p:nvCxnSpPr>
        <p:spPr>
          <a:xfrm flipV="1">
            <a:off x="3399639" y="6139180"/>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84" name="矩形 83">
            <a:extLst>
              <a:ext uri="{FF2B5EF4-FFF2-40B4-BE49-F238E27FC236}">
                <a16:creationId xmlns:a16="http://schemas.microsoft.com/office/drawing/2014/main" id="{46A489FB-6901-494F-8B25-7E755038FEF2}"/>
              </a:ext>
            </a:extLst>
          </p:cNvPr>
          <p:cNvSpPr/>
          <p:nvPr/>
        </p:nvSpPr>
        <p:spPr>
          <a:xfrm>
            <a:off x="3182472" y="6355180"/>
            <a:ext cx="432000" cy="18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100" dirty="0">
                <a:solidFill>
                  <a:schemeClr val="tx1"/>
                </a:solidFill>
              </a:rPr>
              <a:t>Param</a:t>
            </a:r>
            <a:endParaRPr lang="zh-CN" altLang="en-US" sz="1100" dirty="0">
              <a:solidFill>
                <a:schemeClr val="tx1"/>
              </a:solidFill>
            </a:endParaRPr>
          </a:p>
        </p:txBody>
      </p:sp>
      <p:sp>
        <p:nvSpPr>
          <p:cNvPr id="85" name="矩形 84">
            <a:extLst>
              <a:ext uri="{FF2B5EF4-FFF2-40B4-BE49-F238E27FC236}">
                <a16:creationId xmlns:a16="http://schemas.microsoft.com/office/drawing/2014/main" id="{2AC0D4F5-DC3F-49CD-9004-EB0968132C0A}"/>
              </a:ext>
            </a:extLst>
          </p:cNvPr>
          <p:cNvSpPr/>
          <p:nvPr/>
        </p:nvSpPr>
        <p:spPr>
          <a:xfrm>
            <a:off x="3182472" y="6535180"/>
            <a:ext cx="432000" cy="18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100" dirty="0">
                <a:solidFill>
                  <a:schemeClr val="tx1"/>
                </a:solidFill>
              </a:rPr>
              <a:t>Param</a:t>
            </a:r>
            <a:endParaRPr lang="zh-CN" altLang="en-US" sz="1100" dirty="0">
              <a:solidFill>
                <a:schemeClr val="tx1"/>
              </a:solidFill>
            </a:endParaRPr>
          </a:p>
        </p:txBody>
      </p:sp>
      <p:sp>
        <p:nvSpPr>
          <p:cNvPr id="86" name="文本框 85">
            <a:extLst>
              <a:ext uri="{FF2B5EF4-FFF2-40B4-BE49-F238E27FC236}">
                <a16:creationId xmlns:a16="http://schemas.microsoft.com/office/drawing/2014/main" id="{89E75B00-2C66-47AD-9384-4C647BA9DABB}"/>
              </a:ext>
            </a:extLst>
          </p:cNvPr>
          <p:cNvSpPr txBox="1"/>
          <p:nvPr/>
        </p:nvSpPr>
        <p:spPr>
          <a:xfrm>
            <a:off x="3701270" y="6247180"/>
            <a:ext cx="2235263" cy="523220"/>
          </a:xfrm>
          <a:prstGeom prst="rect">
            <a:avLst/>
          </a:prstGeom>
          <a:noFill/>
        </p:spPr>
        <p:txBody>
          <a:bodyPr wrap="square" rtlCol="0">
            <a:spAutoFit/>
          </a:bodyPr>
          <a:lstStyle/>
          <a:p>
            <a:pPr algn="ctr"/>
            <a:r>
              <a:rPr lang="zh-CN" altLang="en-US" sz="1400" dirty="0"/>
              <a:t>模型参数占用的内存减半</a:t>
            </a:r>
            <a:endParaRPr lang="en-US" altLang="zh-CN" sz="1400" dirty="0"/>
          </a:p>
          <a:p>
            <a:pPr algn="ctr"/>
            <a:r>
              <a:rPr lang="zh-CN" altLang="en-US" sz="1400" dirty="0"/>
              <a:t>（</a:t>
            </a:r>
            <a:r>
              <a:rPr lang="en-US" altLang="zh-CN" sz="1400" dirty="0"/>
              <a:t>4/4</a:t>
            </a:r>
            <a:r>
              <a:rPr lang="zh-CN" altLang="en-US" sz="1400" dirty="0"/>
              <a:t>减少至</a:t>
            </a:r>
            <a:r>
              <a:rPr lang="en-US" altLang="zh-CN" sz="1400" dirty="0"/>
              <a:t>2/4</a:t>
            </a:r>
            <a:r>
              <a:rPr lang="zh-CN" altLang="en-US" sz="1400" dirty="0"/>
              <a:t>）</a:t>
            </a:r>
          </a:p>
        </p:txBody>
      </p:sp>
      <p:sp>
        <p:nvSpPr>
          <p:cNvPr id="87" name="矩形 86">
            <a:extLst>
              <a:ext uri="{FF2B5EF4-FFF2-40B4-BE49-F238E27FC236}">
                <a16:creationId xmlns:a16="http://schemas.microsoft.com/office/drawing/2014/main" id="{BA8EB3D5-C42F-4319-A99F-DC9534AA3519}"/>
              </a:ext>
            </a:extLst>
          </p:cNvPr>
          <p:cNvSpPr/>
          <p:nvPr/>
        </p:nvSpPr>
        <p:spPr>
          <a:xfrm>
            <a:off x="321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B14F7D68-4851-49EB-9BD3-A0465D40CD32}"/>
              </a:ext>
            </a:extLst>
          </p:cNvPr>
          <p:cNvSpPr/>
          <p:nvPr/>
        </p:nvSpPr>
        <p:spPr>
          <a:xfrm>
            <a:off x="429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a:extLst>
              <a:ext uri="{FF2B5EF4-FFF2-40B4-BE49-F238E27FC236}">
                <a16:creationId xmlns:a16="http://schemas.microsoft.com/office/drawing/2014/main" id="{E677D37C-05C6-4B1F-B708-F7BE97E24725}"/>
              </a:ext>
            </a:extLst>
          </p:cNvPr>
          <p:cNvSpPr/>
          <p:nvPr/>
        </p:nvSpPr>
        <p:spPr>
          <a:xfrm>
            <a:off x="537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a:extLst>
              <a:ext uri="{FF2B5EF4-FFF2-40B4-BE49-F238E27FC236}">
                <a16:creationId xmlns:a16="http://schemas.microsoft.com/office/drawing/2014/main" id="{0C361F83-6606-4CB0-A76B-C46BA78D5D74}"/>
              </a:ext>
            </a:extLst>
          </p:cNvPr>
          <p:cNvSpPr/>
          <p:nvPr/>
        </p:nvSpPr>
        <p:spPr>
          <a:xfrm>
            <a:off x="645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66CA80D0-909E-47F3-ABB1-A50806A5236A}"/>
              </a:ext>
            </a:extLst>
          </p:cNvPr>
          <p:cNvSpPr/>
          <p:nvPr/>
        </p:nvSpPr>
        <p:spPr>
          <a:xfrm>
            <a:off x="753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66A802ED-5679-4EB8-A3F5-D6FF690FB373}"/>
              </a:ext>
            </a:extLst>
          </p:cNvPr>
          <p:cNvSpPr/>
          <p:nvPr/>
        </p:nvSpPr>
        <p:spPr>
          <a:xfrm>
            <a:off x="861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a:extLst>
              <a:ext uri="{FF2B5EF4-FFF2-40B4-BE49-F238E27FC236}">
                <a16:creationId xmlns:a16="http://schemas.microsoft.com/office/drawing/2014/main" id="{64743003-08B6-4702-9BD6-647066FF7F0C}"/>
              </a:ext>
            </a:extLst>
          </p:cNvPr>
          <p:cNvSpPr/>
          <p:nvPr/>
        </p:nvSpPr>
        <p:spPr>
          <a:xfrm>
            <a:off x="969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a:extLst>
              <a:ext uri="{FF2B5EF4-FFF2-40B4-BE49-F238E27FC236}">
                <a16:creationId xmlns:a16="http://schemas.microsoft.com/office/drawing/2014/main" id="{80B7B56E-B1D6-4B20-B32D-BB5860B706F4}"/>
              </a:ext>
            </a:extLst>
          </p:cNvPr>
          <p:cNvSpPr/>
          <p:nvPr/>
        </p:nvSpPr>
        <p:spPr>
          <a:xfrm>
            <a:off x="1077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FF40E122-06DE-44B3-BD4E-49EA60BC82A7}"/>
              </a:ext>
            </a:extLst>
          </p:cNvPr>
          <p:cNvSpPr/>
          <p:nvPr/>
        </p:nvSpPr>
        <p:spPr>
          <a:xfrm>
            <a:off x="1185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6D0DFA62-0AA5-4DBC-B2C3-AB0562880973}"/>
              </a:ext>
            </a:extLst>
          </p:cNvPr>
          <p:cNvSpPr/>
          <p:nvPr/>
        </p:nvSpPr>
        <p:spPr>
          <a:xfrm>
            <a:off x="1293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FBB12FFB-B760-4D96-BD2E-B49FDA62B252}"/>
              </a:ext>
            </a:extLst>
          </p:cNvPr>
          <p:cNvSpPr/>
          <p:nvPr/>
        </p:nvSpPr>
        <p:spPr>
          <a:xfrm>
            <a:off x="1401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a:extLst>
              <a:ext uri="{FF2B5EF4-FFF2-40B4-BE49-F238E27FC236}">
                <a16:creationId xmlns:a16="http://schemas.microsoft.com/office/drawing/2014/main" id="{5E25B2F8-8FFC-4C09-B6DF-518A7180F723}"/>
              </a:ext>
            </a:extLst>
          </p:cNvPr>
          <p:cNvSpPr/>
          <p:nvPr/>
        </p:nvSpPr>
        <p:spPr>
          <a:xfrm>
            <a:off x="1509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4E2BE04D-C039-40DA-83F4-285328FE9EA0}"/>
              </a:ext>
            </a:extLst>
          </p:cNvPr>
          <p:cNvSpPr/>
          <p:nvPr/>
        </p:nvSpPr>
        <p:spPr>
          <a:xfrm>
            <a:off x="1617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618511BF-07E1-4C36-9D8D-FE449CA3E4E8}"/>
              </a:ext>
            </a:extLst>
          </p:cNvPr>
          <p:cNvSpPr/>
          <p:nvPr/>
        </p:nvSpPr>
        <p:spPr>
          <a:xfrm>
            <a:off x="1725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349986F8-CEF9-4294-9318-70F5BDEA237E}"/>
              </a:ext>
            </a:extLst>
          </p:cNvPr>
          <p:cNvSpPr/>
          <p:nvPr/>
        </p:nvSpPr>
        <p:spPr>
          <a:xfrm>
            <a:off x="1833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B62E4604-811C-429E-BFD3-2CE00CF2F00F}"/>
              </a:ext>
            </a:extLst>
          </p:cNvPr>
          <p:cNvSpPr/>
          <p:nvPr/>
        </p:nvSpPr>
        <p:spPr>
          <a:xfrm>
            <a:off x="1941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EA4C952B-0105-42C2-958A-063F3E971E68}"/>
              </a:ext>
            </a:extLst>
          </p:cNvPr>
          <p:cNvSpPr/>
          <p:nvPr/>
        </p:nvSpPr>
        <p:spPr>
          <a:xfrm>
            <a:off x="2049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08560E2C-F6EA-422B-A76E-42DA6194F9DB}"/>
              </a:ext>
            </a:extLst>
          </p:cNvPr>
          <p:cNvSpPr/>
          <p:nvPr/>
        </p:nvSpPr>
        <p:spPr>
          <a:xfrm>
            <a:off x="2157279" y="4494047"/>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B8A558C1-2E26-47A5-A7B3-1A031A0B6656}"/>
              </a:ext>
            </a:extLst>
          </p:cNvPr>
          <p:cNvSpPr/>
          <p:nvPr/>
        </p:nvSpPr>
        <p:spPr>
          <a:xfrm>
            <a:off x="2265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250B8FF4-B0C1-4310-88F4-BDD5CF287710}"/>
              </a:ext>
            </a:extLst>
          </p:cNvPr>
          <p:cNvSpPr/>
          <p:nvPr/>
        </p:nvSpPr>
        <p:spPr>
          <a:xfrm>
            <a:off x="2373279" y="4494047"/>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a:extLst>
              <a:ext uri="{FF2B5EF4-FFF2-40B4-BE49-F238E27FC236}">
                <a16:creationId xmlns:a16="http://schemas.microsoft.com/office/drawing/2014/main" id="{697A77F3-76FF-40CA-9DB3-9E62CAED9106}"/>
              </a:ext>
            </a:extLst>
          </p:cNvPr>
          <p:cNvSpPr/>
          <p:nvPr/>
        </p:nvSpPr>
        <p:spPr>
          <a:xfrm>
            <a:off x="2481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C2C6D191-50D3-4859-81A8-CF4CA81B289D}"/>
              </a:ext>
            </a:extLst>
          </p:cNvPr>
          <p:cNvSpPr/>
          <p:nvPr/>
        </p:nvSpPr>
        <p:spPr>
          <a:xfrm>
            <a:off x="2589279" y="4494047"/>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60884ED2-16DB-4625-945D-1AB3EC0E93A8}"/>
              </a:ext>
            </a:extLst>
          </p:cNvPr>
          <p:cNvSpPr/>
          <p:nvPr/>
        </p:nvSpPr>
        <p:spPr>
          <a:xfrm>
            <a:off x="2697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CD00F71F-8BE2-42B4-A092-D7F534D4A85B}"/>
              </a:ext>
            </a:extLst>
          </p:cNvPr>
          <p:cNvSpPr/>
          <p:nvPr/>
        </p:nvSpPr>
        <p:spPr>
          <a:xfrm>
            <a:off x="2805279" y="4494047"/>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 name="直接箭头连接符 110">
            <a:extLst>
              <a:ext uri="{FF2B5EF4-FFF2-40B4-BE49-F238E27FC236}">
                <a16:creationId xmlns:a16="http://schemas.microsoft.com/office/drawing/2014/main" id="{08FDFEEB-EF12-4AC3-911D-CCCAFCD660D9}"/>
              </a:ext>
            </a:extLst>
          </p:cNvPr>
          <p:cNvCxnSpPr/>
          <p:nvPr/>
        </p:nvCxnSpPr>
        <p:spPr>
          <a:xfrm>
            <a:off x="321279" y="4906060"/>
            <a:ext cx="864000"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sp>
        <p:nvSpPr>
          <p:cNvPr id="112" name="文本框 111">
            <a:extLst>
              <a:ext uri="{FF2B5EF4-FFF2-40B4-BE49-F238E27FC236}">
                <a16:creationId xmlns:a16="http://schemas.microsoft.com/office/drawing/2014/main" id="{E5825876-3059-49CB-9FE6-38F2D946AFAE}"/>
              </a:ext>
            </a:extLst>
          </p:cNvPr>
          <p:cNvSpPr txBox="1"/>
          <p:nvPr/>
        </p:nvSpPr>
        <p:spPr>
          <a:xfrm>
            <a:off x="321279" y="4906060"/>
            <a:ext cx="864000" cy="184666"/>
          </a:xfrm>
          <a:prstGeom prst="rect">
            <a:avLst/>
          </a:prstGeom>
          <a:noFill/>
        </p:spPr>
        <p:txBody>
          <a:bodyPr wrap="square" lIns="0" tIns="0" rIns="0" bIns="0" rtlCol="0">
            <a:spAutoFit/>
          </a:bodyPr>
          <a:lstStyle/>
          <a:p>
            <a:pPr algn="ctr"/>
            <a:r>
              <a:rPr lang="en-US" altLang="zh-CN" sz="1200" dirty="0"/>
              <a:t>MB 0-1</a:t>
            </a:r>
            <a:endParaRPr lang="zh-CN" altLang="en-US" sz="1200" dirty="0"/>
          </a:p>
        </p:txBody>
      </p:sp>
      <p:cxnSp>
        <p:nvCxnSpPr>
          <p:cNvPr id="113" name="直接箭头连接符 112">
            <a:extLst>
              <a:ext uri="{FF2B5EF4-FFF2-40B4-BE49-F238E27FC236}">
                <a16:creationId xmlns:a16="http://schemas.microsoft.com/office/drawing/2014/main" id="{020420A7-C835-40A9-95B4-9DA300469996}"/>
              </a:ext>
            </a:extLst>
          </p:cNvPr>
          <p:cNvCxnSpPr/>
          <p:nvPr/>
        </p:nvCxnSpPr>
        <p:spPr>
          <a:xfrm>
            <a:off x="1189959" y="4906060"/>
            <a:ext cx="864000"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sp>
        <p:nvSpPr>
          <p:cNvPr id="114" name="文本框 113">
            <a:extLst>
              <a:ext uri="{FF2B5EF4-FFF2-40B4-BE49-F238E27FC236}">
                <a16:creationId xmlns:a16="http://schemas.microsoft.com/office/drawing/2014/main" id="{BD20AF47-D66D-4AB2-B759-B79A976BBE54}"/>
              </a:ext>
            </a:extLst>
          </p:cNvPr>
          <p:cNvSpPr txBox="1"/>
          <p:nvPr/>
        </p:nvSpPr>
        <p:spPr>
          <a:xfrm>
            <a:off x="1189959" y="4906060"/>
            <a:ext cx="864000" cy="184666"/>
          </a:xfrm>
          <a:prstGeom prst="rect">
            <a:avLst/>
          </a:prstGeom>
          <a:noFill/>
        </p:spPr>
        <p:txBody>
          <a:bodyPr wrap="square" lIns="0" tIns="0" rIns="0" bIns="0" rtlCol="0">
            <a:spAutoFit/>
          </a:bodyPr>
          <a:lstStyle/>
          <a:p>
            <a:pPr algn="ctr"/>
            <a:r>
              <a:rPr lang="en-US" altLang="zh-CN" sz="1200" dirty="0"/>
              <a:t>MB 2-3</a:t>
            </a:r>
            <a:endParaRPr lang="zh-CN" altLang="en-US" sz="1200" dirty="0"/>
          </a:p>
        </p:txBody>
      </p:sp>
      <p:cxnSp>
        <p:nvCxnSpPr>
          <p:cNvPr id="115" name="直接箭头连接符 114">
            <a:extLst>
              <a:ext uri="{FF2B5EF4-FFF2-40B4-BE49-F238E27FC236}">
                <a16:creationId xmlns:a16="http://schemas.microsoft.com/office/drawing/2014/main" id="{09B0915B-A0C4-4A94-A863-83069E9E0EEE}"/>
              </a:ext>
            </a:extLst>
          </p:cNvPr>
          <p:cNvCxnSpPr/>
          <p:nvPr/>
        </p:nvCxnSpPr>
        <p:spPr>
          <a:xfrm>
            <a:off x="2054829" y="4906060"/>
            <a:ext cx="864000"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sp>
        <p:nvSpPr>
          <p:cNvPr id="116" name="文本框 115">
            <a:extLst>
              <a:ext uri="{FF2B5EF4-FFF2-40B4-BE49-F238E27FC236}">
                <a16:creationId xmlns:a16="http://schemas.microsoft.com/office/drawing/2014/main" id="{C5940127-E870-4CEE-95BC-09875418128F}"/>
              </a:ext>
            </a:extLst>
          </p:cNvPr>
          <p:cNvSpPr txBox="1"/>
          <p:nvPr/>
        </p:nvSpPr>
        <p:spPr>
          <a:xfrm>
            <a:off x="2054829" y="4906060"/>
            <a:ext cx="864000" cy="184666"/>
          </a:xfrm>
          <a:prstGeom prst="rect">
            <a:avLst/>
          </a:prstGeom>
          <a:noFill/>
        </p:spPr>
        <p:txBody>
          <a:bodyPr wrap="square" lIns="0" tIns="0" rIns="0" bIns="0" rtlCol="0">
            <a:spAutoFit/>
          </a:bodyPr>
          <a:lstStyle/>
          <a:p>
            <a:pPr algn="ctr"/>
            <a:r>
              <a:rPr lang="en-US" altLang="zh-CN" sz="1200" dirty="0"/>
              <a:t>MB 4-5</a:t>
            </a:r>
            <a:endParaRPr lang="zh-CN" altLang="en-US" sz="1200" dirty="0"/>
          </a:p>
        </p:txBody>
      </p:sp>
      <p:sp>
        <p:nvSpPr>
          <p:cNvPr id="117" name="矩形 116">
            <a:extLst>
              <a:ext uri="{FF2B5EF4-FFF2-40B4-BE49-F238E27FC236}">
                <a16:creationId xmlns:a16="http://schemas.microsoft.com/office/drawing/2014/main" id="{9035E535-0598-4FA8-8AE6-E3A9E6A596E9}"/>
              </a:ext>
            </a:extLst>
          </p:cNvPr>
          <p:cNvSpPr/>
          <p:nvPr/>
        </p:nvSpPr>
        <p:spPr>
          <a:xfrm>
            <a:off x="4418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371CB124-7740-4DBB-923D-D423735CEBE4}"/>
              </a:ext>
            </a:extLst>
          </p:cNvPr>
          <p:cNvSpPr/>
          <p:nvPr/>
        </p:nvSpPr>
        <p:spPr>
          <a:xfrm>
            <a:off x="4526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a:extLst>
              <a:ext uri="{FF2B5EF4-FFF2-40B4-BE49-F238E27FC236}">
                <a16:creationId xmlns:a16="http://schemas.microsoft.com/office/drawing/2014/main" id="{8AAB71CE-5956-4C49-9371-C10901925602}"/>
              </a:ext>
            </a:extLst>
          </p:cNvPr>
          <p:cNvSpPr/>
          <p:nvPr/>
        </p:nvSpPr>
        <p:spPr>
          <a:xfrm>
            <a:off x="4634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063EF97C-352C-4ACA-9037-86ED094DACC6}"/>
              </a:ext>
            </a:extLst>
          </p:cNvPr>
          <p:cNvSpPr/>
          <p:nvPr/>
        </p:nvSpPr>
        <p:spPr>
          <a:xfrm>
            <a:off x="4742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a:extLst>
              <a:ext uri="{FF2B5EF4-FFF2-40B4-BE49-F238E27FC236}">
                <a16:creationId xmlns:a16="http://schemas.microsoft.com/office/drawing/2014/main" id="{5E3CF365-BE7E-4900-8525-768C39E86A71}"/>
              </a:ext>
            </a:extLst>
          </p:cNvPr>
          <p:cNvSpPr/>
          <p:nvPr/>
        </p:nvSpPr>
        <p:spPr>
          <a:xfrm>
            <a:off x="4850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E52E341C-3953-4269-949D-18DAF308BE2A}"/>
              </a:ext>
            </a:extLst>
          </p:cNvPr>
          <p:cNvSpPr/>
          <p:nvPr/>
        </p:nvSpPr>
        <p:spPr>
          <a:xfrm>
            <a:off x="4958877" y="4491013"/>
            <a:ext cx="108000" cy="360000"/>
          </a:xfrm>
          <a:prstGeom prst="rect">
            <a:avLst/>
          </a:prstGeom>
          <a:solidFill>
            <a:srgbClr val="F19B9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a:extLst>
              <a:ext uri="{FF2B5EF4-FFF2-40B4-BE49-F238E27FC236}">
                <a16:creationId xmlns:a16="http://schemas.microsoft.com/office/drawing/2014/main" id="{D7C1B213-D89E-429D-B7C0-82E9FB1A508A}"/>
              </a:ext>
            </a:extLst>
          </p:cNvPr>
          <p:cNvSpPr/>
          <p:nvPr/>
        </p:nvSpPr>
        <p:spPr>
          <a:xfrm>
            <a:off x="5066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138A1CAC-039B-4F22-ABAF-7256D8202EAD}"/>
              </a:ext>
            </a:extLst>
          </p:cNvPr>
          <p:cNvSpPr/>
          <p:nvPr/>
        </p:nvSpPr>
        <p:spPr>
          <a:xfrm>
            <a:off x="5174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a:extLst>
              <a:ext uri="{FF2B5EF4-FFF2-40B4-BE49-F238E27FC236}">
                <a16:creationId xmlns:a16="http://schemas.microsoft.com/office/drawing/2014/main" id="{05AFD751-88E1-4240-823D-63345C0F4FDE}"/>
              </a:ext>
            </a:extLst>
          </p:cNvPr>
          <p:cNvSpPr/>
          <p:nvPr/>
        </p:nvSpPr>
        <p:spPr>
          <a:xfrm>
            <a:off x="5282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0A0FF2AB-003F-4034-AA57-C020034D9704}"/>
              </a:ext>
            </a:extLst>
          </p:cNvPr>
          <p:cNvSpPr/>
          <p:nvPr/>
        </p:nvSpPr>
        <p:spPr>
          <a:xfrm>
            <a:off x="5390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a:extLst>
              <a:ext uri="{FF2B5EF4-FFF2-40B4-BE49-F238E27FC236}">
                <a16:creationId xmlns:a16="http://schemas.microsoft.com/office/drawing/2014/main" id="{8E36699E-39F4-4F28-A17D-41ABF3F586F7}"/>
              </a:ext>
            </a:extLst>
          </p:cNvPr>
          <p:cNvSpPr/>
          <p:nvPr/>
        </p:nvSpPr>
        <p:spPr>
          <a:xfrm>
            <a:off x="5498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D05D9DA8-8933-4737-B657-C389B1641DDD}"/>
              </a:ext>
            </a:extLst>
          </p:cNvPr>
          <p:cNvSpPr/>
          <p:nvPr/>
        </p:nvSpPr>
        <p:spPr>
          <a:xfrm>
            <a:off x="5606877" y="4491013"/>
            <a:ext cx="108000" cy="360000"/>
          </a:xfrm>
          <a:prstGeom prst="rect">
            <a:avLst/>
          </a:prstGeom>
          <a:solidFill>
            <a:srgbClr val="A9C4E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a:extLst>
              <a:ext uri="{FF2B5EF4-FFF2-40B4-BE49-F238E27FC236}">
                <a16:creationId xmlns:a16="http://schemas.microsoft.com/office/drawing/2014/main" id="{9531811E-B64C-477E-B8D9-FB2FA7D75D63}"/>
              </a:ext>
            </a:extLst>
          </p:cNvPr>
          <p:cNvSpPr/>
          <p:nvPr/>
        </p:nvSpPr>
        <p:spPr>
          <a:xfrm>
            <a:off x="5714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FD9A47EB-1A6E-44CA-A8B5-C9FA99C985A8}"/>
              </a:ext>
            </a:extLst>
          </p:cNvPr>
          <p:cNvSpPr/>
          <p:nvPr/>
        </p:nvSpPr>
        <p:spPr>
          <a:xfrm>
            <a:off x="5822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a:extLst>
              <a:ext uri="{FF2B5EF4-FFF2-40B4-BE49-F238E27FC236}">
                <a16:creationId xmlns:a16="http://schemas.microsoft.com/office/drawing/2014/main" id="{D1536F49-B3B7-4E7C-8328-B545A834393F}"/>
              </a:ext>
            </a:extLst>
          </p:cNvPr>
          <p:cNvSpPr/>
          <p:nvPr/>
        </p:nvSpPr>
        <p:spPr>
          <a:xfrm>
            <a:off x="5930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A1D5A62E-B5DB-40AB-8491-85BA59817F9B}"/>
              </a:ext>
            </a:extLst>
          </p:cNvPr>
          <p:cNvSpPr/>
          <p:nvPr/>
        </p:nvSpPr>
        <p:spPr>
          <a:xfrm>
            <a:off x="6038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a:extLst>
              <a:ext uri="{FF2B5EF4-FFF2-40B4-BE49-F238E27FC236}">
                <a16:creationId xmlns:a16="http://schemas.microsoft.com/office/drawing/2014/main" id="{5E52F1A7-7888-4633-8558-D5C2046045D5}"/>
              </a:ext>
            </a:extLst>
          </p:cNvPr>
          <p:cNvSpPr/>
          <p:nvPr/>
        </p:nvSpPr>
        <p:spPr>
          <a:xfrm>
            <a:off x="6146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a:extLst>
              <a:ext uri="{FF2B5EF4-FFF2-40B4-BE49-F238E27FC236}">
                <a16:creationId xmlns:a16="http://schemas.microsoft.com/office/drawing/2014/main" id="{95D7F0B6-410F-4546-AC97-C1EDAA3219FB}"/>
              </a:ext>
            </a:extLst>
          </p:cNvPr>
          <p:cNvSpPr/>
          <p:nvPr/>
        </p:nvSpPr>
        <p:spPr>
          <a:xfrm>
            <a:off x="6254877" y="4491013"/>
            <a:ext cx="108000" cy="360000"/>
          </a:xfrm>
          <a:prstGeom prst="rect">
            <a:avLst/>
          </a:prstGeom>
          <a:solidFill>
            <a:srgbClr val="FECD9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a:extLst>
              <a:ext uri="{FF2B5EF4-FFF2-40B4-BE49-F238E27FC236}">
                <a16:creationId xmlns:a16="http://schemas.microsoft.com/office/drawing/2014/main" id="{58741011-F6CF-4CAD-BB73-31CB53B1B464}"/>
              </a:ext>
            </a:extLst>
          </p:cNvPr>
          <p:cNvSpPr/>
          <p:nvPr/>
        </p:nvSpPr>
        <p:spPr>
          <a:xfrm>
            <a:off x="6362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a:extLst>
              <a:ext uri="{FF2B5EF4-FFF2-40B4-BE49-F238E27FC236}">
                <a16:creationId xmlns:a16="http://schemas.microsoft.com/office/drawing/2014/main" id="{8D0CB6FD-C0F5-4201-A98B-201FCE4BFA4B}"/>
              </a:ext>
            </a:extLst>
          </p:cNvPr>
          <p:cNvSpPr/>
          <p:nvPr/>
        </p:nvSpPr>
        <p:spPr>
          <a:xfrm>
            <a:off x="6470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a:extLst>
              <a:ext uri="{FF2B5EF4-FFF2-40B4-BE49-F238E27FC236}">
                <a16:creationId xmlns:a16="http://schemas.microsoft.com/office/drawing/2014/main" id="{C25D6B91-8F97-4BBD-865E-6D5AE623D150}"/>
              </a:ext>
            </a:extLst>
          </p:cNvPr>
          <p:cNvSpPr/>
          <p:nvPr/>
        </p:nvSpPr>
        <p:spPr>
          <a:xfrm>
            <a:off x="6578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6C4DDC30-A7F5-4FA2-9F3A-628132591A51}"/>
              </a:ext>
            </a:extLst>
          </p:cNvPr>
          <p:cNvSpPr/>
          <p:nvPr/>
        </p:nvSpPr>
        <p:spPr>
          <a:xfrm>
            <a:off x="6686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a:extLst>
              <a:ext uri="{FF2B5EF4-FFF2-40B4-BE49-F238E27FC236}">
                <a16:creationId xmlns:a16="http://schemas.microsoft.com/office/drawing/2014/main" id="{D6A13EBB-4514-4FF8-B43D-A3F2B6DE09C4}"/>
              </a:ext>
            </a:extLst>
          </p:cNvPr>
          <p:cNvSpPr/>
          <p:nvPr/>
        </p:nvSpPr>
        <p:spPr>
          <a:xfrm>
            <a:off x="6794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a:extLst>
              <a:ext uri="{FF2B5EF4-FFF2-40B4-BE49-F238E27FC236}">
                <a16:creationId xmlns:a16="http://schemas.microsoft.com/office/drawing/2014/main" id="{93F4F08E-FD74-4C62-A220-6A18AC66D0ED}"/>
              </a:ext>
            </a:extLst>
          </p:cNvPr>
          <p:cNvSpPr/>
          <p:nvPr/>
        </p:nvSpPr>
        <p:spPr>
          <a:xfrm>
            <a:off x="6902877" y="4491013"/>
            <a:ext cx="108000" cy="360000"/>
          </a:xfrm>
          <a:prstGeom prst="rect">
            <a:avLst/>
          </a:prstGeom>
          <a:solidFill>
            <a:srgbClr val="9AC8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1" name="直接箭头连接符 140">
            <a:extLst>
              <a:ext uri="{FF2B5EF4-FFF2-40B4-BE49-F238E27FC236}">
                <a16:creationId xmlns:a16="http://schemas.microsoft.com/office/drawing/2014/main" id="{FA056A72-17FB-46BB-A5D0-F370F2E6CB01}"/>
              </a:ext>
            </a:extLst>
          </p:cNvPr>
          <p:cNvCxnSpPr/>
          <p:nvPr/>
        </p:nvCxnSpPr>
        <p:spPr>
          <a:xfrm>
            <a:off x="4423871" y="4899166"/>
            <a:ext cx="2592000"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sp>
        <p:nvSpPr>
          <p:cNvPr id="142" name="文本框 141">
            <a:extLst>
              <a:ext uri="{FF2B5EF4-FFF2-40B4-BE49-F238E27FC236}">
                <a16:creationId xmlns:a16="http://schemas.microsoft.com/office/drawing/2014/main" id="{21B279F6-A7C3-47EB-B095-68C52822B851}"/>
              </a:ext>
            </a:extLst>
          </p:cNvPr>
          <p:cNvSpPr txBox="1"/>
          <p:nvPr/>
        </p:nvSpPr>
        <p:spPr>
          <a:xfrm>
            <a:off x="5287871" y="4906060"/>
            <a:ext cx="864000" cy="184666"/>
          </a:xfrm>
          <a:prstGeom prst="rect">
            <a:avLst/>
          </a:prstGeom>
          <a:noFill/>
        </p:spPr>
        <p:txBody>
          <a:bodyPr wrap="square" lIns="0" tIns="0" rIns="0" bIns="0" rtlCol="0">
            <a:spAutoFit/>
          </a:bodyPr>
          <a:lstStyle/>
          <a:p>
            <a:pPr algn="ctr"/>
            <a:r>
              <a:rPr lang="en-US" altLang="zh-CN" sz="1200" dirty="0"/>
              <a:t>MB 0-5</a:t>
            </a:r>
            <a:endParaRPr lang="zh-CN" altLang="en-US" sz="1200" dirty="0"/>
          </a:p>
        </p:txBody>
      </p:sp>
      <p:cxnSp>
        <p:nvCxnSpPr>
          <p:cNvPr id="143" name="直接箭头连接符 142">
            <a:extLst>
              <a:ext uri="{FF2B5EF4-FFF2-40B4-BE49-F238E27FC236}">
                <a16:creationId xmlns:a16="http://schemas.microsoft.com/office/drawing/2014/main" id="{FBEC5CFD-F2BA-4A23-85BA-5A4C0724452B}"/>
              </a:ext>
            </a:extLst>
          </p:cNvPr>
          <p:cNvCxnSpPr/>
          <p:nvPr/>
        </p:nvCxnSpPr>
        <p:spPr>
          <a:xfrm>
            <a:off x="3066288" y="4645152"/>
            <a:ext cx="1142245"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44" name="文本框 143">
            <a:extLst>
              <a:ext uri="{FF2B5EF4-FFF2-40B4-BE49-F238E27FC236}">
                <a16:creationId xmlns:a16="http://schemas.microsoft.com/office/drawing/2014/main" id="{6EEE2A5C-07BF-49A2-B5B8-0106FA464D48}"/>
              </a:ext>
            </a:extLst>
          </p:cNvPr>
          <p:cNvSpPr txBox="1"/>
          <p:nvPr/>
        </p:nvSpPr>
        <p:spPr>
          <a:xfrm>
            <a:off x="2986635" y="4205801"/>
            <a:ext cx="1301550" cy="430887"/>
          </a:xfrm>
          <a:prstGeom prst="rect">
            <a:avLst/>
          </a:prstGeom>
          <a:noFill/>
        </p:spPr>
        <p:txBody>
          <a:bodyPr wrap="square" lIns="0" tIns="0" rIns="0" bIns="0" rtlCol="0">
            <a:spAutoFit/>
          </a:bodyPr>
          <a:lstStyle/>
          <a:p>
            <a:pPr algn="ctr"/>
            <a:r>
              <a:rPr lang="en-US" altLang="zh-CN" sz="1400" dirty="0"/>
              <a:t>After selective </a:t>
            </a:r>
            <a:r>
              <a:rPr lang="en-US" altLang="zh-CN" sz="1400" dirty="0" err="1"/>
              <a:t>recomputation</a:t>
            </a:r>
            <a:endParaRPr lang="zh-CN" altLang="en-US" sz="1400" dirty="0"/>
          </a:p>
        </p:txBody>
      </p:sp>
      <p:sp>
        <p:nvSpPr>
          <p:cNvPr id="7" name="矩形 6">
            <a:extLst>
              <a:ext uri="{FF2B5EF4-FFF2-40B4-BE49-F238E27FC236}">
                <a16:creationId xmlns:a16="http://schemas.microsoft.com/office/drawing/2014/main" id="{D1FB553B-95B7-93AE-7289-7D66972A4878}"/>
              </a:ext>
            </a:extLst>
          </p:cNvPr>
          <p:cNvSpPr/>
          <p:nvPr/>
        </p:nvSpPr>
        <p:spPr>
          <a:xfrm>
            <a:off x="771463" y="5354320"/>
            <a:ext cx="4595909" cy="84502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7672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2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2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2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2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2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3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3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3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3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3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3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3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3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3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4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4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4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4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3"/>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3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3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7"/>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38"/>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39"/>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4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41"/>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42"/>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43"/>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44"/>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9"/>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3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31"/>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32"/>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4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46"/>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4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48"/>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49"/>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50"/>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51"/>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5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53"/>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54"/>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55"/>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56"/>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57"/>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58"/>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5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60"/>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61"/>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62"/>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63"/>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64"/>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65"/>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66"/>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67"/>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68"/>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9"/>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0"/>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1"/>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2"/>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3"/>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4"/>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5"/>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6"/>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7"/>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8"/>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9"/>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20"/>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21"/>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22"/>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23"/>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24"/>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25"/>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26"/>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grpId="0" nodeType="clickEffect">
                                  <p:stCondLst>
                                    <p:cond delay="0"/>
                                  </p:stCondLst>
                                  <p:childTnLst>
                                    <p:set>
                                      <p:cBhvr>
                                        <p:cTn id="260" dur="1" fill="hold">
                                          <p:stCondLst>
                                            <p:cond delay="0"/>
                                          </p:stCondLst>
                                        </p:cTn>
                                        <p:tgtEl>
                                          <p:spTgt spid="79"/>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80"/>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78"/>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76"/>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77"/>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75"/>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74"/>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73"/>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72"/>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71"/>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70"/>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69"/>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81"/>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82"/>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0"/>
                                          </p:stCondLst>
                                        </p:cTn>
                                        <p:tgtEl>
                                          <p:spTgt spid="83"/>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84"/>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85"/>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86"/>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4"/>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8"/>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0"/>
                                          </p:stCondLst>
                                        </p:cTn>
                                        <p:tgtEl>
                                          <p:spTgt spid="5"/>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6"/>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childTnLst>
                                    <p:set>
                                      <p:cBhvr>
                                        <p:cTn id="3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p:bldP spid="35" grpId="0" animBg="1"/>
      <p:bldP spid="36" grpId="0" animBg="1"/>
      <p:bldP spid="37" grpId="0"/>
      <p:bldP spid="38" grpId="0" animBg="1"/>
      <p:bldP spid="39" grpId="0" animBg="1"/>
      <p:bldP spid="40" grpId="0"/>
      <p:bldP spid="41" grpId="0" animBg="1"/>
      <p:bldP spid="42" grpId="0" animBg="1"/>
      <p:bldP spid="43" grpId="0"/>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p:bldP spid="71" grpId="0" animBg="1"/>
      <p:bldP spid="72" grpId="0" animBg="1"/>
      <p:bldP spid="73" grpId="0"/>
      <p:bldP spid="74" grpId="0" animBg="1"/>
      <p:bldP spid="75" grpId="0" animBg="1"/>
      <p:bldP spid="76" grpId="0"/>
      <p:bldP spid="77" grpId="0" animBg="1"/>
      <p:bldP spid="78" grpId="0" animBg="1"/>
      <p:bldP spid="79" grpId="0"/>
      <p:bldP spid="80" grpId="0" animBg="1"/>
      <p:bldP spid="82" grpId="0" animBg="1"/>
      <p:bldP spid="84" grpId="0" animBg="1"/>
      <p:bldP spid="85" grpId="0" animBg="1"/>
      <p:bldP spid="86" grpId="0"/>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2" grpId="0"/>
      <p:bldP spid="114" grpId="0"/>
      <p:bldP spid="116" grpId="0"/>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2" grpId="0"/>
      <p:bldP spid="144"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1B906-6E92-468F-9740-AE57F70863F4}"/>
              </a:ext>
            </a:extLst>
          </p:cNvPr>
          <p:cNvSpPr>
            <a:spLocks noGrp="1"/>
          </p:cNvSpPr>
          <p:nvPr>
            <p:ph type="ctrTitle"/>
          </p:nvPr>
        </p:nvSpPr>
        <p:spPr/>
        <p:txBody>
          <a:bodyPr>
            <a:normAutofit fontScale="90000"/>
          </a:bodyPr>
          <a:lstStyle/>
          <a:p>
            <a:r>
              <a:rPr lang="en-US" altLang="zh-CN" sz="4400" err="1"/>
              <a:t>NASPipe</a:t>
            </a:r>
            <a:r>
              <a:rPr lang="en-US" altLang="zh-CN" sz="4400"/>
              <a:t>: High-Performance and Reproducible Pipeline Parallel </a:t>
            </a:r>
            <a:r>
              <a:rPr lang="en-US" altLang="zh-CN" sz="4400" err="1"/>
              <a:t>Supernet</a:t>
            </a:r>
            <a:r>
              <a:rPr lang="en-US" altLang="zh-CN" sz="4400"/>
              <a:t> Training via Causal Synchronous Parallelism (ACM </a:t>
            </a:r>
            <a:r>
              <a:rPr lang="en-US" altLang="zh-CN" sz="4400" err="1"/>
              <a:t>NASPipe</a:t>
            </a:r>
            <a:r>
              <a:rPr lang="en-US" altLang="zh-CN" sz="4400"/>
              <a:t> 22)</a:t>
            </a:r>
            <a:endParaRPr lang="zh-CN" altLang="en-US" sz="4400"/>
          </a:p>
        </p:txBody>
      </p:sp>
      <p:sp>
        <p:nvSpPr>
          <p:cNvPr id="3" name="副标题 2">
            <a:extLst>
              <a:ext uri="{FF2B5EF4-FFF2-40B4-BE49-F238E27FC236}">
                <a16:creationId xmlns:a16="http://schemas.microsoft.com/office/drawing/2014/main" id="{167A3524-D8A4-434D-BAF7-CBEC19FE82EE}"/>
              </a:ext>
            </a:extLst>
          </p:cNvPr>
          <p:cNvSpPr>
            <a:spLocks noGrp="1"/>
          </p:cNvSpPr>
          <p:nvPr>
            <p:ph type="subTitle" idx="1"/>
          </p:nvPr>
        </p:nvSpPr>
        <p:spPr/>
        <p:txBody>
          <a:bodyPr>
            <a:normAutofit/>
          </a:bodyPr>
          <a:lstStyle/>
          <a:p>
            <a:r>
              <a:rPr lang="en-US" altLang="zh-CN" dirty="0" err="1">
                <a:solidFill>
                  <a:srgbClr val="0070C0"/>
                </a:solidFill>
              </a:rPr>
              <a:t>Shixiong</a:t>
            </a:r>
            <a:r>
              <a:rPr lang="en-US" altLang="zh-CN" dirty="0">
                <a:solidFill>
                  <a:srgbClr val="0070C0"/>
                </a:solidFill>
              </a:rPr>
              <a:t> Zhao, </a:t>
            </a:r>
            <a:r>
              <a:rPr lang="en-US" altLang="zh-CN" dirty="0" err="1">
                <a:solidFill>
                  <a:srgbClr val="0070C0"/>
                </a:solidFill>
              </a:rPr>
              <a:t>Fanxin</a:t>
            </a:r>
            <a:r>
              <a:rPr lang="en-US" altLang="zh-CN" dirty="0">
                <a:solidFill>
                  <a:srgbClr val="0070C0"/>
                </a:solidFill>
              </a:rPr>
              <a:t> Li, </a:t>
            </a:r>
            <a:r>
              <a:rPr lang="en-US" altLang="zh-CN" dirty="0" err="1">
                <a:solidFill>
                  <a:srgbClr val="0070C0"/>
                </a:solidFill>
              </a:rPr>
              <a:t>Xusheng</a:t>
            </a:r>
            <a:r>
              <a:rPr lang="en-US" altLang="zh-CN" dirty="0">
                <a:solidFill>
                  <a:srgbClr val="0070C0"/>
                </a:solidFill>
              </a:rPr>
              <a:t> Chen, </a:t>
            </a:r>
            <a:r>
              <a:rPr lang="en-US" altLang="zh-CN" dirty="0" err="1">
                <a:solidFill>
                  <a:srgbClr val="0070C0"/>
                </a:solidFill>
              </a:rPr>
              <a:t>Tianxiang</a:t>
            </a:r>
            <a:r>
              <a:rPr lang="en-US" altLang="zh-CN" dirty="0">
                <a:solidFill>
                  <a:srgbClr val="0070C0"/>
                </a:solidFill>
              </a:rPr>
              <a:t> Shen, </a:t>
            </a:r>
            <a:r>
              <a:rPr lang="en-US" altLang="zh-CN" dirty="0">
                <a:solidFill>
                  <a:srgbClr val="FF0000"/>
                </a:solidFill>
              </a:rPr>
              <a:t>Li Chen, Sen Wang, Nicholas Zhang</a:t>
            </a:r>
            <a:r>
              <a:rPr lang="en-US" altLang="zh-CN" dirty="0">
                <a:solidFill>
                  <a:srgbClr val="0070C0"/>
                </a:solidFill>
              </a:rPr>
              <a:t>, </a:t>
            </a:r>
            <a:r>
              <a:rPr lang="en-US" altLang="zh-CN" dirty="0">
                <a:solidFill>
                  <a:srgbClr val="00B050"/>
                </a:solidFill>
              </a:rPr>
              <a:t>Cheng Li,</a:t>
            </a:r>
            <a:r>
              <a:rPr lang="en-US" altLang="zh-CN" dirty="0"/>
              <a:t> </a:t>
            </a:r>
            <a:r>
              <a:rPr lang="en-US" altLang="zh-CN" dirty="0">
                <a:solidFill>
                  <a:srgbClr val="0070C0"/>
                </a:solidFill>
              </a:rPr>
              <a:t>Heming Cui</a:t>
            </a:r>
          </a:p>
        </p:txBody>
      </p:sp>
      <p:sp>
        <p:nvSpPr>
          <p:cNvPr id="4" name="灯片编号占位符 3">
            <a:extLst>
              <a:ext uri="{FF2B5EF4-FFF2-40B4-BE49-F238E27FC236}">
                <a16:creationId xmlns:a16="http://schemas.microsoft.com/office/drawing/2014/main" id="{75FDBF50-F50A-4E73-B578-AFA21D1460BE}"/>
              </a:ext>
            </a:extLst>
          </p:cNvPr>
          <p:cNvSpPr>
            <a:spLocks noGrp="1"/>
          </p:cNvSpPr>
          <p:nvPr>
            <p:ph type="sldNum" sz="quarter" idx="12"/>
          </p:nvPr>
        </p:nvSpPr>
        <p:spPr/>
        <p:txBody>
          <a:bodyPr/>
          <a:lstStyle/>
          <a:p>
            <a:fld id="{365FC2E9-8E8C-8247-A50E-F8E5ABE194FE}" type="slidenum">
              <a:rPr lang="en-US" smtClean="0"/>
              <a:t>15</a:t>
            </a:fld>
            <a:endParaRPr lang="en-US"/>
          </a:p>
        </p:txBody>
      </p:sp>
      <p:sp>
        <p:nvSpPr>
          <p:cNvPr id="5" name="文本框 4">
            <a:extLst>
              <a:ext uri="{FF2B5EF4-FFF2-40B4-BE49-F238E27FC236}">
                <a16:creationId xmlns:a16="http://schemas.microsoft.com/office/drawing/2014/main" id="{7A19A019-073F-4AC5-9CC7-674E5F862931}"/>
              </a:ext>
            </a:extLst>
          </p:cNvPr>
          <p:cNvSpPr txBox="1"/>
          <p:nvPr/>
        </p:nvSpPr>
        <p:spPr>
          <a:xfrm>
            <a:off x="448336" y="6173914"/>
            <a:ext cx="3063890" cy="369332"/>
          </a:xfrm>
          <a:prstGeom prst="rect">
            <a:avLst/>
          </a:prstGeom>
          <a:noFill/>
        </p:spPr>
        <p:txBody>
          <a:bodyPr wrap="square" rtlCol="0">
            <a:spAutoFit/>
          </a:bodyPr>
          <a:lstStyle/>
          <a:p>
            <a:pPr algn="ctr"/>
            <a:r>
              <a:rPr lang="en-US" altLang="zh-CN">
                <a:solidFill>
                  <a:srgbClr val="0070C0"/>
                </a:solidFill>
              </a:rPr>
              <a:t>The University of Hong Kong</a:t>
            </a:r>
            <a:endParaRPr lang="zh-CN" altLang="en-US">
              <a:solidFill>
                <a:srgbClr val="0070C0"/>
              </a:solidFill>
            </a:endParaRPr>
          </a:p>
        </p:txBody>
      </p:sp>
      <p:pic>
        <p:nvPicPr>
          <p:cNvPr id="7" name="图片 6">
            <a:extLst>
              <a:ext uri="{FF2B5EF4-FFF2-40B4-BE49-F238E27FC236}">
                <a16:creationId xmlns:a16="http://schemas.microsoft.com/office/drawing/2014/main" id="{AAA5E707-5EE6-4DD7-856F-C7901B090CEC}"/>
              </a:ext>
            </a:extLst>
          </p:cNvPr>
          <p:cNvPicPr>
            <a:picLocks noChangeAspect="1"/>
          </p:cNvPicPr>
          <p:nvPr/>
        </p:nvPicPr>
        <p:blipFill>
          <a:blip r:embed="rId3"/>
          <a:stretch>
            <a:fillRect/>
          </a:stretch>
        </p:blipFill>
        <p:spPr>
          <a:xfrm>
            <a:off x="1561211" y="5085165"/>
            <a:ext cx="838141" cy="946837"/>
          </a:xfrm>
          <a:prstGeom prst="rect">
            <a:avLst/>
          </a:prstGeom>
        </p:spPr>
      </p:pic>
      <p:pic>
        <p:nvPicPr>
          <p:cNvPr id="9" name="图片 8">
            <a:extLst>
              <a:ext uri="{FF2B5EF4-FFF2-40B4-BE49-F238E27FC236}">
                <a16:creationId xmlns:a16="http://schemas.microsoft.com/office/drawing/2014/main" id="{8EC7E820-17E8-45CC-A78E-7946A0B48205}"/>
              </a:ext>
            </a:extLst>
          </p:cNvPr>
          <p:cNvPicPr>
            <a:picLocks noChangeAspect="1"/>
          </p:cNvPicPr>
          <p:nvPr/>
        </p:nvPicPr>
        <p:blipFill>
          <a:blip r:embed="rId4"/>
          <a:stretch>
            <a:fillRect/>
          </a:stretch>
        </p:blipFill>
        <p:spPr>
          <a:xfrm>
            <a:off x="4559962" y="5139739"/>
            <a:ext cx="1115164" cy="837688"/>
          </a:xfrm>
          <a:prstGeom prst="rect">
            <a:avLst/>
          </a:prstGeom>
        </p:spPr>
      </p:pic>
      <p:sp>
        <p:nvSpPr>
          <p:cNvPr id="11" name="文本框 10">
            <a:extLst>
              <a:ext uri="{FF2B5EF4-FFF2-40B4-BE49-F238E27FC236}">
                <a16:creationId xmlns:a16="http://schemas.microsoft.com/office/drawing/2014/main" id="{7E82387F-DB36-42E7-ACCD-072CBE234236}"/>
              </a:ext>
            </a:extLst>
          </p:cNvPr>
          <p:cNvSpPr txBox="1"/>
          <p:nvPr/>
        </p:nvSpPr>
        <p:spPr>
          <a:xfrm>
            <a:off x="3585599" y="6169580"/>
            <a:ext cx="3063890" cy="369332"/>
          </a:xfrm>
          <a:prstGeom prst="rect">
            <a:avLst/>
          </a:prstGeom>
          <a:noFill/>
        </p:spPr>
        <p:txBody>
          <a:bodyPr wrap="square">
            <a:spAutoFit/>
          </a:bodyPr>
          <a:lstStyle/>
          <a:p>
            <a:pPr algn="ctr"/>
            <a:r>
              <a:rPr lang="en-US" altLang="zh-CN">
                <a:solidFill>
                  <a:srgbClr val="FF0000"/>
                </a:solidFill>
              </a:rPr>
              <a:t>Huawei Technologies</a:t>
            </a:r>
            <a:endParaRPr lang="zh-CN" altLang="en-US">
              <a:solidFill>
                <a:srgbClr val="FF0000"/>
              </a:solidFill>
            </a:endParaRPr>
          </a:p>
        </p:txBody>
      </p:sp>
      <p:pic>
        <p:nvPicPr>
          <p:cNvPr id="13" name="图片 12">
            <a:extLst>
              <a:ext uri="{FF2B5EF4-FFF2-40B4-BE49-F238E27FC236}">
                <a16:creationId xmlns:a16="http://schemas.microsoft.com/office/drawing/2014/main" id="{A5F6875B-30DC-4D58-9DCA-859A8FB2BA14}"/>
              </a:ext>
            </a:extLst>
          </p:cNvPr>
          <p:cNvPicPr>
            <a:picLocks noChangeAspect="1"/>
          </p:cNvPicPr>
          <p:nvPr/>
        </p:nvPicPr>
        <p:blipFill>
          <a:blip r:embed="rId5"/>
          <a:stretch>
            <a:fillRect/>
          </a:stretch>
        </p:blipFill>
        <p:spPr>
          <a:xfrm>
            <a:off x="8457900" y="5085165"/>
            <a:ext cx="951205" cy="951205"/>
          </a:xfrm>
          <a:prstGeom prst="rect">
            <a:avLst/>
          </a:prstGeom>
        </p:spPr>
      </p:pic>
      <p:sp>
        <p:nvSpPr>
          <p:cNvPr id="14" name="文本框 13">
            <a:extLst>
              <a:ext uri="{FF2B5EF4-FFF2-40B4-BE49-F238E27FC236}">
                <a16:creationId xmlns:a16="http://schemas.microsoft.com/office/drawing/2014/main" id="{4445ACB9-C230-4CE3-90C1-B312F0FA1B7D}"/>
              </a:ext>
            </a:extLst>
          </p:cNvPr>
          <p:cNvSpPr txBox="1"/>
          <p:nvPr/>
        </p:nvSpPr>
        <p:spPr>
          <a:xfrm>
            <a:off x="6695733" y="6173914"/>
            <a:ext cx="4475540" cy="369332"/>
          </a:xfrm>
          <a:prstGeom prst="rect">
            <a:avLst/>
          </a:prstGeom>
          <a:noFill/>
        </p:spPr>
        <p:txBody>
          <a:bodyPr wrap="square" rtlCol="0">
            <a:spAutoFit/>
          </a:bodyPr>
          <a:lstStyle/>
          <a:p>
            <a:pPr algn="ctr"/>
            <a:r>
              <a:rPr lang="en-US" altLang="zh-CN">
                <a:solidFill>
                  <a:srgbClr val="00B050"/>
                </a:solidFill>
              </a:rPr>
              <a:t>University of Science and Technology of China</a:t>
            </a:r>
            <a:endParaRPr lang="zh-CN" altLang="en-US">
              <a:solidFill>
                <a:srgbClr val="00B050"/>
              </a:solidFill>
            </a:endParaRPr>
          </a:p>
        </p:txBody>
      </p:sp>
    </p:spTree>
    <p:extLst>
      <p:ext uri="{BB962C8B-B14F-4D97-AF65-F5344CB8AC3E}">
        <p14:creationId xmlns:p14="http://schemas.microsoft.com/office/powerpoint/2010/main" val="68877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内容占位符 2">
            <a:extLst>
              <a:ext uri="{FF2B5EF4-FFF2-40B4-BE49-F238E27FC236}">
                <a16:creationId xmlns:a16="http://schemas.microsoft.com/office/drawing/2014/main" id="{CE56F490-B117-D33C-B26E-7EF7D8E42A06}"/>
              </a:ext>
            </a:extLst>
          </p:cNvPr>
          <p:cNvSpPr>
            <a:spLocks noGrp="1"/>
          </p:cNvSpPr>
          <p:nvPr/>
        </p:nvSpPr>
        <p:spPr bwMode="auto">
          <a:xfrm>
            <a:off x="211465" y="1059214"/>
            <a:ext cx="11572133" cy="5218113"/>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a:solidFill>
                  <a:srgbClr val="015F84"/>
                </a:solidFill>
                <a:latin typeface="+mj-ea"/>
                <a:ea typeface="PingFang SC Medium" panose="020B0400000000000000"/>
              </a:rPr>
              <a:t>大模型正变得“</a:t>
            </a:r>
            <a:r>
              <a:rPr kumimoji="1" lang="zh-CN" altLang="en-US" sz="1600">
                <a:solidFill>
                  <a:srgbClr val="015F84"/>
                </a:solidFill>
                <a:latin typeface="+mj-ea"/>
                <a:ea typeface="PingFang SC Medium" panose="020B0400000000000000"/>
              </a:rPr>
              <a:t>超模型</a:t>
            </a:r>
            <a:r>
              <a:rPr kumimoji="1" lang="zh-CN" altLang="en-US" sz="1600" b="0">
                <a:solidFill>
                  <a:srgbClr val="015F84"/>
                </a:solidFill>
                <a:latin typeface="+mj-ea"/>
                <a:ea typeface="PingFang SC Medium" panose="020B0400000000000000"/>
              </a:rPr>
              <a:t>”（</a:t>
            </a:r>
            <a:r>
              <a:rPr kumimoji="1" lang="zh-CN" altLang="en-US" sz="1600">
                <a:solidFill>
                  <a:srgbClr val="015F84"/>
                </a:solidFill>
                <a:latin typeface="+mj-ea"/>
                <a:ea typeface="PingFang SC Medium" panose="020B0400000000000000"/>
              </a:rPr>
              <a:t>“超网”</a:t>
            </a:r>
            <a:r>
              <a:rPr kumimoji="1" lang="zh-CN" altLang="en-US" sz="1600" b="0">
                <a:solidFill>
                  <a:srgbClr val="015F84"/>
                </a:solidFill>
                <a:latin typeface="+mj-ea"/>
                <a:ea typeface="PingFang SC Medium" panose="020B0400000000000000"/>
              </a:rPr>
              <a:t>）化：一个大模型的所有神经层，和每层所有神经运算符，形成一个超集</a:t>
            </a:r>
            <a:endParaRPr kumimoji="1" lang="en-US" altLang="zh-CN" sz="1600" b="0">
              <a:solidFill>
                <a:srgbClr val="015F84"/>
              </a:solidFill>
              <a:latin typeface="+mj-ea"/>
              <a:ea typeface="PingFang SC Medium" panose="020B0400000000000000"/>
            </a:endParaRPr>
          </a:p>
          <a:p>
            <a:pPr lvl="1"/>
            <a:r>
              <a:rPr kumimoji="1" lang="zh-CN" altLang="en-US" sz="1400" b="1">
                <a:solidFill>
                  <a:srgbClr val="015F84"/>
                </a:solidFill>
                <a:latin typeface="+mj-ea"/>
                <a:ea typeface="PingFang SC Medium" panose="020B0400000000000000"/>
              </a:rPr>
              <a:t>子模型</a:t>
            </a:r>
            <a:r>
              <a:rPr kumimoji="1" lang="zh-CN" altLang="en-US" sz="1400" b="0">
                <a:solidFill>
                  <a:srgbClr val="015F84"/>
                </a:solidFill>
                <a:latin typeface="+mj-ea"/>
                <a:ea typeface="PingFang SC Medium" panose="020B0400000000000000"/>
                <a:sym typeface="Wingdings" panose="05000000000000000000" pitchFamily="2" charset="2"/>
              </a:rPr>
              <a:t>（“</a:t>
            </a:r>
            <a:r>
              <a:rPr kumimoji="1" lang="zh-CN" altLang="en-US" sz="1400" b="1">
                <a:solidFill>
                  <a:srgbClr val="015F84"/>
                </a:solidFill>
                <a:latin typeface="+mj-ea"/>
                <a:ea typeface="PingFang SC Medium" panose="020B0400000000000000"/>
                <a:sym typeface="Wingdings" panose="05000000000000000000" pitchFamily="2" charset="2"/>
              </a:rPr>
              <a:t>子网</a:t>
            </a:r>
            <a:r>
              <a:rPr kumimoji="1" lang="zh-CN" altLang="en-US" sz="1400" b="0">
                <a:solidFill>
                  <a:srgbClr val="015F84"/>
                </a:solidFill>
                <a:latin typeface="+mj-ea"/>
                <a:ea typeface="PingFang SC Medium" panose="020B0400000000000000"/>
                <a:sym typeface="Wingdings" panose="05000000000000000000" pitchFamily="2" charset="2"/>
              </a:rPr>
              <a:t>”）：</a:t>
            </a:r>
            <a:r>
              <a:rPr kumimoji="1" lang="zh-CN" altLang="en-US" sz="1400" b="0">
                <a:solidFill>
                  <a:srgbClr val="015F84"/>
                </a:solidFill>
                <a:latin typeface="+mj-ea"/>
                <a:ea typeface="PingFang SC Medium" panose="020B0400000000000000"/>
              </a:rPr>
              <a:t>从该超网的训练过程中提取一个激活的极小子集，即该大模型的某些层，和这些层的少量运算符</a:t>
            </a:r>
            <a:endParaRPr kumimoji="1" lang="en-US" altLang="zh-CN" sz="1400" b="0">
              <a:solidFill>
                <a:srgbClr val="015F84"/>
              </a:solidFill>
              <a:latin typeface="+mj-ea"/>
              <a:ea typeface="PingFang SC Medium" panose="020B0400000000000000"/>
            </a:endParaRPr>
          </a:p>
          <a:p>
            <a:r>
              <a:rPr lang="zh-CN" altLang="en-US" sz="1600" b="0">
                <a:solidFill>
                  <a:srgbClr val="015F84"/>
                </a:solidFill>
                <a:ea typeface="PingFang SC Medium" panose="020B0400000000000000"/>
              </a:rPr>
              <a:t>不同子模型可在不同终端设备和应用场景，获得最佳质量（如最低推理延迟，最低内存占用，或最佳推理精度）</a:t>
            </a:r>
            <a:endParaRPr lang="en-US" altLang="zh-CN" sz="1600" b="0">
              <a:solidFill>
                <a:srgbClr val="015F84"/>
              </a:solidFill>
              <a:ea typeface="PingFang SC Medium" panose="020B0400000000000000"/>
            </a:endParaRPr>
          </a:p>
          <a:p>
            <a:pPr lvl="1"/>
            <a:r>
              <a:rPr lang="zh-CN" altLang="en-US" sz="1400">
                <a:solidFill>
                  <a:srgbClr val="015F84"/>
                </a:solidFill>
                <a:ea typeface="PingFang SC Medium" panose="020B0400000000000000"/>
              </a:rPr>
              <a:t>神经网络搜索（</a:t>
            </a:r>
            <a:r>
              <a:rPr lang="en-US" altLang="zh-CN" sz="1400">
                <a:solidFill>
                  <a:srgbClr val="015F84"/>
                </a:solidFill>
                <a:ea typeface="PingFang SC Medium" panose="020B0400000000000000"/>
              </a:rPr>
              <a:t>NAS</a:t>
            </a:r>
            <a:r>
              <a:rPr lang="zh-CN" altLang="en-US" sz="1400">
                <a:solidFill>
                  <a:srgbClr val="015F84"/>
                </a:solidFill>
                <a:ea typeface="PingFang SC Medium" panose="020B0400000000000000"/>
              </a:rPr>
              <a:t>）：对于同一个智能应用，对不同设备（智能手表或智能手机），训练获得最佳质量的子模型</a:t>
            </a:r>
            <a:endParaRPr lang="en-US" altLang="zh-CN" sz="1400">
              <a:solidFill>
                <a:srgbClr val="015F84"/>
              </a:solidFill>
              <a:ea typeface="PingFang SC Medium" panose="020B0400000000000000"/>
            </a:endParaRPr>
          </a:p>
          <a:p>
            <a:pPr lvl="1"/>
            <a:r>
              <a:rPr lang="zh-CN" altLang="en-US" sz="1400" b="0">
                <a:solidFill>
                  <a:srgbClr val="015F84"/>
                </a:solidFill>
                <a:ea typeface="PingFang SC Medium" panose="020B0400000000000000"/>
              </a:rPr>
              <a:t>混合专家网络（</a:t>
            </a:r>
            <a:r>
              <a:rPr lang="en-US" altLang="zh-CN" sz="1400" b="0">
                <a:solidFill>
                  <a:srgbClr val="015F84"/>
                </a:solidFill>
                <a:ea typeface="PingFang SC Medium" panose="020B0400000000000000"/>
              </a:rPr>
              <a:t>MOE</a:t>
            </a:r>
            <a:r>
              <a:rPr lang="zh-CN" altLang="en-US" sz="1400" b="0">
                <a:solidFill>
                  <a:srgbClr val="015F84"/>
                </a:solidFill>
                <a:ea typeface="PingFang SC Medium" panose="020B0400000000000000"/>
              </a:rPr>
              <a:t>）：对于识别</a:t>
            </a:r>
            <a:r>
              <a:rPr lang="zh-CN" altLang="en-US" sz="1400">
                <a:solidFill>
                  <a:srgbClr val="015F84"/>
                </a:solidFill>
                <a:ea typeface="PingFang SC Medium" panose="020B0400000000000000"/>
              </a:rPr>
              <a:t>不同模态的数据（例如图片或语言文本），训练训练最佳质量的子模型</a:t>
            </a:r>
            <a:endParaRPr lang="en-US" altLang="zh-CN" sz="1400">
              <a:solidFill>
                <a:srgbClr val="015F84"/>
              </a:solidFill>
              <a:ea typeface="PingFang SC Medium" panose="020B0400000000000000"/>
            </a:endParaRPr>
          </a:p>
          <a:p>
            <a:pPr lvl="1"/>
            <a:r>
              <a:rPr lang="zh-CN" altLang="en-US" sz="1400">
                <a:solidFill>
                  <a:srgbClr val="015F84"/>
                </a:solidFill>
                <a:ea typeface="PingFang SC Medium" panose="020B0400000000000000"/>
              </a:rPr>
              <a:t>“超模型</a:t>
            </a:r>
            <a:r>
              <a:rPr lang="en-US" altLang="zh-CN" sz="1400">
                <a:solidFill>
                  <a:srgbClr val="015F84"/>
                </a:solidFill>
                <a:ea typeface="PingFang SC Medium" panose="020B0400000000000000"/>
              </a:rPr>
              <a:t>-</a:t>
            </a:r>
            <a:r>
              <a:rPr lang="zh-CN" altLang="en-US" sz="1400">
                <a:solidFill>
                  <a:srgbClr val="015F84"/>
                </a:solidFill>
                <a:ea typeface="PingFang SC Medium" panose="020B0400000000000000"/>
              </a:rPr>
              <a:t>子模型”训练</a:t>
            </a:r>
            <a:r>
              <a:rPr lang="zh-CN" altLang="en-US" sz="1400" b="1">
                <a:solidFill>
                  <a:srgbClr val="015F84"/>
                </a:solidFill>
                <a:ea typeface="PingFang SC Medium" panose="020B0400000000000000"/>
              </a:rPr>
              <a:t>动态性</a:t>
            </a:r>
            <a:r>
              <a:rPr lang="zh-CN" altLang="en-US" sz="1400">
                <a:solidFill>
                  <a:srgbClr val="015F84"/>
                </a:solidFill>
                <a:ea typeface="PingFang SC Medium" panose="020B0400000000000000"/>
              </a:rPr>
              <a:t>：子模型结构各异，对于训练系统内的各种训练计算资源和各维度的算力需求，可存在很大区别</a:t>
            </a:r>
            <a:endParaRPr lang="en-US" altLang="zh-CN" sz="1400">
              <a:solidFill>
                <a:srgbClr val="015F84"/>
              </a:solidFill>
              <a:ea typeface="PingFang SC Medium" panose="020B0400000000000000"/>
            </a:endParaRPr>
          </a:p>
          <a:p>
            <a:r>
              <a:rPr lang="zh-CN" altLang="en-US" sz="1600" b="0">
                <a:solidFill>
                  <a:srgbClr val="015F84"/>
                </a:solidFill>
                <a:ea typeface="PingFang SC Medium" panose="020B0400000000000000"/>
              </a:rPr>
              <a:t>科研难题：国际上现有的三维并行训练系统，对一个超模型的“多个子</a:t>
            </a:r>
            <a:r>
              <a:rPr kumimoji="1" lang="zh-CN" altLang="en-US" sz="1600" b="0">
                <a:solidFill>
                  <a:srgbClr val="015F84"/>
                </a:solidFill>
                <a:latin typeface="+mj-ea"/>
                <a:ea typeface="PingFang SC Medium" panose="020B0400000000000000"/>
              </a:rPr>
              <a:t>模型</a:t>
            </a:r>
            <a:r>
              <a:rPr lang="zh-CN" altLang="en-US" sz="1600" b="0">
                <a:solidFill>
                  <a:srgbClr val="015F84"/>
                </a:solidFill>
                <a:ea typeface="PingFang SC Medium" panose="020B0400000000000000"/>
              </a:rPr>
              <a:t>并行训练”支持欠佳</a:t>
            </a:r>
            <a:endParaRPr lang="en-US" altLang="zh-CN" sz="1600" b="0">
              <a:solidFill>
                <a:srgbClr val="015F84"/>
              </a:solidFill>
              <a:ea typeface="PingFang SC Medium" panose="020B0400000000000000"/>
            </a:endParaRPr>
          </a:p>
          <a:p>
            <a:pPr lvl="1"/>
            <a:r>
              <a:rPr lang="zh-CN" altLang="en-US" sz="1400">
                <a:solidFill>
                  <a:srgbClr val="015F84"/>
                </a:solidFill>
                <a:ea typeface="PingFang SC Medium" panose="020B0400000000000000"/>
              </a:rPr>
              <a:t>不支持多个子模型在同一训练系统内，同时被激活和训练：因为某些子模型会共享同一运算符，存在对子模型质量（如精度）的</a:t>
            </a:r>
            <a:r>
              <a:rPr lang="zh-CN" altLang="en-US" sz="1400" b="1">
                <a:solidFill>
                  <a:srgbClr val="015F84"/>
                </a:solidFill>
                <a:ea typeface="PingFang SC Medium" panose="020B0400000000000000"/>
              </a:rPr>
              <a:t>相互干涉</a:t>
            </a:r>
            <a:endParaRPr lang="en-US" altLang="zh-CN" sz="1400" b="1">
              <a:solidFill>
                <a:srgbClr val="015F84"/>
              </a:solidFill>
              <a:ea typeface="PingFang SC Medium" panose="020B0400000000000000"/>
            </a:endParaRPr>
          </a:p>
          <a:p>
            <a:pPr lvl="1"/>
            <a:r>
              <a:rPr lang="zh-CN" altLang="en-US" sz="1400" b="0">
                <a:solidFill>
                  <a:srgbClr val="015F84"/>
                </a:solidFill>
                <a:ea typeface="PingFang SC Medium" panose="020B0400000000000000"/>
              </a:rPr>
              <a:t>缺乏通用的可编程方法，以适应不同设备或</a:t>
            </a:r>
            <a:r>
              <a:rPr lang="zh-CN" altLang="en-US" sz="1400">
                <a:solidFill>
                  <a:srgbClr val="015F84"/>
                </a:solidFill>
                <a:ea typeface="PingFang SC Medium" panose="020B0400000000000000"/>
              </a:rPr>
              <a:t>不同模态任务</a:t>
            </a:r>
            <a:r>
              <a:rPr lang="zh-CN" altLang="en-US" sz="1400" b="0">
                <a:solidFill>
                  <a:srgbClr val="015F84"/>
                </a:solidFill>
                <a:ea typeface="PingFang SC Medium" panose="020B0400000000000000"/>
              </a:rPr>
              <a:t>对于其各自最优子</a:t>
            </a:r>
            <a:r>
              <a:rPr lang="zh-CN" altLang="en-US" sz="1400">
                <a:solidFill>
                  <a:srgbClr val="015F84"/>
                </a:solidFill>
                <a:ea typeface="PingFang SC Medium" panose="020B0400000000000000"/>
              </a:rPr>
              <a:t>模型</a:t>
            </a:r>
            <a:r>
              <a:rPr lang="zh-CN" altLang="en-US" sz="1400" b="0">
                <a:solidFill>
                  <a:srgbClr val="015F84"/>
                </a:solidFill>
                <a:ea typeface="PingFang SC Medium" panose="020B0400000000000000"/>
              </a:rPr>
              <a:t>的质量的评测和提取</a:t>
            </a:r>
            <a:endParaRPr lang="en-US" altLang="zh-CN" sz="1400" b="0">
              <a:solidFill>
                <a:srgbClr val="015F84"/>
              </a:solidFill>
              <a:ea typeface="PingFang SC Medium" panose="020B0400000000000000"/>
            </a:endParaRPr>
          </a:p>
          <a:p>
            <a:endParaRPr lang="en-US" altLang="zh-CN" sz="1600" b="0">
              <a:ea typeface="PingFang SC Medium" panose="020B0400000000000000"/>
            </a:endParaRPr>
          </a:p>
        </p:txBody>
      </p:sp>
      <p:sp>
        <p:nvSpPr>
          <p:cNvPr id="3" name="文本框 2">
            <a:extLst>
              <a:ext uri="{FF2B5EF4-FFF2-40B4-BE49-F238E27FC236}">
                <a16:creationId xmlns:a16="http://schemas.microsoft.com/office/drawing/2014/main" id="{65870CDB-58CB-4615-8DCB-D9018B21E280}"/>
              </a:ext>
            </a:extLst>
          </p:cNvPr>
          <p:cNvSpPr txBox="1"/>
          <p:nvPr/>
        </p:nvSpPr>
        <p:spPr>
          <a:xfrm>
            <a:off x="281016" y="88578"/>
            <a:ext cx="10217468" cy="707886"/>
          </a:xfrm>
          <a:prstGeom prst="rect">
            <a:avLst/>
          </a:prstGeom>
          <a:noFill/>
        </p:spPr>
        <p:txBody>
          <a:bodyPr wrap="square" rtlCol="0">
            <a:spAutoFit/>
          </a:bodyPr>
          <a:lstStyle/>
          <a:p>
            <a:pPr>
              <a:defRPr/>
            </a:pPr>
            <a:r>
              <a:rPr kumimoji="1" lang="zh-CN" altLang="en-US" sz="4000" b="1">
                <a:solidFill>
                  <a:srgbClr val="025F84"/>
                </a:solidFill>
                <a:ea typeface="PingFang SC Medium" panose="020B0400000000000000" pitchFamily="34" charset="-122"/>
              </a:rPr>
              <a:t>三维并行：对“超模型</a:t>
            </a:r>
            <a:r>
              <a:rPr kumimoji="1" lang="en-US" altLang="zh-CN" sz="4000" b="1">
                <a:solidFill>
                  <a:srgbClr val="025F84"/>
                </a:solidFill>
                <a:ea typeface="PingFang SC Medium" panose="020B0400000000000000" pitchFamily="34" charset="-122"/>
              </a:rPr>
              <a:t>-</a:t>
            </a:r>
            <a:r>
              <a:rPr kumimoji="1" lang="zh-CN" altLang="en-US" sz="4000" b="1">
                <a:solidFill>
                  <a:srgbClr val="025F84"/>
                </a:solidFill>
                <a:ea typeface="PingFang SC Medium" panose="020B0400000000000000" pitchFamily="34" charset="-122"/>
              </a:rPr>
              <a:t>子模型”支持性欠佳</a:t>
            </a:r>
            <a:endParaRPr kumimoji="1" lang="en-US" altLang="zh-CN" sz="4000" b="1">
              <a:solidFill>
                <a:srgbClr val="025F84"/>
              </a:solidFill>
              <a:ea typeface="PingFang SC Medium" panose="020B0400000000000000" pitchFamily="34" charset="-122"/>
            </a:endParaRPr>
          </a:p>
        </p:txBody>
      </p:sp>
      <p:sp>
        <p:nvSpPr>
          <p:cNvPr id="50" name="矩形 49">
            <a:extLst>
              <a:ext uri="{FF2B5EF4-FFF2-40B4-BE49-F238E27FC236}">
                <a16:creationId xmlns:a16="http://schemas.microsoft.com/office/drawing/2014/main" id="{8C884244-5B08-5AF9-8FAA-C754A3033D42}"/>
              </a:ext>
            </a:extLst>
          </p:cNvPr>
          <p:cNvSpPr>
            <a:spLocks noChangeAspect="1"/>
          </p:cNvSpPr>
          <p:nvPr/>
        </p:nvSpPr>
        <p:spPr>
          <a:xfrm>
            <a:off x="4434335" y="4887444"/>
            <a:ext cx="364432" cy="364432"/>
          </a:xfrm>
          <a:prstGeom prst="rect">
            <a:avLst/>
          </a:prstGeom>
          <a:pattFill prst="wdUpDiag">
            <a:fgClr>
              <a:schemeClr val="accent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C7EB0523-2808-0565-889C-C40E1D2D7996}"/>
              </a:ext>
            </a:extLst>
          </p:cNvPr>
          <p:cNvSpPr>
            <a:spLocks noChangeAspect="1"/>
          </p:cNvSpPr>
          <p:nvPr/>
        </p:nvSpPr>
        <p:spPr>
          <a:xfrm>
            <a:off x="4434335" y="5432202"/>
            <a:ext cx="364432" cy="36443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0F194750-C157-A53A-27E0-5CD325ADD831}"/>
              </a:ext>
            </a:extLst>
          </p:cNvPr>
          <p:cNvSpPr>
            <a:spLocks noChangeAspect="1"/>
          </p:cNvSpPr>
          <p:nvPr/>
        </p:nvSpPr>
        <p:spPr>
          <a:xfrm>
            <a:off x="4434335" y="5977976"/>
            <a:ext cx="364432" cy="364432"/>
          </a:xfrm>
          <a:prstGeom prst="rect">
            <a:avLst/>
          </a:prstGeom>
          <a:pattFill prst="wdUpDiag">
            <a:fgClr>
              <a:srgbClr val="0070C0"/>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0BE5395A-C8D9-8F0D-4660-4FD9FFB1E10A}"/>
              </a:ext>
            </a:extLst>
          </p:cNvPr>
          <p:cNvSpPr>
            <a:spLocks noChangeAspect="1"/>
          </p:cNvSpPr>
          <p:nvPr/>
        </p:nvSpPr>
        <p:spPr>
          <a:xfrm>
            <a:off x="5586674" y="4875213"/>
            <a:ext cx="364432" cy="36443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D87B20C7-EA11-9B67-FEBF-6399B2C74AE6}"/>
              </a:ext>
            </a:extLst>
          </p:cNvPr>
          <p:cNvSpPr>
            <a:spLocks noChangeAspect="1"/>
          </p:cNvSpPr>
          <p:nvPr/>
        </p:nvSpPr>
        <p:spPr>
          <a:xfrm>
            <a:off x="5586674" y="5432202"/>
            <a:ext cx="364432" cy="364432"/>
          </a:xfrm>
          <a:prstGeom prst="rect">
            <a:avLst/>
          </a:prstGeom>
          <a:pattFill prst="wdUpDiag">
            <a:fgClr>
              <a:schemeClr val="accent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EBBAC535-DADE-871C-9EFC-EE867323D79A}"/>
              </a:ext>
            </a:extLst>
          </p:cNvPr>
          <p:cNvSpPr>
            <a:spLocks noChangeAspect="1"/>
          </p:cNvSpPr>
          <p:nvPr/>
        </p:nvSpPr>
        <p:spPr>
          <a:xfrm>
            <a:off x="5586674" y="5977976"/>
            <a:ext cx="364432" cy="36443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3F18506E-693D-E39B-B755-CE93B4C94C7C}"/>
              </a:ext>
            </a:extLst>
          </p:cNvPr>
          <p:cNvSpPr>
            <a:spLocks noChangeAspect="1"/>
          </p:cNvSpPr>
          <p:nvPr/>
        </p:nvSpPr>
        <p:spPr>
          <a:xfrm>
            <a:off x="7702501" y="4887444"/>
            <a:ext cx="364432" cy="364432"/>
          </a:xfrm>
          <a:prstGeom prst="rect">
            <a:avLst/>
          </a:prstGeom>
          <a:pattFill prst="wdUpDiag">
            <a:fgClr>
              <a:srgbClr val="0070C0"/>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74CA58C2-022D-2419-68C0-AC59F99B9825}"/>
              </a:ext>
            </a:extLst>
          </p:cNvPr>
          <p:cNvSpPr>
            <a:spLocks noChangeAspect="1"/>
          </p:cNvSpPr>
          <p:nvPr/>
        </p:nvSpPr>
        <p:spPr>
          <a:xfrm>
            <a:off x="7700518" y="5432200"/>
            <a:ext cx="364432" cy="364432"/>
          </a:xfrm>
          <a:prstGeom prst="rect">
            <a:avLst/>
          </a:prstGeom>
          <a:pattFill prst="wdUpDiag">
            <a:fgClr>
              <a:schemeClr val="accent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9ED48A99-C3EB-6F50-ED35-4208BD7BC4B5}"/>
              </a:ext>
            </a:extLst>
          </p:cNvPr>
          <p:cNvSpPr>
            <a:spLocks noChangeAspect="1"/>
          </p:cNvSpPr>
          <p:nvPr/>
        </p:nvSpPr>
        <p:spPr>
          <a:xfrm>
            <a:off x="7707939" y="5974296"/>
            <a:ext cx="364432" cy="36443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11F81A92-7038-B678-2105-347FDA67B552}"/>
              </a:ext>
            </a:extLst>
          </p:cNvPr>
          <p:cNvSpPr>
            <a:spLocks noChangeAspect="1"/>
          </p:cNvSpPr>
          <p:nvPr/>
        </p:nvSpPr>
        <p:spPr>
          <a:xfrm>
            <a:off x="8635438" y="4887444"/>
            <a:ext cx="364432" cy="364432"/>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BD1698E1-BF9F-4F52-ADE7-3338FD5FD544}"/>
              </a:ext>
            </a:extLst>
          </p:cNvPr>
          <p:cNvSpPr>
            <a:spLocks noChangeAspect="1"/>
          </p:cNvSpPr>
          <p:nvPr/>
        </p:nvSpPr>
        <p:spPr>
          <a:xfrm>
            <a:off x="8632998" y="5432200"/>
            <a:ext cx="364432" cy="364432"/>
          </a:xfrm>
          <a:prstGeom prst="rect">
            <a:avLst/>
          </a:prstGeom>
          <a:pattFill prst="wdUpDiag">
            <a:fgClr>
              <a:srgbClr val="0070C0"/>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8018CDE2-8594-D477-8162-4006E4CBD33C}"/>
              </a:ext>
            </a:extLst>
          </p:cNvPr>
          <p:cNvSpPr>
            <a:spLocks noChangeAspect="1"/>
          </p:cNvSpPr>
          <p:nvPr/>
        </p:nvSpPr>
        <p:spPr>
          <a:xfrm>
            <a:off x="8632998" y="5974296"/>
            <a:ext cx="364432" cy="364432"/>
          </a:xfrm>
          <a:prstGeom prst="rect">
            <a:avLst/>
          </a:prstGeom>
          <a:pattFill prst="wdUpDiag">
            <a:fgClr>
              <a:schemeClr val="accent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2" name="矩形: 圆角 61">
            <a:extLst>
              <a:ext uri="{FF2B5EF4-FFF2-40B4-BE49-F238E27FC236}">
                <a16:creationId xmlns:a16="http://schemas.microsoft.com/office/drawing/2014/main" id="{5F5A43A3-3437-77DA-7CE6-43808F9940C8}"/>
              </a:ext>
            </a:extLst>
          </p:cNvPr>
          <p:cNvSpPr>
            <a:spLocks noChangeAspect="1"/>
          </p:cNvSpPr>
          <p:nvPr/>
        </p:nvSpPr>
        <p:spPr>
          <a:xfrm>
            <a:off x="4334999" y="4818808"/>
            <a:ext cx="564874" cy="1568085"/>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连接符: 曲线 65">
            <a:extLst>
              <a:ext uri="{FF2B5EF4-FFF2-40B4-BE49-F238E27FC236}">
                <a16:creationId xmlns:a16="http://schemas.microsoft.com/office/drawing/2014/main" id="{C3FE3599-4E94-7181-52C4-03B22B43BFF7}"/>
              </a:ext>
            </a:extLst>
          </p:cNvPr>
          <p:cNvCxnSpPr>
            <a:cxnSpLocks noChangeAspect="1"/>
            <a:stCxn id="50" idx="3"/>
            <a:endCxn id="54" idx="1"/>
          </p:cNvCxnSpPr>
          <p:nvPr/>
        </p:nvCxnSpPr>
        <p:spPr>
          <a:xfrm>
            <a:off x="4798767" y="5069660"/>
            <a:ext cx="787907" cy="544758"/>
          </a:xfrm>
          <a:prstGeom prst="curvedConnector3">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67" name="直接箭头连接符 66">
            <a:extLst>
              <a:ext uri="{FF2B5EF4-FFF2-40B4-BE49-F238E27FC236}">
                <a16:creationId xmlns:a16="http://schemas.microsoft.com/office/drawing/2014/main" id="{FAA590BF-5C69-3677-377A-5C2C21F3DF79}"/>
              </a:ext>
            </a:extLst>
          </p:cNvPr>
          <p:cNvCxnSpPr>
            <a:cxnSpLocks/>
            <a:endCxn id="50" idx="1"/>
          </p:cNvCxnSpPr>
          <p:nvPr/>
        </p:nvCxnSpPr>
        <p:spPr>
          <a:xfrm>
            <a:off x="3870970" y="5069660"/>
            <a:ext cx="56336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68" name="文本框 67">
            <a:extLst>
              <a:ext uri="{FF2B5EF4-FFF2-40B4-BE49-F238E27FC236}">
                <a16:creationId xmlns:a16="http://schemas.microsoft.com/office/drawing/2014/main" id="{E6A74F5E-9CDA-98A5-60C6-7975F12F1965}"/>
              </a:ext>
            </a:extLst>
          </p:cNvPr>
          <p:cNvSpPr txBox="1"/>
          <p:nvPr/>
        </p:nvSpPr>
        <p:spPr>
          <a:xfrm>
            <a:off x="2010586" y="4614698"/>
            <a:ext cx="1710618" cy="523220"/>
          </a:xfrm>
          <a:prstGeom prst="rect">
            <a:avLst/>
          </a:prstGeom>
          <a:noFill/>
        </p:spPr>
        <p:txBody>
          <a:bodyPr wrap="square" rtlCol="0">
            <a:spAutoFit/>
          </a:bodyPr>
          <a:lstStyle/>
          <a:p>
            <a:pPr algn="ctr"/>
            <a:r>
              <a:rPr lang="zh-CN" altLang="en-US" sz="1400" b="1">
                <a:solidFill>
                  <a:schemeClr val="accent6">
                    <a:lumMod val="75000"/>
                  </a:schemeClr>
                </a:solidFill>
              </a:rPr>
              <a:t>智能手表</a:t>
            </a:r>
            <a:r>
              <a:rPr lang="en-US" altLang="zh-CN" sz="1400" b="1">
                <a:solidFill>
                  <a:schemeClr val="accent6">
                    <a:lumMod val="75000"/>
                  </a:schemeClr>
                </a:solidFill>
              </a:rPr>
              <a:t>Siri</a:t>
            </a:r>
            <a:r>
              <a:rPr lang="zh-CN" altLang="en-US" sz="1400" b="1">
                <a:solidFill>
                  <a:schemeClr val="accent6">
                    <a:lumMod val="75000"/>
                  </a:schemeClr>
                </a:solidFill>
              </a:rPr>
              <a:t>应用的最优子模型</a:t>
            </a:r>
          </a:p>
        </p:txBody>
      </p:sp>
      <p:cxnSp>
        <p:nvCxnSpPr>
          <p:cNvPr id="69" name="直接箭头连接符 68">
            <a:extLst>
              <a:ext uri="{FF2B5EF4-FFF2-40B4-BE49-F238E27FC236}">
                <a16:creationId xmlns:a16="http://schemas.microsoft.com/office/drawing/2014/main" id="{D685068D-120B-67EF-058A-72D21FF1D7BE}"/>
              </a:ext>
            </a:extLst>
          </p:cNvPr>
          <p:cNvCxnSpPr>
            <a:cxnSpLocks noChangeAspect="1"/>
          </p:cNvCxnSpPr>
          <p:nvPr/>
        </p:nvCxnSpPr>
        <p:spPr>
          <a:xfrm>
            <a:off x="5945477" y="5556900"/>
            <a:ext cx="50561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连接符: 曲线 69">
            <a:extLst>
              <a:ext uri="{FF2B5EF4-FFF2-40B4-BE49-F238E27FC236}">
                <a16:creationId xmlns:a16="http://schemas.microsoft.com/office/drawing/2014/main" id="{0DEBEE3B-5512-3EB6-7F33-147859D7AC80}"/>
              </a:ext>
            </a:extLst>
          </p:cNvPr>
          <p:cNvCxnSpPr>
            <a:cxnSpLocks noChangeAspect="1"/>
            <a:stCxn id="57" idx="3"/>
            <a:endCxn id="61" idx="1"/>
          </p:cNvCxnSpPr>
          <p:nvPr/>
        </p:nvCxnSpPr>
        <p:spPr>
          <a:xfrm>
            <a:off x="8064950" y="5614416"/>
            <a:ext cx="568048" cy="542096"/>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71" name="连接符: 曲线 70">
            <a:extLst>
              <a:ext uri="{FF2B5EF4-FFF2-40B4-BE49-F238E27FC236}">
                <a16:creationId xmlns:a16="http://schemas.microsoft.com/office/drawing/2014/main" id="{8EE1B92E-85F9-6E7A-BD13-CD112A591E1D}"/>
              </a:ext>
            </a:extLst>
          </p:cNvPr>
          <p:cNvCxnSpPr>
            <a:cxnSpLocks noChangeAspect="1"/>
          </p:cNvCxnSpPr>
          <p:nvPr/>
        </p:nvCxnSpPr>
        <p:spPr>
          <a:xfrm>
            <a:off x="8997430" y="6156512"/>
            <a:ext cx="456365" cy="169272"/>
          </a:xfrm>
          <a:prstGeom prst="curved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sp>
        <p:nvSpPr>
          <p:cNvPr id="72" name="文本框 71">
            <a:extLst>
              <a:ext uri="{FF2B5EF4-FFF2-40B4-BE49-F238E27FC236}">
                <a16:creationId xmlns:a16="http://schemas.microsoft.com/office/drawing/2014/main" id="{4DD13A8D-7C07-9F56-9BDA-E9BA770B8A31}"/>
              </a:ext>
            </a:extLst>
          </p:cNvPr>
          <p:cNvSpPr txBox="1">
            <a:spLocks noChangeAspect="1"/>
          </p:cNvSpPr>
          <p:nvPr/>
        </p:nvSpPr>
        <p:spPr>
          <a:xfrm>
            <a:off x="6827377" y="5415927"/>
            <a:ext cx="668946" cy="254610"/>
          </a:xfrm>
          <a:prstGeom prst="rect">
            <a:avLst/>
          </a:prstGeom>
          <a:noFill/>
        </p:spPr>
        <p:txBody>
          <a:bodyPr wrap="square" rtlCol="0">
            <a:spAutoFit/>
          </a:bodyPr>
          <a:lstStyle/>
          <a:p>
            <a:r>
              <a:rPr lang="en-US" altLang="zh-CN"/>
              <a:t>… …</a:t>
            </a:r>
            <a:endParaRPr lang="zh-CN" altLang="en-US"/>
          </a:p>
        </p:txBody>
      </p:sp>
      <p:sp>
        <p:nvSpPr>
          <p:cNvPr id="73" name="文本框 72">
            <a:extLst>
              <a:ext uri="{FF2B5EF4-FFF2-40B4-BE49-F238E27FC236}">
                <a16:creationId xmlns:a16="http://schemas.microsoft.com/office/drawing/2014/main" id="{20172DCF-EBE0-62E6-D9B5-2D1F1FB7C961}"/>
              </a:ext>
            </a:extLst>
          </p:cNvPr>
          <p:cNvSpPr txBox="1"/>
          <p:nvPr/>
        </p:nvSpPr>
        <p:spPr>
          <a:xfrm>
            <a:off x="4246898" y="4447816"/>
            <a:ext cx="739305" cy="307777"/>
          </a:xfrm>
          <a:prstGeom prst="rect">
            <a:avLst/>
          </a:prstGeom>
          <a:noFill/>
        </p:spPr>
        <p:txBody>
          <a:bodyPr wrap="none" rtlCol="0">
            <a:spAutoFit/>
          </a:bodyPr>
          <a:lstStyle/>
          <a:p>
            <a:r>
              <a:rPr lang="en-US" altLang="zh-CN" sz="1400"/>
              <a:t>Layer 1</a:t>
            </a:r>
            <a:endParaRPr lang="zh-CN" altLang="en-US" sz="1400"/>
          </a:p>
        </p:txBody>
      </p:sp>
      <p:sp>
        <p:nvSpPr>
          <p:cNvPr id="78" name="文本框 77">
            <a:extLst>
              <a:ext uri="{FF2B5EF4-FFF2-40B4-BE49-F238E27FC236}">
                <a16:creationId xmlns:a16="http://schemas.microsoft.com/office/drawing/2014/main" id="{F17B9375-0B99-E736-470E-9734BE4066BF}"/>
              </a:ext>
            </a:extLst>
          </p:cNvPr>
          <p:cNvSpPr txBox="1"/>
          <p:nvPr/>
        </p:nvSpPr>
        <p:spPr>
          <a:xfrm>
            <a:off x="1953925" y="5770354"/>
            <a:ext cx="1830600" cy="523220"/>
          </a:xfrm>
          <a:prstGeom prst="rect">
            <a:avLst/>
          </a:prstGeom>
          <a:noFill/>
        </p:spPr>
        <p:txBody>
          <a:bodyPr wrap="square" rtlCol="0">
            <a:spAutoFit/>
          </a:bodyPr>
          <a:lstStyle/>
          <a:p>
            <a:pPr algn="ctr"/>
            <a:r>
              <a:rPr lang="zh-CN" altLang="en-US" sz="1400" b="1">
                <a:solidFill>
                  <a:srgbClr val="0070C0"/>
                </a:solidFill>
              </a:rPr>
              <a:t>智能手机</a:t>
            </a:r>
            <a:r>
              <a:rPr lang="en-US" altLang="zh-CN" sz="1400" b="1">
                <a:solidFill>
                  <a:srgbClr val="0070C0"/>
                </a:solidFill>
              </a:rPr>
              <a:t>Siri</a:t>
            </a:r>
            <a:r>
              <a:rPr lang="zh-CN" altLang="en-US" sz="1400" b="1">
                <a:solidFill>
                  <a:srgbClr val="0070C0"/>
                </a:solidFill>
              </a:rPr>
              <a:t>应用的最优子模型</a:t>
            </a:r>
          </a:p>
        </p:txBody>
      </p:sp>
      <p:pic>
        <p:nvPicPr>
          <p:cNvPr id="79" name="Picture 4" descr="Cell phone - Free technology icons">
            <a:extLst>
              <a:ext uri="{FF2B5EF4-FFF2-40B4-BE49-F238E27FC236}">
                <a16:creationId xmlns:a16="http://schemas.microsoft.com/office/drawing/2014/main" id="{37F2E02A-4BBC-C7F8-CCD8-8E43E67BF4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2126" y="6116587"/>
            <a:ext cx="446479" cy="446479"/>
          </a:xfrm>
          <a:prstGeom prst="rect">
            <a:avLst/>
          </a:prstGeom>
          <a:noFill/>
          <a:extLst>
            <a:ext uri="{909E8E84-426E-40DD-AFC4-6F175D3DCCD1}">
              <a14:hiddenFill xmlns:a14="http://schemas.microsoft.com/office/drawing/2010/main">
                <a:solidFill>
                  <a:srgbClr val="FFFFFF"/>
                </a:solidFill>
              </a14:hiddenFill>
            </a:ext>
          </a:extLst>
        </p:spPr>
      </p:pic>
      <p:cxnSp>
        <p:nvCxnSpPr>
          <p:cNvPr id="80" name="直接箭头连接符 79">
            <a:extLst>
              <a:ext uri="{FF2B5EF4-FFF2-40B4-BE49-F238E27FC236}">
                <a16:creationId xmlns:a16="http://schemas.microsoft.com/office/drawing/2014/main" id="{9D34E3B6-6B5F-90D5-C98F-BF801A2F3259}"/>
              </a:ext>
            </a:extLst>
          </p:cNvPr>
          <p:cNvCxnSpPr>
            <a:cxnSpLocks noChangeAspect="1"/>
          </p:cNvCxnSpPr>
          <p:nvPr/>
        </p:nvCxnSpPr>
        <p:spPr>
          <a:xfrm>
            <a:off x="3845513" y="6160192"/>
            <a:ext cx="564874"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连接符: 曲线 80">
            <a:extLst>
              <a:ext uri="{FF2B5EF4-FFF2-40B4-BE49-F238E27FC236}">
                <a16:creationId xmlns:a16="http://schemas.microsoft.com/office/drawing/2014/main" id="{0BC095B2-3E90-97F2-7A8B-F89D7B13A457}"/>
              </a:ext>
            </a:extLst>
          </p:cNvPr>
          <p:cNvCxnSpPr>
            <a:cxnSpLocks noChangeAspect="1"/>
            <a:stCxn id="52" idx="3"/>
            <a:endCxn id="54" idx="1"/>
          </p:cNvCxnSpPr>
          <p:nvPr/>
        </p:nvCxnSpPr>
        <p:spPr>
          <a:xfrm flipV="1">
            <a:off x="4798767" y="5614418"/>
            <a:ext cx="787907" cy="545774"/>
          </a:xfrm>
          <a:prstGeom prst="curved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7CAAACDE-E588-4825-12DD-9E7ED39D0FEE}"/>
              </a:ext>
            </a:extLst>
          </p:cNvPr>
          <p:cNvCxnSpPr>
            <a:cxnSpLocks noChangeAspect="1"/>
          </p:cNvCxnSpPr>
          <p:nvPr/>
        </p:nvCxnSpPr>
        <p:spPr>
          <a:xfrm>
            <a:off x="5947788" y="5705248"/>
            <a:ext cx="50561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3" name="连接符: 曲线 82">
            <a:extLst>
              <a:ext uri="{FF2B5EF4-FFF2-40B4-BE49-F238E27FC236}">
                <a16:creationId xmlns:a16="http://schemas.microsoft.com/office/drawing/2014/main" id="{C31F7B15-E96A-F25E-9919-B24F40A28F4C}"/>
              </a:ext>
            </a:extLst>
          </p:cNvPr>
          <p:cNvCxnSpPr>
            <a:cxnSpLocks noChangeAspect="1"/>
            <a:stCxn id="56" idx="3"/>
            <a:endCxn id="60" idx="1"/>
          </p:cNvCxnSpPr>
          <p:nvPr/>
        </p:nvCxnSpPr>
        <p:spPr>
          <a:xfrm>
            <a:off x="8066933" y="5069660"/>
            <a:ext cx="566065" cy="544756"/>
          </a:xfrm>
          <a:prstGeom prst="curved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连接符: 曲线 83">
            <a:extLst>
              <a:ext uri="{FF2B5EF4-FFF2-40B4-BE49-F238E27FC236}">
                <a16:creationId xmlns:a16="http://schemas.microsoft.com/office/drawing/2014/main" id="{5FE93F2E-4A40-9CB9-BE49-B5A8D068E690}"/>
              </a:ext>
            </a:extLst>
          </p:cNvPr>
          <p:cNvCxnSpPr>
            <a:cxnSpLocks noChangeAspect="1"/>
          </p:cNvCxnSpPr>
          <p:nvPr/>
        </p:nvCxnSpPr>
        <p:spPr>
          <a:xfrm>
            <a:off x="8997430" y="5627452"/>
            <a:ext cx="456365" cy="169272"/>
          </a:xfrm>
          <a:prstGeom prst="curved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5" name="iconfont-10889-5203289">
            <a:extLst>
              <a:ext uri="{FF2B5EF4-FFF2-40B4-BE49-F238E27FC236}">
                <a16:creationId xmlns:a16="http://schemas.microsoft.com/office/drawing/2014/main" id="{1CB352B4-11F0-2B11-28F3-D0C69CBBD6B8}"/>
              </a:ext>
            </a:extLst>
          </p:cNvPr>
          <p:cNvSpPr/>
          <p:nvPr/>
        </p:nvSpPr>
        <p:spPr>
          <a:xfrm>
            <a:off x="3337961" y="4975022"/>
            <a:ext cx="387429" cy="514183"/>
          </a:xfrm>
          <a:custGeom>
            <a:avLst/>
            <a:gdLst>
              <a:gd name="T0" fmla="*/ 2328 w 6984"/>
              <a:gd name="T1" fmla="*/ 773 h 9270"/>
              <a:gd name="T2" fmla="*/ 1940 w 6984"/>
              <a:gd name="T3" fmla="*/ 1159 h 9270"/>
              <a:gd name="T4" fmla="*/ 3492 w 6984"/>
              <a:gd name="T5" fmla="*/ 1159 h 9270"/>
              <a:gd name="T6" fmla="*/ 5043 w 6984"/>
              <a:gd name="T7" fmla="*/ 1159 h 9270"/>
              <a:gd name="T8" fmla="*/ 4655 w 6984"/>
              <a:gd name="T9" fmla="*/ 773 h 9270"/>
              <a:gd name="T10" fmla="*/ 3492 w 6984"/>
              <a:gd name="T11" fmla="*/ 2704 h 9270"/>
              <a:gd name="T12" fmla="*/ 3880 w 6984"/>
              <a:gd name="T13" fmla="*/ 3090 h 9270"/>
              <a:gd name="T14" fmla="*/ 4544 w 6984"/>
              <a:gd name="T15" fmla="*/ 5133 h 9270"/>
              <a:gd name="T16" fmla="*/ 4544 w 6984"/>
              <a:gd name="T17" fmla="*/ 5682 h 9270"/>
              <a:gd name="T18" fmla="*/ 3992 w 6984"/>
              <a:gd name="T19" fmla="*/ 5682 h 9270"/>
              <a:gd name="T20" fmla="*/ 3104 w 6984"/>
              <a:gd name="T21" fmla="*/ 4635 h 9270"/>
              <a:gd name="T22" fmla="*/ 3218 w 6984"/>
              <a:gd name="T23" fmla="*/ 2817 h 9270"/>
              <a:gd name="T24" fmla="*/ 3492 w 6984"/>
              <a:gd name="T25" fmla="*/ 2704 h 9270"/>
              <a:gd name="T26" fmla="*/ 2437 w 6984"/>
              <a:gd name="T27" fmla="*/ 2145 h 9270"/>
              <a:gd name="T28" fmla="*/ 992 w 6984"/>
              <a:gd name="T29" fmla="*/ 3585 h 9270"/>
              <a:gd name="T30" fmla="*/ 992 w 6984"/>
              <a:gd name="T31" fmla="*/ 5685 h 9270"/>
              <a:gd name="T32" fmla="*/ 2437 w 6984"/>
              <a:gd name="T33" fmla="*/ 7125 h 9270"/>
              <a:gd name="T34" fmla="*/ 4547 w 6984"/>
              <a:gd name="T35" fmla="*/ 7125 h 9270"/>
              <a:gd name="T36" fmla="*/ 5992 w 6984"/>
              <a:gd name="T37" fmla="*/ 5685 h 9270"/>
              <a:gd name="T38" fmla="*/ 5992 w 6984"/>
              <a:gd name="T39" fmla="*/ 3585 h 9270"/>
              <a:gd name="T40" fmla="*/ 4547 w 6984"/>
              <a:gd name="T41" fmla="*/ 2145 h 9270"/>
              <a:gd name="T42" fmla="*/ 5044 w 6984"/>
              <a:gd name="T43" fmla="*/ 8111 h 9270"/>
              <a:gd name="T44" fmla="*/ 3492 w 6984"/>
              <a:gd name="T45" fmla="*/ 8111 h 9270"/>
              <a:gd name="T46" fmla="*/ 1941 w 6984"/>
              <a:gd name="T47" fmla="*/ 8111 h 9270"/>
              <a:gd name="T48" fmla="*/ 2329 w 6984"/>
              <a:gd name="T49" fmla="*/ 8497 h 9270"/>
              <a:gd name="T50" fmla="*/ 4930 w 6984"/>
              <a:gd name="T51" fmla="*/ 8384 h 9270"/>
              <a:gd name="T52" fmla="*/ 2328 w 6984"/>
              <a:gd name="T53" fmla="*/ 0 h 9270"/>
              <a:gd name="T54" fmla="*/ 5479 w 6984"/>
              <a:gd name="T55" fmla="*/ 340 h 9270"/>
              <a:gd name="T56" fmla="*/ 5820 w 6984"/>
              <a:gd name="T57" fmla="*/ 2046 h 9270"/>
              <a:gd name="T58" fmla="*/ 6984 w 6984"/>
              <a:gd name="T59" fmla="*/ 4635 h 9270"/>
              <a:gd name="T60" fmla="*/ 5820 w 6984"/>
              <a:gd name="T61" fmla="*/ 7224 h 9270"/>
              <a:gd name="T62" fmla="*/ 5479 w 6984"/>
              <a:gd name="T63" fmla="*/ 8930 h 9270"/>
              <a:gd name="T64" fmla="*/ 2328 w 6984"/>
              <a:gd name="T65" fmla="*/ 9270 h 9270"/>
              <a:gd name="T66" fmla="*/ 1164 w 6984"/>
              <a:gd name="T67" fmla="*/ 8111 h 9270"/>
              <a:gd name="T68" fmla="*/ 310 w 6984"/>
              <a:gd name="T69" fmla="*/ 6066 h 9270"/>
              <a:gd name="T70" fmla="*/ 310 w 6984"/>
              <a:gd name="T71" fmla="*/ 3203 h 9270"/>
              <a:gd name="T72" fmla="*/ 1164 w 6984"/>
              <a:gd name="T73" fmla="*/ 1159 h 9270"/>
              <a:gd name="T74" fmla="*/ 2328 w 6984"/>
              <a:gd name="T75"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984" h="9270">
                <a:moveTo>
                  <a:pt x="4656" y="773"/>
                </a:moveTo>
                <a:lnTo>
                  <a:pt x="2328" y="773"/>
                </a:lnTo>
                <a:cubicBezTo>
                  <a:pt x="2221" y="773"/>
                  <a:pt x="2130" y="810"/>
                  <a:pt x="2054" y="886"/>
                </a:cubicBezTo>
                <a:cubicBezTo>
                  <a:pt x="1978" y="961"/>
                  <a:pt x="1940" y="1053"/>
                  <a:pt x="1940" y="1159"/>
                </a:cubicBezTo>
                <a:lnTo>
                  <a:pt x="1940" y="1521"/>
                </a:lnTo>
                <a:cubicBezTo>
                  <a:pt x="2425" y="1280"/>
                  <a:pt x="2942" y="1159"/>
                  <a:pt x="3492" y="1159"/>
                </a:cubicBezTo>
                <a:cubicBezTo>
                  <a:pt x="4041" y="1159"/>
                  <a:pt x="4559" y="1280"/>
                  <a:pt x="5043" y="1521"/>
                </a:cubicBezTo>
                <a:lnTo>
                  <a:pt x="5043" y="1159"/>
                </a:lnTo>
                <a:cubicBezTo>
                  <a:pt x="5043" y="1053"/>
                  <a:pt x="5005" y="961"/>
                  <a:pt x="4930" y="886"/>
                </a:cubicBezTo>
                <a:cubicBezTo>
                  <a:pt x="4853" y="810"/>
                  <a:pt x="4762" y="773"/>
                  <a:pt x="4655" y="773"/>
                </a:cubicBezTo>
                <a:lnTo>
                  <a:pt x="4656" y="773"/>
                </a:lnTo>
                <a:close/>
                <a:moveTo>
                  <a:pt x="3492" y="2704"/>
                </a:moveTo>
                <a:cubicBezTo>
                  <a:pt x="3599" y="2704"/>
                  <a:pt x="3690" y="2741"/>
                  <a:pt x="3767" y="2817"/>
                </a:cubicBezTo>
                <a:cubicBezTo>
                  <a:pt x="3842" y="2892"/>
                  <a:pt x="3880" y="2983"/>
                  <a:pt x="3880" y="3090"/>
                </a:cubicBezTo>
                <a:lnTo>
                  <a:pt x="3880" y="4475"/>
                </a:lnTo>
                <a:lnTo>
                  <a:pt x="4544" y="5133"/>
                </a:lnTo>
                <a:cubicBezTo>
                  <a:pt x="4618" y="5207"/>
                  <a:pt x="4656" y="5298"/>
                  <a:pt x="4656" y="5407"/>
                </a:cubicBezTo>
                <a:cubicBezTo>
                  <a:pt x="4656" y="5516"/>
                  <a:pt x="4618" y="5608"/>
                  <a:pt x="4544" y="5682"/>
                </a:cubicBezTo>
                <a:cubicBezTo>
                  <a:pt x="4469" y="5756"/>
                  <a:pt x="4377" y="5793"/>
                  <a:pt x="4268" y="5793"/>
                </a:cubicBezTo>
                <a:cubicBezTo>
                  <a:pt x="4159" y="5793"/>
                  <a:pt x="4067" y="5756"/>
                  <a:pt x="3992" y="5682"/>
                </a:cubicBezTo>
                <a:lnTo>
                  <a:pt x="3216" y="4909"/>
                </a:lnTo>
                <a:cubicBezTo>
                  <a:pt x="3141" y="4835"/>
                  <a:pt x="3104" y="4743"/>
                  <a:pt x="3104" y="4635"/>
                </a:cubicBezTo>
                <a:lnTo>
                  <a:pt x="3104" y="3090"/>
                </a:lnTo>
                <a:cubicBezTo>
                  <a:pt x="3104" y="2983"/>
                  <a:pt x="3142" y="2892"/>
                  <a:pt x="3218" y="2817"/>
                </a:cubicBezTo>
                <a:cubicBezTo>
                  <a:pt x="3294" y="2741"/>
                  <a:pt x="3385" y="2704"/>
                  <a:pt x="3492" y="2704"/>
                </a:cubicBezTo>
                <a:lnTo>
                  <a:pt x="3492" y="2704"/>
                </a:lnTo>
                <a:close/>
                <a:moveTo>
                  <a:pt x="3492" y="1931"/>
                </a:moveTo>
                <a:cubicBezTo>
                  <a:pt x="3124" y="1931"/>
                  <a:pt x="2773" y="2003"/>
                  <a:pt x="2437" y="2145"/>
                </a:cubicBezTo>
                <a:cubicBezTo>
                  <a:pt x="2102" y="2289"/>
                  <a:pt x="1813" y="2481"/>
                  <a:pt x="1571" y="2722"/>
                </a:cubicBezTo>
                <a:cubicBezTo>
                  <a:pt x="1328" y="2964"/>
                  <a:pt x="1135" y="3251"/>
                  <a:pt x="992" y="3585"/>
                </a:cubicBezTo>
                <a:cubicBezTo>
                  <a:pt x="848" y="3919"/>
                  <a:pt x="776" y="4269"/>
                  <a:pt x="776" y="4635"/>
                </a:cubicBezTo>
                <a:cubicBezTo>
                  <a:pt x="776" y="5001"/>
                  <a:pt x="848" y="5351"/>
                  <a:pt x="992" y="5685"/>
                </a:cubicBezTo>
                <a:cubicBezTo>
                  <a:pt x="1135" y="6019"/>
                  <a:pt x="1328" y="6306"/>
                  <a:pt x="1571" y="6548"/>
                </a:cubicBezTo>
                <a:cubicBezTo>
                  <a:pt x="1813" y="6789"/>
                  <a:pt x="2102" y="6981"/>
                  <a:pt x="2437" y="7125"/>
                </a:cubicBezTo>
                <a:cubicBezTo>
                  <a:pt x="2773" y="7267"/>
                  <a:pt x="3124" y="7339"/>
                  <a:pt x="3492" y="7339"/>
                </a:cubicBezTo>
                <a:cubicBezTo>
                  <a:pt x="3860" y="7339"/>
                  <a:pt x="4211" y="7267"/>
                  <a:pt x="4547" y="7125"/>
                </a:cubicBezTo>
                <a:cubicBezTo>
                  <a:pt x="4882" y="6981"/>
                  <a:pt x="5171" y="6789"/>
                  <a:pt x="5413" y="6548"/>
                </a:cubicBezTo>
                <a:cubicBezTo>
                  <a:pt x="5656" y="6306"/>
                  <a:pt x="5849" y="6019"/>
                  <a:pt x="5992" y="5685"/>
                </a:cubicBezTo>
                <a:cubicBezTo>
                  <a:pt x="6136" y="5351"/>
                  <a:pt x="6208" y="5001"/>
                  <a:pt x="6208" y="4635"/>
                </a:cubicBezTo>
                <a:cubicBezTo>
                  <a:pt x="6208" y="4269"/>
                  <a:pt x="6136" y="3919"/>
                  <a:pt x="5992" y="3585"/>
                </a:cubicBezTo>
                <a:cubicBezTo>
                  <a:pt x="5849" y="3251"/>
                  <a:pt x="5656" y="2964"/>
                  <a:pt x="5413" y="2722"/>
                </a:cubicBezTo>
                <a:cubicBezTo>
                  <a:pt x="5171" y="2481"/>
                  <a:pt x="4882" y="2289"/>
                  <a:pt x="4547" y="2145"/>
                </a:cubicBezTo>
                <a:cubicBezTo>
                  <a:pt x="4211" y="2003"/>
                  <a:pt x="3860" y="1931"/>
                  <a:pt x="3492" y="1931"/>
                </a:cubicBezTo>
                <a:close/>
                <a:moveTo>
                  <a:pt x="5044" y="8111"/>
                </a:moveTo>
                <a:lnTo>
                  <a:pt x="5044" y="7749"/>
                </a:lnTo>
                <a:cubicBezTo>
                  <a:pt x="4559" y="7990"/>
                  <a:pt x="4042" y="8111"/>
                  <a:pt x="3492" y="8111"/>
                </a:cubicBezTo>
                <a:cubicBezTo>
                  <a:pt x="2942" y="8111"/>
                  <a:pt x="2425" y="7990"/>
                  <a:pt x="1941" y="7749"/>
                </a:cubicBezTo>
                <a:lnTo>
                  <a:pt x="1941" y="8111"/>
                </a:lnTo>
                <a:cubicBezTo>
                  <a:pt x="1941" y="8217"/>
                  <a:pt x="1978" y="8308"/>
                  <a:pt x="2054" y="8384"/>
                </a:cubicBezTo>
                <a:cubicBezTo>
                  <a:pt x="2130" y="8459"/>
                  <a:pt x="2222" y="8497"/>
                  <a:pt x="2329" y="8497"/>
                </a:cubicBezTo>
                <a:lnTo>
                  <a:pt x="4656" y="8497"/>
                </a:lnTo>
                <a:cubicBezTo>
                  <a:pt x="4763" y="8497"/>
                  <a:pt x="4855" y="8459"/>
                  <a:pt x="4930" y="8384"/>
                </a:cubicBezTo>
                <a:cubicBezTo>
                  <a:pt x="5006" y="8308"/>
                  <a:pt x="5044" y="8217"/>
                  <a:pt x="5044" y="8111"/>
                </a:cubicBezTo>
                <a:close/>
                <a:moveTo>
                  <a:pt x="2328" y="0"/>
                </a:moveTo>
                <a:lnTo>
                  <a:pt x="4656" y="0"/>
                </a:lnTo>
                <a:cubicBezTo>
                  <a:pt x="4977" y="0"/>
                  <a:pt x="5251" y="113"/>
                  <a:pt x="5479" y="340"/>
                </a:cubicBezTo>
                <a:cubicBezTo>
                  <a:pt x="5706" y="566"/>
                  <a:pt x="5820" y="839"/>
                  <a:pt x="5820" y="1159"/>
                </a:cubicBezTo>
                <a:lnTo>
                  <a:pt x="5820" y="2046"/>
                </a:lnTo>
                <a:cubicBezTo>
                  <a:pt x="6183" y="2368"/>
                  <a:pt x="6468" y="2754"/>
                  <a:pt x="6674" y="3203"/>
                </a:cubicBezTo>
                <a:cubicBezTo>
                  <a:pt x="6880" y="3653"/>
                  <a:pt x="6984" y="4130"/>
                  <a:pt x="6984" y="4635"/>
                </a:cubicBezTo>
                <a:cubicBezTo>
                  <a:pt x="6984" y="5140"/>
                  <a:pt x="6880" y="5617"/>
                  <a:pt x="6674" y="6066"/>
                </a:cubicBezTo>
                <a:cubicBezTo>
                  <a:pt x="6468" y="6514"/>
                  <a:pt x="6183" y="6900"/>
                  <a:pt x="5820" y="7224"/>
                </a:cubicBezTo>
                <a:lnTo>
                  <a:pt x="5820" y="8111"/>
                </a:lnTo>
                <a:cubicBezTo>
                  <a:pt x="5820" y="8431"/>
                  <a:pt x="5706" y="8704"/>
                  <a:pt x="5479" y="8930"/>
                </a:cubicBezTo>
                <a:cubicBezTo>
                  <a:pt x="5251" y="9157"/>
                  <a:pt x="4977" y="9270"/>
                  <a:pt x="4656" y="9270"/>
                </a:cubicBezTo>
                <a:lnTo>
                  <a:pt x="2328" y="9270"/>
                </a:lnTo>
                <a:cubicBezTo>
                  <a:pt x="2007" y="9270"/>
                  <a:pt x="1733" y="9157"/>
                  <a:pt x="1506" y="8930"/>
                </a:cubicBezTo>
                <a:cubicBezTo>
                  <a:pt x="1278" y="8704"/>
                  <a:pt x="1164" y="8431"/>
                  <a:pt x="1164" y="8111"/>
                </a:cubicBezTo>
                <a:lnTo>
                  <a:pt x="1164" y="7224"/>
                </a:lnTo>
                <a:cubicBezTo>
                  <a:pt x="801" y="6900"/>
                  <a:pt x="516" y="6514"/>
                  <a:pt x="310" y="6066"/>
                </a:cubicBezTo>
                <a:cubicBezTo>
                  <a:pt x="104" y="5617"/>
                  <a:pt x="0" y="5140"/>
                  <a:pt x="0" y="4635"/>
                </a:cubicBezTo>
                <a:cubicBezTo>
                  <a:pt x="0" y="4130"/>
                  <a:pt x="104" y="3653"/>
                  <a:pt x="310" y="3203"/>
                </a:cubicBezTo>
                <a:cubicBezTo>
                  <a:pt x="516" y="2754"/>
                  <a:pt x="801" y="2368"/>
                  <a:pt x="1164" y="2046"/>
                </a:cubicBezTo>
                <a:lnTo>
                  <a:pt x="1164" y="1159"/>
                </a:lnTo>
                <a:cubicBezTo>
                  <a:pt x="1164" y="839"/>
                  <a:pt x="1278" y="566"/>
                  <a:pt x="1506" y="340"/>
                </a:cubicBezTo>
                <a:cubicBezTo>
                  <a:pt x="1733" y="113"/>
                  <a:pt x="2007" y="0"/>
                  <a:pt x="2328" y="0"/>
                </a:cubicBezTo>
                <a:close/>
              </a:path>
            </a:pathLst>
          </a:cu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矩形: 圆角 61">
            <a:extLst>
              <a:ext uri="{FF2B5EF4-FFF2-40B4-BE49-F238E27FC236}">
                <a16:creationId xmlns:a16="http://schemas.microsoft.com/office/drawing/2014/main" id="{D414CEA8-3A04-E466-1C4F-6181D6BB4F10}"/>
              </a:ext>
            </a:extLst>
          </p:cNvPr>
          <p:cNvSpPr>
            <a:spLocks noChangeAspect="1"/>
          </p:cNvSpPr>
          <p:nvPr/>
        </p:nvSpPr>
        <p:spPr>
          <a:xfrm>
            <a:off x="5481900" y="4820925"/>
            <a:ext cx="564874" cy="1568085"/>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947271C-93D4-6ECD-7252-24E93D9732B9}"/>
              </a:ext>
            </a:extLst>
          </p:cNvPr>
          <p:cNvSpPr txBox="1"/>
          <p:nvPr/>
        </p:nvSpPr>
        <p:spPr>
          <a:xfrm>
            <a:off x="5382648" y="4449933"/>
            <a:ext cx="739305" cy="307777"/>
          </a:xfrm>
          <a:prstGeom prst="rect">
            <a:avLst/>
          </a:prstGeom>
          <a:noFill/>
        </p:spPr>
        <p:txBody>
          <a:bodyPr wrap="none" rtlCol="0">
            <a:spAutoFit/>
          </a:bodyPr>
          <a:lstStyle/>
          <a:p>
            <a:r>
              <a:rPr lang="en-US" altLang="zh-CN" sz="1400"/>
              <a:t>Layer 2</a:t>
            </a:r>
            <a:endParaRPr lang="zh-CN" altLang="en-US" sz="1400"/>
          </a:p>
        </p:txBody>
      </p:sp>
      <p:sp>
        <p:nvSpPr>
          <p:cNvPr id="19" name="矩形: 圆角 61">
            <a:extLst>
              <a:ext uri="{FF2B5EF4-FFF2-40B4-BE49-F238E27FC236}">
                <a16:creationId xmlns:a16="http://schemas.microsoft.com/office/drawing/2014/main" id="{AB1734D6-4229-A6A2-E7A0-FFF606AC24D1}"/>
              </a:ext>
            </a:extLst>
          </p:cNvPr>
          <p:cNvSpPr>
            <a:spLocks noChangeAspect="1"/>
          </p:cNvSpPr>
          <p:nvPr/>
        </p:nvSpPr>
        <p:spPr>
          <a:xfrm>
            <a:off x="7603763" y="4824270"/>
            <a:ext cx="564874" cy="1568085"/>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824D020-840A-17B1-58BF-49602CD5492E}"/>
              </a:ext>
            </a:extLst>
          </p:cNvPr>
          <p:cNvSpPr txBox="1"/>
          <p:nvPr/>
        </p:nvSpPr>
        <p:spPr>
          <a:xfrm>
            <a:off x="7515662" y="4453278"/>
            <a:ext cx="795411" cy="307777"/>
          </a:xfrm>
          <a:prstGeom prst="rect">
            <a:avLst/>
          </a:prstGeom>
          <a:noFill/>
        </p:spPr>
        <p:txBody>
          <a:bodyPr wrap="none" rtlCol="0">
            <a:spAutoFit/>
          </a:bodyPr>
          <a:lstStyle/>
          <a:p>
            <a:r>
              <a:rPr lang="en-US" altLang="zh-CN" sz="1400"/>
              <a:t>Layer m</a:t>
            </a:r>
            <a:endParaRPr lang="zh-CN" altLang="en-US" sz="1400"/>
          </a:p>
        </p:txBody>
      </p:sp>
      <p:sp>
        <p:nvSpPr>
          <p:cNvPr id="21" name="矩形: 圆角 61">
            <a:extLst>
              <a:ext uri="{FF2B5EF4-FFF2-40B4-BE49-F238E27FC236}">
                <a16:creationId xmlns:a16="http://schemas.microsoft.com/office/drawing/2014/main" id="{2516D7D9-104D-098A-0811-AB1F918612E7}"/>
              </a:ext>
            </a:extLst>
          </p:cNvPr>
          <p:cNvSpPr>
            <a:spLocks noChangeAspect="1"/>
          </p:cNvSpPr>
          <p:nvPr/>
        </p:nvSpPr>
        <p:spPr>
          <a:xfrm>
            <a:off x="8521144" y="4824270"/>
            <a:ext cx="564874" cy="1568085"/>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2965374-56E4-C218-B4CE-746BBA29CBB8}"/>
              </a:ext>
            </a:extLst>
          </p:cNvPr>
          <p:cNvSpPr txBox="1"/>
          <p:nvPr/>
        </p:nvSpPr>
        <p:spPr>
          <a:xfrm>
            <a:off x="8332684" y="4453278"/>
            <a:ext cx="1010213" cy="307777"/>
          </a:xfrm>
          <a:prstGeom prst="rect">
            <a:avLst/>
          </a:prstGeom>
          <a:noFill/>
        </p:spPr>
        <p:txBody>
          <a:bodyPr wrap="none" rtlCol="0">
            <a:spAutoFit/>
          </a:bodyPr>
          <a:lstStyle/>
          <a:p>
            <a:r>
              <a:rPr lang="en-US" altLang="zh-CN" sz="1400"/>
              <a:t>Layer m+1</a:t>
            </a:r>
            <a:endParaRPr lang="zh-CN" altLang="en-US" sz="1400"/>
          </a:p>
        </p:txBody>
      </p:sp>
    </p:spTree>
    <p:extLst>
      <p:ext uri="{BB962C8B-B14F-4D97-AF65-F5344CB8AC3E}">
        <p14:creationId xmlns:p14="http://schemas.microsoft.com/office/powerpoint/2010/main" val="2674865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870CDB-58CB-4615-8DCB-D9018B21E280}"/>
              </a:ext>
            </a:extLst>
          </p:cNvPr>
          <p:cNvSpPr txBox="1"/>
          <p:nvPr/>
        </p:nvSpPr>
        <p:spPr>
          <a:xfrm>
            <a:off x="281015" y="88578"/>
            <a:ext cx="10905703" cy="707886"/>
          </a:xfrm>
          <a:prstGeom prst="rect">
            <a:avLst/>
          </a:prstGeom>
          <a:noFill/>
        </p:spPr>
        <p:txBody>
          <a:bodyPr wrap="square" rtlCol="0">
            <a:spAutoFit/>
          </a:bodyPr>
          <a:lstStyle/>
          <a:p>
            <a:pPr>
              <a:defRPr/>
            </a:pPr>
            <a:r>
              <a:rPr kumimoji="1" lang="zh-CN" altLang="en-US" sz="4000" b="1" dirty="0">
                <a:solidFill>
                  <a:srgbClr val="025F84"/>
                </a:solidFill>
                <a:ea typeface="PingFang SC Medium" panose="020B0400000000000000" pitchFamily="34" charset="-122"/>
              </a:rPr>
              <a:t>研究重点：高动态超网（超模型）四维并行</a:t>
            </a:r>
            <a:endParaRPr kumimoji="1" lang="en-US" altLang="zh-CN" sz="4000" b="1" dirty="0">
              <a:solidFill>
                <a:srgbClr val="025F84"/>
              </a:solidFill>
              <a:ea typeface="PingFang SC Medium" panose="020B0400000000000000" pitchFamily="34" charset="-122"/>
            </a:endParaRPr>
          </a:p>
        </p:txBody>
      </p:sp>
      <p:sp>
        <p:nvSpPr>
          <p:cNvPr id="4" name="内容占位符 2">
            <a:extLst>
              <a:ext uri="{FF2B5EF4-FFF2-40B4-BE49-F238E27FC236}">
                <a16:creationId xmlns:a16="http://schemas.microsoft.com/office/drawing/2014/main" id="{81F085B2-8123-1D5A-666E-8DE74C4A19D7}"/>
              </a:ext>
            </a:extLst>
          </p:cNvPr>
          <p:cNvSpPr>
            <a:spLocks noGrp="1"/>
          </p:cNvSpPr>
          <p:nvPr/>
        </p:nvSpPr>
        <p:spPr bwMode="auto">
          <a:xfrm>
            <a:off x="229482" y="1059214"/>
            <a:ext cx="11688054" cy="5218113"/>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lang="zh-CN" altLang="en-US" sz="1600" b="0">
                <a:solidFill>
                  <a:srgbClr val="015F84"/>
                </a:solidFill>
                <a:ea typeface="PingFang SC Medium" panose="020B0400000000000000"/>
              </a:rPr>
              <a:t>适用的新型大</a:t>
            </a:r>
            <a:r>
              <a:rPr lang="zh-CN" altLang="en-US" sz="1600" b="0" dirty="0">
                <a:solidFill>
                  <a:srgbClr val="015F84"/>
                </a:solidFill>
                <a:ea typeface="PingFang SC Medium" panose="020B0400000000000000"/>
              </a:rPr>
              <a:t>模型：腾讯混元</a:t>
            </a:r>
            <a:r>
              <a:rPr lang="en-US" altLang="zh-CN" sz="1600" b="0" dirty="0" err="1">
                <a:solidFill>
                  <a:srgbClr val="015F84"/>
                </a:solidFill>
                <a:ea typeface="PingFang SC Medium" panose="020B0400000000000000"/>
              </a:rPr>
              <a:t>Transformer+Mamba</a:t>
            </a:r>
            <a:r>
              <a:rPr lang="en-US" altLang="zh-CN" sz="1600" b="0" dirty="0">
                <a:solidFill>
                  <a:srgbClr val="015F84"/>
                </a:solidFill>
                <a:ea typeface="PingFang SC Medium" panose="020B0400000000000000"/>
              </a:rPr>
              <a:t>+</a:t>
            </a:r>
            <a:r>
              <a:rPr lang="zh-CN" altLang="en-US" sz="1600" b="0" dirty="0">
                <a:solidFill>
                  <a:srgbClr val="015F84"/>
                </a:solidFill>
                <a:ea typeface="PingFang SC Medium" panose="020B0400000000000000"/>
              </a:rPr>
              <a:t>线性</a:t>
            </a:r>
            <a:r>
              <a:rPr lang="en-US" altLang="zh-CN" sz="1600" b="0" dirty="0">
                <a:solidFill>
                  <a:srgbClr val="015F84"/>
                </a:solidFill>
                <a:ea typeface="PingFang SC Medium" panose="020B0400000000000000"/>
              </a:rPr>
              <a:t>Attention</a:t>
            </a:r>
            <a:r>
              <a:rPr lang="zh-CN" altLang="en-US" sz="1600" b="0" dirty="0">
                <a:solidFill>
                  <a:srgbClr val="015F84"/>
                </a:solidFill>
                <a:ea typeface="PingFang SC Medium" panose="020B0400000000000000"/>
              </a:rPr>
              <a:t>混合结构搜索</a:t>
            </a:r>
            <a:endParaRPr lang="en-US" altLang="zh-CN" sz="1600" b="0" dirty="0">
              <a:solidFill>
                <a:srgbClr val="015F84"/>
              </a:solidFill>
              <a:ea typeface="PingFang SC Medium" panose="020B0400000000000000"/>
            </a:endParaRPr>
          </a:p>
          <a:p>
            <a:r>
              <a:rPr lang="zh-CN" altLang="en-US" sz="1600" b="0" dirty="0">
                <a:solidFill>
                  <a:srgbClr val="015F84"/>
                </a:solidFill>
                <a:ea typeface="PingFang SC Medium" panose="020B0400000000000000"/>
              </a:rPr>
              <a:t>提出“超模型</a:t>
            </a:r>
            <a:r>
              <a:rPr lang="en-US" altLang="zh-CN" sz="1600" b="0" dirty="0">
                <a:solidFill>
                  <a:srgbClr val="015F84"/>
                </a:solidFill>
                <a:ea typeface="PingFang SC Medium" panose="020B0400000000000000"/>
              </a:rPr>
              <a:t>-</a:t>
            </a:r>
            <a:r>
              <a:rPr lang="zh-CN" altLang="en-US" sz="1600" b="0" dirty="0">
                <a:solidFill>
                  <a:srgbClr val="015F84"/>
                </a:solidFill>
                <a:ea typeface="PingFang SC Medium" panose="020B0400000000000000"/>
              </a:rPr>
              <a:t>子模型并行”为新的并行维度，设计支持多子模型并行搜索、训练的训练系统</a:t>
            </a:r>
            <a:endParaRPr lang="en-US" altLang="zh-CN" sz="1600" b="0" dirty="0">
              <a:solidFill>
                <a:srgbClr val="015F84"/>
              </a:solidFill>
              <a:ea typeface="PingFang SC Medium" panose="020B0400000000000000"/>
            </a:endParaRPr>
          </a:p>
          <a:p>
            <a:r>
              <a:rPr lang="zh-CN" altLang="en-US" sz="1600" b="0" dirty="0">
                <a:solidFill>
                  <a:srgbClr val="015F84"/>
                </a:solidFill>
                <a:ea typeface="PingFang SC Medium" panose="020B0400000000000000"/>
              </a:rPr>
              <a:t>以第一个研究重点的成果为基础，研究支持多个子模型在三维流水线调度、摆放的多子模型并行调度算法</a:t>
            </a:r>
            <a:endParaRPr lang="en-US" altLang="zh-CN" sz="1600" b="0" dirty="0">
              <a:solidFill>
                <a:srgbClr val="015F84"/>
              </a:solidFill>
              <a:ea typeface="PingFang SC Medium" panose="020B0400000000000000"/>
            </a:endParaRPr>
          </a:p>
          <a:p>
            <a:r>
              <a:rPr lang="zh-CN" altLang="en-US" sz="1600" b="0" dirty="0">
                <a:solidFill>
                  <a:srgbClr val="015F84"/>
                </a:solidFill>
                <a:ea typeface="PingFang SC Medium" panose="020B0400000000000000"/>
              </a:rPr>
              <a:t>可消除多子模型被激活、训练时，它们的一些</a:t>
            </a:r>
            <a:r>
              <a:rPr lang="zh-CN" altLang="en-US" sz="1600" dirty="0">
                <a:solidFill>
                  <a:srgbClr val="015F84"/>
                </a:solidFill>
                <a:ea typeface="PingFang SC Medium" panose="020B0400000000000000"/>
              </a:rPr>
              <a:t>共享运算符相互干涉</a:t>
            </a:r>
            <a:r>
              <a:rPr lang="zh-CN" altLang="en-US" sz="1600" b="0" dirty="0">
                <a:solidFill>
                  <a:srgbClr val="015F84"/>
                </a:solidFill>
                <a:ea typeface="PingFang SC Medium" panose="020B0400000000000000"/>
              </a:rPr>
              <a:t>的四维并行确定性调度算法</a:t>
            </a:r>
            <a:endParaRPr lang="en-US" altLang="zh-CN" sz="1600" b="0" dirty="0">
              <a:solidFill>
                <a:srgbClr val="015F84"/>
              </a:solidFill>
              <a:ea typeface="PingFang SC Medium" panose="020B0400000000000000"/>
            </a:endParaRPr>
          </a:p>
          <a:p>
            <a:pPr lvl="1"/>
            <a:r>
              <a:rPr lang="zh-CN" altLang="en-US" sz="1400" dirty="0">
                <a:solidFill>
                  <a:srgbClr val="015F84"/>
                </a:solidFill>
                <a:ea typeface="PingFang SC Medium" panose="020B0400000000000000"/>
              </a:rPr>
              <a:t>记录和存储训练生成的优质子模型，以及该子模型和其他子模型共享运算符和多种质量（如推理延迟、</a:t>
            </a:r>
            <a:r>
              <a:rPr lang="en-US" altLang="zh-CN" sz="1400" dirty="0">
                <a:solidFill>
                  <a:srgbClr val="015F84"/>
                </a:solidFill>
                <a:ea typeface="PingFang SC Medium" panose="020B0400000000000000"/>
              </a:rPr>
              <a:t>IOT</a:t>
            </a:r>
            <a:r>
              <a:rPr lang="zh-CN" altLang="en-US" sz="1400" dirty="0">
                <a:solidFill>
                  <a:srgbClr val="015F84"/>
                </a:solidFill>
                <a:ea typeface="PingFang SC Medium" panose="020B0400000000000000"/>
              </a:rPr>
              <a:t>设备内存占用、精度）的</a:t>
            </a:r>
            <a:r>
              <a:rPr lang="zh-CN" altLang="en-US" sz="1400" b="0" dirty="0">
                <a:solidFill>
                  <a:srgbClr val="015F84"/>
                </a:solidFill>
                <a:ea typeface="PingFang SC Medium" panose="020B0400000000000000"/>
              </a:rPr>
              <a:t>相互干涉</a:t>
            </a:r>
            <a:endParaRPr lang="en-US" altLang="zh-CN" sz="1400" b="0" dirty="0">
              <a:solidFill>
                <a:srgbClr val="015F84"/>
              </a:solidFill>
              <a:ea typeface="PingFang SC Medium" panose="020B0400000000000000"/>
            </a:endParaRPr>
          </a:p>
          <a:p>
            <a:pPr lvl="1"/>
            <a:r>
              <a:rPr lang="zh-CN" altLang="en-US" sz="1400" dirty="0">
                <a:solidFill>
                  <a:srgbClr val="015F84"/>
                </a:solidFill>
                <a:ea typeface="PingFang SC Medium" panose="020B0400000000000000"/>
              </a:rPr>
              <a:t>初步研究工作，已发表在国际计算机体系结构会议</a:t>
            </a:r>
            <a:r>
              <a:rPr lang="en-US" altLang="zh-CN" sz="1400" dirty="0">
                <a:solidFill>
                  <a:srgbClr val="015F84"/>
                </a:solidFill>
                <a:ea typeface="PingFang SC Medium" panose="020B0400000000000000"/>
              </a:rPr>
              <a:t>[</a:t>
            </a:r>
            <a:r>
              <a:rPr lang="en-US" altLang="zh-CN" sz="1400" dirty="0" err="1">
                <a:solidFill>
                  <a:srgbClr val="015F84"/>
                </a:solidFill>
                <a:ea typeface="PingFang SC Medium" panose="020B0400000000000000"/>
              </a:rPr>
              <a:t>NASPipe</a:t>
            </a:r>
            <a:r>
              <a:rPr lang="en-US" altLang="zh-CN" sz="1400" dirty="0">
                <a:solidFill>
                  <a:srgbClr val="015F84"/>
                </a:solidFill>
                <a:ea typeface="PingFang SC Medium" panose="020B0400000000000000"/>
              </a:rPr>
              <a:t> ACM APLOS 2022]</a:t>
            </a:r>
            <a:r>
              <a:rPr lang="zh-CN" altLang="en-US" sz="1400" dirty="0">
                <a:solidFill>
                  <a:srgbClr val="015F84"/>
                </a:solidFill>
                <a:ea typeface="PingFang SC Medium" panose="020B0400000000000000"/>
              </a:rPr>
              <a:t>，</a:t>
            </a:r>
            <a:r>
              <a:rPr lang="en-US" altLang="zh-CN" sz="1400" dirty="0" err="1">
                <a:solidFill>
                  <a:srgbClr val="015F84"/>
                </a:solidFill>
                <a:ea typeface="PingFang SC Medium" panose="020B0400000000000000"/>
              </a:rPr>
              <a:t>NASPipe</a:t>
            </a:r>
            <a:r>
              <a:rPr lang="zh-CN" altLang="en-US" sz="1400" dirty="0">
                <a:solidFill>
                  <a:srgbClr val="015F84"/>
                </a:solidFill>
                <a:ea typeface="PingFang SC Medium" panose="020B0400000000000000"/>
              </a:rPr>
              <a:t>体系结构设计和初步实验结果，见本页下图</a:t>
            </a:r>
            <a:endParaRPr lang="en-US" altLang="zh-CN" sz="1400" dirty="0">
              <a:solidFill>
                <a:srgbClr val="015F84"/>
              </a:solidFill>
              <a:ea typeface="PingFang SC Medium" panose="020B0400000000000000"/>
            </a:endParaRPr>
          </a:p>
          <a:p>
            <a:r>
              <a:rPr lang="zh-CN" altLang="en-US" sz="1600" b="0" dirty="0">
                <a:solidFill>
                  <a:srgbClr val="015F84"/>
                </a:solidFill>
                <a:ea typeface="PingFang SC Medium" panose="020B0400000000000000"/>
              </a:rPr>
              <a:t>新设计“超模型</a:t>
            </a:r>
            <a:r>
              <a:rPr lang="en-US" altLang="zh-CN" sz="1600" b="0" dirty="0">
                <a:solidFill>
                  <a:srgbClr val="015F84"/>
                </a:solidFill>
                <a:ea typeface="PingFang SC Medium" panose="020B0400000000000000"/>
              </a:rPr>
              <a:t>-</a:t>
            </a:r>
            <a:r>
              <a:rPr lang="zh-CN" altLang="en-US" sz="1600" b="0" dirty="0">
                <a:solidFill>
                  <a:srgbClr val="015F84"/>
                </a:solidFill>
                <a:ea typeface="PingFang SC Medium" panose="020B0400000000000000"/>
              </a:rPr>
              <a:t>子模型”训练系统的流程，主要包含两项在国际范围内大模型训练系统领域首次提出的学术概念</a:t>
            </a:r>
            <a:endParaRPr lang="en-US" altLang="zh-CN" sz="1600" b="0" dirty="0">
              <a:solidFill>
                <a:srgbClr val="015F84"/>
              </a:solidFill>
              <a:ea typeface="PingFang SC Medium" panose="020B0400000000000000"/>
            </a:endParaRPr>
          </a:p>
          <a:p>
            <a:pPr lvl="1"/>
            <a:r>
              <a:rPr lang="zh-CN" altLang="en-US" sz="1400" b="0" dirty="0">
                <a:solidFill>
                  <a:srgbClr val="015F84"/>
                </a:solidFill>
                <a:ea typeface="PingFang SC Medium" panose="020B0400000000000000"/>
              </a:rPr>
              <a:t>训练和形成大型子模型存储池：记录大量优质、高精度子模型，以适合不同</a:t>
            </a:r>
            <a:r>
              <a:rPr lang="zh-CN" altLang="en-US" sz="1400" dirty="0">
                <a:solidFill>
                  <a:srgbClr val="015F84"/>
                </a:solidFill>
                <a:ea typeface="PingFang SC Medium" panose="020B0400000000000000"/>
              </a:rPr>
              <a:t>企业对子模型多种质量需求（如</a:t>
            </a:r>
            <a:r>
              <a:rPr lang="zh-CN" altLang="en-US" sz="1400" b="0" dirty="0">
                <a:solidFill>
                  <a:srgbClr val="015F84"/>
                </a:solidFill>
                <a:ea typeface="PingFang SC Medium" panose="020B0400000000000000"/>
              </a:rPr>
              <a:t>延迟、内存、精度和功耗）</a:t>
            </a:r>
            <a:endParaRPr lang="en-US" altLang="zh-CN" sz="1400" b="0" dirty="0">
              <a:solidFill>
                <a:srgbClr val="015F84"/>
              </a:solidFill>
              <a:ea typeface="PingFang SC Medium" panose="020B0400000000000000"/>
            </a:endParaRPr>
          </a:p>
          <a:p>
            <a:pPr lvl="1"/>
            <a:r>
              <a:rPr lang="zh-CN" altLang="en-US" sz="1400" b="0" dirty="0">
                <a:solidFill>
                  <a:srgbClr val="015F84"/>
                </a:solidFill>
                <a:ea typeface="PingFang SC Medium" panose="020B0400000000000000"/>
              </a:rPr>
              <a:t>研发适合广大中小企业和个人根据应用需求，对子模型池直接进行</a:t>
            </a:r>
            <a:r>
              <a:rPr lang="zh-CN" altLang="en-US" sz="1400" dirty="0">
                <a:solidFill>
                  <a:srgbClr val="015F84"/>
                </a:solidFill>
                <a:ea typeface="PingFang SC Medium" panose="020B0400000000000000"/>
              </a:rPr>
              <a:t>优质</a:t>
            </a:r>
            <a:r>
              <a:rPr lang="zh-CN" altLang="en-US" sz="1400" b="0" dirty="0">
                <a:solidFill>
                  <a:srgbClr val="015F84"/>
                </a:solidFill>
                <a:ea typeface="PingFang SC Medium" panose="020B0400000000000000"/>
              </a:rPr>
              <a:t>子模型高性能提取</a:t>
            </a:r>
            <a:r>
              <a:rPr lang="zh-CN" altLang="en-US" sz="1400" dirty="0">
                <a:solidFill>
                  <a:srgbClr val="015F84"/>
                </a:solidFill>
                <a:ea typeface="PingFang SC Medium" panose="020B0400000000000000"/>
              </a:rPr>
              <a:t>和</a:t>
            </a:r>
            <a:r>
              <a:rPr lang="zh-CN" altLang="en-US" sz="1400" b="0" dirty="0">
                <a:solidFill>
                  <a:srgbClr val="015F84"/>
                </a:solidFill>
                <a:ea typeface="PingFang SC Medium" panose="020B0400000000000000"/>
              </a:rPr>
              <a:t>测试的简易编程语言</a:t>
            </a:r>
            <a:endParaRPr lang="en-US" altLang="zh-CN" sz="1400" b="0" dirty="0">
              <a:solidFill>
                <a:srgbClr val="015F84"/>
              </a:solidFill>
              <a:ea typeface="PingFang SC Medium" panose="020B0400000000000000"/>
            </a:endParaRPr>
          </a:p>
          <a:p>
            <a:endParaRPr lang="en-US" altLang="zh-CN" sz="1600" b="0" dirty="0">
              <a:ea typeface="PingFang SC Medium" panose="020B0400000000000000"/>
            </a:endParaRPr>
          </a:p>
        </p:txBody>
      </p:sp>
      <p:pic>
        <p:nvPicPr>
          <p:cNvPr id="7" name="内容占位符 7">
            <a:extLst>
              <a:ext uri="{FF2B5EF4-FFF2-40B4-BE49-F238E27FC236}">
                <a16:creationId xmlns:a16="http://schemas.microsoft.com/office/drawing/2014/main" id="{C4FB06ED-0582-6E0C-BBFE-691C16895AC3}"/>
              </a:ext>
            </a:extLst>
          </p:cNvPr>
          <p:cNvPicPr>
            <a:picLocks noChangeAspect="1"/>
          </p:cNvPicPr>
          <p:nvPr/>
        </p:nvPicPr>
        <p:blipFill rotWithShape="1">
          <a:blip r:embed="rId3">
            <a:extLst>
              <a:ext uri="{28A0092B-C50C-407E-A947-70E740481C1C}">
                <a14:useLocalDpi xmlns:a14="http://schemas.microsoft.com/office/drawing/2010/main" val="0"/>
              </a:ext>
            </a:extLst>
          </a:blip>
          <a:srcRect t="81745"/>
          <a:stretch/>
        </p:blipFill>
        <p:spPr bwMode="auto">
          <a:xfrm>
            <a:off x="2016762" y="4874213"/>
            <a:ext cx="6113019" cy="1109420"/>
          </a:xfrm>
          <a:prstGeom prst="rect">
            <a:avLst/>
          </a:prstGeom>
          <a:noFill/>
          <a:ln w="9525">
            <a:noFill/>
            <a:miter lim="800000"/>
            <a:headEnd/>
            <a:tailEnd/>
          </a:ln>
        </p:spPr>
      </p:pic>
      <p:pic>
        <p:nvPicPr>
          <p:cNvPr id="8" name="内容占位符 7">
            <a:extLst>
              <a:ext uri="{FF2B5EF4-FFF2-40B4-BE49-F238E27FC236}">
                <a16:creationId xmlns:a16="http://schemas.microsoft.com/office/drawing/2014/main" id="{BF311158-74B6-12FD-C9B5-ABC7DFFEC3C3}"/>
              </a:ext>
            </a:extLst>
          </p:cNvPr>
          <p:cNvPicPr>
            <a:picLocks noChangeAspect="1"/>
          </p:cNvPicPr>
          <p:nvPr/>
        </p:nvPicPr>
        <p:blipFill rotWithShape="1">
          <a:blip r:embed="rId3">
            <a:extLst>
              <a:ext uri="{28A0092B-C50C-407E-A947-70E740481C1C}">
                <a14:useLocalDpi xmlns:a14="http://schemas.microsoft.com/office/drawing/2010/main" val="0"/>
              </a:ext>
            </a:extLst>
          </a:blip>
          <a:srcRect l="32868" t="-1" r="37002" b="71986"/>
          <a:stretch/>
        </p:blipFill>
        <p:spPr bwMode="auto">
          <a:xfrm>
            <a:off x="139871" y="4573279"/>
            <a:ext cx="2079618" cy="1922286"/>
          </a:xfrm>
          <a:prstGeom prst="rect">
            <a:avLst/>
          </a:prstGeom>
          <a:noFill/>
          <a:ln w="9525">
            <a:noFill/>
            <a:miter lim="800000"/>
            <a:headEnd/>
            <a:tailEnd/>
          </a:ln>
        </p:spPr>
      </p:pic>
      <p:pic>
        <p:nvPicPr>
          <p:cNvPr id="9" name="图片 8">
            <a:extLst>
              <a:ext uri="{FF2B5EF4-FFF2-40B4-BE49-F238E27FC236}">
                <a16:creationId xmlns:a16="http://schemas.microsoft.com/office/drawing/2014/main" id="{372CBD90-7B27-92FA-F4C4-7A9DDB0D83C1}"/>
              </a:ext>
            </a:extLst>
          </p:cNvPr>
          <p:cNvPicPr>
            <a:picLocks noChangeAspect="1"/>
          </p:cNvPicPr>
          <p:nvPr/>
        </p:nvPicPr>
        <p:blipFill rotWithShape="1">
          <a:blip r:embed="rId4"/>
          <a:srcRect b="26995"/>
          <a:stretch/>
        </p:blipFill>
        <p:spPr>
          <a:xfrm>
            <a:off x="7982991" y="4369537"/>
            <a:ext cx="3868139" cy="1730908"/>
          </a:xfrm>
          <a:prstGeom prst="rect">
            <a:avLst/>
          </a:prstGeom>
        </p:spPr>
      </p:pic>
      <p:sp>
        <p:nvSpPr>
          <p:cNvPr id="10" name="文本框 9">
            <a:extLst>
              <a:ext uri="{FF2B5EF4-FFF2-40B4-BE49-F238E27FC236}">
                <a16:creationId xmlns:a16="http://schemas.microsoft.com/office/drawing/2014/main" id="{ABABBE47-F9CC-8ED0-AF0C-16D9B019E72B}"/>
              </a:ext>
            </a:extLst>
          </p:cNvPr>
          <p:cNvSpPr txBox="1"/>
          <p:nvPr/>
        </p:nvSpPr>
        <p:spPr>
          <a:xfrm>
            <a:off x="8085743" y="6020686"/>
            <a:ext cx="3897745" cy="461665"/>
          </a:xfrm>
          <a:prstGeom prst="rect">
            <a:avLst/>
          </a:prstGeom>
          <a:noFill/>
        </p:spPr>
        <p:txBody>
          <a:bodyPr wrap="square" rtlCol="0">
            <a:spAutoFit/>
          </a:bodyPr>
          <a:lstStyle/>
          <a:p>
            <a:r>
              <a:rPr lang="zh-CN" altLang="en-US" sz="1200"/>
              <a:t>由于</a:t>
            </a:r>
            <a:r>
              <a:rPr lang="en-US" altLang="zh-CN" sz="1200" err="1"/>
              <a:t>NASPipe</a:t>
            </a:r>
            <a:r>
              <a:rPr lang="zh-CN" altLang="en-US" sz="1200"/>
              <a:t>可同时激活多个子模型并行训练，遍历子模型速度比国际最先进相关系统高数倍</a:t>
            </a:r>
          </a:p>
        </p:txBody>
      </p:sp>
      <p:sp>
        <p:nvSpPr>
          <p:cNvPr id="2" name="文本框 1">
            <a:extLst>
              <a:ext uri="{FF2B5EF4-FFF2-40B4-BE49-F238E27FC236}">
                <a16:creationId xmlns:a16="http://schemas.microsoft.com/office/drawing/2014/main" id="{E6E362D2-3FA5-CB86-4978-D93BA892B273}"/>
              </a:ext>
            </a:extLst>
          </p:cNvPr>
          <p:cNvSpPr txBox="1"/>
          <p:nvPr/>
        </p:nvSpPr>
        <p:spPr>
          <a:xfrm>
            <a:off x="802225" y="4293753"/>
            <a:ext cx="1082348" cy="307777"/>
          </a:xfrm>
          <a:prstGeom prst="rect">
            <a:avLst/>
          </a:prstGeom>
          <a:noFill/>
        </p:spPr>
        <p:txBody>
          <a:bodyPr wrap="none" rtlCol="0">
            <a:spAutoFit/>
          </a:bodyPr>
          <a:lstStyle/>
          <a:p>
            <a:r>
              <a:rPr lang="zh-CN" altLang="en-US" sz="1400">
                <a:latin typeface="PingFang SC"/>
              </a:rPr>
              <a:t>流水线阶段</a:t>
            </a:r>
          </a:p>
        </p:txBody>
      </p:sp>
      <p:sp>
        <p:nvSpPr>
          <p:cNvPr id="5" name="文本框 4">
            <a:extLst>
              <a:ext uri="{FF2B5EF4-FFF2-40B4-BE49-F238E27FC236}">
                <a16:creationId xmlns:a16="http://schemas.microsoft.com/office/drawing/2014/main" id="{9F4B8F94-93E8-043D-C702-1092614210FC}"/>
              </a:ext>
            </a:extLst>
          </p:cNvPr>
          <p:cNvSpPr txBox="1"/>
          <p:nvPr/>
        </p:nvSpPr>
        <p:spPr>
          <a:xfrm rot="5400000">
            <a:off x="-233000" y="5455890"/>
            <a:ext cx="878767" cy="307777"/>
          </a:xfrm>
          <a:prstGeom prst="rect">
            <a:avLst/>
          </a:prstGeom>
          <a:noFill/>
        </p:spPr>
        <p:txBody>
          <a:bodyPr wrap="none" rtlCol="0">
            <a:spAutoFit/>
          </a:bodyPr>
          <a:lstStyle/>
          <a:p>
            <a:r>
              <a:rPr lang="zh-CN" altLang="en-US" sz="1400">
                <a:latin typeface="PingFang SC"/>
              </a:rPr>
              <a:t>子模型</a:t>
            </a:r>
            <a:r>
              <a:rPr lang="en-US" altLang="zh-CN" sz="1400">
                <a:latin typeface="PingFang SC"/>
              </a:rPr>
              <a:t>ID</a:t>
            </a:r>
            <a:endParaRPr lang="zh-CN" altLang="en-US" sz="1400">
              <a:latin typeface="PingFang SC"/>
            </a:endParaRPr>
          </a:p>
        </p:txBody>
      </p:sp>
    </p:spTree>
    <p:extLst>
      <p:ext uri="{BB962C8B-B14F-4D97-AF65-F5344CB8AC3E}">
        <p14:creationId xmlns:p14="http://schemas.microsoft.com/office/powerpoint/2010/main" val="415906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E039-D1A5-264E-98E8-C1ED73A5D8A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6F2FDBC-D775-DECC-7FA1-E12FE9261341}"/>
              </a:ext>
            </a:extLst>
          </p:cNvPr>
          <p:cNvSpPr>
            <a:spLocks noGrp="1"/>
          </p:cNvSpPr>
          <p:nvPr>
            <p:ph type="sldNum" sz="quarter" idx="12"/>
          </p:nvPr>
        </p:nvSpPr>
        <p:spPr>
          <a:xfrm>
            <a:off x="9729216" y="6356350"/>
            <a:ext cx="1828800" cy="365125"/>
          </a:xfrm>
        </p:spPr>
        <p:txBody>
          <a:bodyPr vert="horz" lIns="91440" tIns="45720" rIns="91440" bIns="45720" rtlCol="0">
            <a:normAutofit/>
          </a:bodyPr>
          <a:lstStyle/>
          <a:p>
            <a:pPr>
              <a:spcAft>
                <a:spcPts val="600"/>
              </a:spcAft>
            </a:pPr>
            <a:fld id="{A7CD31F4-64FA-4BA0-9498-67783267A8C8}" type="slidenum">
              <a:rPr lang="en-US">
                <a:solidFill>
                  <a:schemeClr val="tx1"/>
                </a:solidFill>
              </a:rPr>
              <a:pPr>
                <a:spcAft>
                  <a:spcPts val="600"/>
                </a:spcAft>
              </a:pPr>
              <a:t>18</a:t>
            </a:fld>
            <a:endParaRPr lang="en-US">
              <a:solidFill>
                <a:schemeClr val="tx1"/>
              </a:solidFill>
            </a:endParaRPr>
          </a:p>
        </p:txBody>
      </p:sp>
      <p:sp>
        <p:nvSpPr>
          <p:cNvPr id="5" name="标题 4">
            <a:extLst>
              <a:ext uri="{FF2B5EF4-FFF2-40B4-BE49-F238E27FC236}">
                <a16:creationId xmlns:a16="http://schemas.microsoft.com/office/drawing/2014/main" id="{E6BE423D-2974-022B-011B-E1F11DE9DB21}"/>
              </a:ext>
            </a:extLst>
          </p:cNvPr>
          <p:cNvSpPr>
            <a:spLocks noGrp="1"/>
          </p:cNvSpPr>
          <p:nvPr>
            <p:ph type="title"/>
          </p:nvPr>
        </p:nvSpPr>
        <p:spPr/>
        <p:txBody>
          <a:bodyPr/>
          <a:lstStyle/>
          <a:p>
            <a:r>
              <a:rPr lang="zh-CN" altLang="en-US">
                <a:ea typeface="PingFang SC Medium"/>
              </a:rPr>
              <a:t>FoldMoE </a:t>
            </a:r>
            <a:r>
              <a:rPr lang="en-US" altLang="zh-CN">
                <a:ea typeface="PingFang SC Medium"/>
              </a:rPr>
              <a:t>[ACL’25]</a:t>
            </a:r>
            <a:endParaRPr lang="zh-CN" altLang="en-US"/>
          </a:p>
        </p:txBody>
      </p:sp>
      <p:sp>
        <p:nvSpPr>
          <p:cNvPr id="6" name="TextBox 5">
            <a:extLst>
              <a:ext uri="{FF2B5EF4-FFF2-40B4-BE49-F238E27FC236}">
                <a16:creationId xmlns:a16="http://schemas.microsoft.com/office/drawing/2014/main" id="{06E02AB1-E4BA-0704-7F81-F1F6C5603E7E}"/>
              </a:ext>
            </a:extLst>
          </p:cNvPr>
          <p:cNvSpPr txBox="1"/>
          <p:nvPr/>
        </p:nvSpPr>
        <p:spPr>
          <a:xfrm>
            <a:off x="346364" y="1126836"/>
            <a:ext cx="11212945" cy="1217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ct val="150000"/>
              </a:lnSpc>
              <a:buFont typeface=""/>
              <a:buChar char="•"/>
            </a:pPr>
            <a:r>
              <a:rPr lang="zh-CN" sz="1400" b="1" dirty="0">
                <a:solidFill>
                  <a:srgbClr val="015F84"/>
                </a:solidFill>
                <a:latin typeface="Arial"/>
                <a:ea typeface="等线"/>
                <a:cs typeface="Arial"/>
              </a:rPr>
              <a:t>挑战</a:t>
            </a:r>
            <a:r>
              <a:rPr lang="zh-CN" altLang="en-US" sz="1400" dirty="0">
                <a:solidFill>
                  <a:srgbClr val="015F84"/>
                </a:solidFill>
                <a:latin typeface="Arial"/>
                <a:ea typeface="等线"/>
                <a:cs typeface="Arial"/>
              </a:rPr>
              <a:t>：</a:t>
            </a:r>
            <a:r>
              <a:rPr lang="zh-CN" sz="1400" dirty="0">
                <a:solidFill>
                  <a:srgbClr val="015F84"/>
                </a:solidFill>
                <a:latin typeface="Arial"/>
                <a:ea typeface="等线"/>
                <a:cs typeface="Arial"/>
              </a:rPr>
              <a:t>模型</a:t>
            </a:r>
            <a:r>
              <a:rPr lang="zh-CN" altLang="en-US" sz="1400" dirty="0">
                <a:solidFill>
                  <a:srgbClr val="015F84"/>
                </a:solidFill>
                <a:latin typeface="Arial"/>
                <a:ea typeface="等线"/>
                <a:cs typeface="Arial"/>
              </a:rPr>
              <a:t>稀疏层分布式训练存在通信瓶颈</a:t>
            </a:r>
            <a:endParaRPr lang="en-US" altLang="zh-CN" sz="1400" dirty="0">
              <a:solidFill>
                <a:srgbClr val="000000"/>
              </a:solidFill>
              <a:latin typeface="等线" panose="02010600030101010101" pitchFamily="2" charset="-122"/>
              <a:ea typeface="等线" panose="02010600030101010101" pitchFamily="2" charset="-122"/>
              <a:cs typeface="Arial"/>
            </a:endParaRPr>
          </a:p>
          <a:p>
            <a:pPr marL="685800" lvl="1" indent="-228600">
              <a:lnSpc>
                <a:spcPct val="150000"/>
              </a:lnSpc>
              <a:buFont typeface="Courier New"/>
              <a:buChar char="o"/>
            </a:pPr>
            <a:r>
              <a:rPr lang="zh-CN" altLang="en-US" sz="1200" dirty="0">
                <a:solidFill>
                  <a:srgbClr val="015F84"/>
                </a:solidFill>
                <a:latin typeface="Arial"/>
                <a:ea typeface="等线"/>
                <a:cs typeface="Arial"/>
              </a:rPr>
              <a:t>通信耗时（</a:t>
            </a:r>
            <a:r>
              <a:rPr lang="zh-CN" altLang="en-US" sz="1200" dirty="0">
                <a:solidFill>
                  <a:srgbClr val="F7B570"/>
                </a:solidFill>
                <a:latin typeface="Arial"/>
                <a:ea typeface="等线"/>
                <a:cs typeface="Arial"/>
              </a:rPr>
              <a:t>橙</a:t>
            </a:r>
            <a:r>
              <a:rPr lang="zh-CN" altLang="en-US" sz="1200" dirty="0">
                <a:solidFill>
                  <a:srgbClr val="98D077"/>
                </a:solidFill>
                <a:latin typeface="Arial"/>
                <a:ea typeface="等线"/>
                <a:cs typeface="Arial"/>
              </a:rPr>
              <a:t>绿</a:t>
            </a:r>
            <a:r>
              <a:rPr lang="zh-CN" altLang="en-US" sz="1200" dirty="0">
                <a:solidFill>
                  <a:srgbClr val="015F84"/>
                </a:solidFill>
                <a:latin typeface="Arial"/>
                <a:ea typeface="等线"/>
                <a:cs typeface="Arial"/>
              </a:rPr>
              <a:t>色块），相比于计算耗时（浅蓝色块），随序列长度增长速率更快</a:t>
            </a:r>
            <a:endParaRPr lang="zh-CN" altLang="en-US" sz="1200" dirty="0">
              <a:solidFill>
                <a:srgbClr val="015F84"/>
              </a:solidFill>
              <a:latin typeface="Arial"/>
              <a:ea typeface="等线" panose="02010600030101010101" pitchFamily="2" charset="-122"/>
              <a:cs typeface="Arial"/>
            </a:endParaRPr>
          </a:p>
          <a:p>
            <a:pPr marL="685800" lvl="1" indent="-228600">
              <a:lnSpc>
                <a:spcPct val="150000"/>
              </a:lnSpc>
              <a:buFont typeface="Courier New"/>
              <a:buChar char="o"/>
            </a:pPr>
            <a:r>
              <a:rPr lang="zh-CN" altLang="en-US" sz="1200" dirty="0">
                <a:solidFill>
                  <a:srgbClr val="015F84"/>
                </a:solidFill>
                <a:latin typeface="Arial"/>
                <a:ea typeface="等线"/>
                <a:cs typeface="Arial"/>
              </a:rPr>
              <a:t>已有方案 </a:t>
            </a:r>
            <a:r>
              <a:rPr lang="zh-CN" sz="1200" dirty="0">
                <a:solidFill>
                  <a:srgbClr val="015F84"/>
                </a:solidFill>
                <a:latin typeface="Arial"/>
                <a:ea typeface="等线"/>
                <a:cs typeface="Arial"/>
              </a:rPr>
              <a:t>[Tutel</a:t>
            </a:r>
            <a:r>
              <a:rPr lang="en-US" altLang="zh-CN" sz="1200" dirty="0">
                <a:solidFill>
                  <a:srgbClr val="015F84"/>
                </a:solidFill>
                <a:latin typeface="Arial"/>
                <a:ea typeface="等线"/>
                <a:cs typeface="Arial"/>
              </a:rPr>
              <a:t>, MiniMax01</a:t>
            </a:r>
            <a:r>
              <a:rPr lang="zh-CN" sz="1200" dirty="0">
                <a:solidFill>
                  <a:srgbClr val="015F84"/>
                </a:solidFill>
                <a:latin typeface="Arial"/>
                <a:ea typeface="等线"/>
                <a:cs typeface="Arial"/>
              </a:rPr>
              <a:t>] </a:t>
            </a:r>
            <a:r>
              <a:rPr lang="zh-CN" altLang="en-US" sz="1200" dirty="0">
                <a:solidFill>
                  <a:srgbClr val="015F84"/>
                </a:solidFill>
                <a:latin typeface="Arial"/>
                <a:ea typeface="等线"/>
                <a:cs typeface="Arial"/>
              </a:rPr>
              <a:t>在</a:t>
            </a:r>
            <a:r>
              <a:rPr lang="zh-CN" sz="1200" dirty="0">
                <a:solidFill>
                  <a:srgbClr val="015F84"/>
                </a:solidFill>
                <a:latin typeface="Arial"/>
                <a:ea typeface="等线"/>
                <a:cs typeface="Arial"/>
              </a:rPr>
              <a:t>稀疏层内进行</a:t>
            </a:r>
            <a:r>
              <a:rPr lang="zh-CN" altLang="en-US" sz="1200" dirty="0">
                <a:solidFill>
                  <a:srgbClr val="015F84"/>
                </a:solidFill>
                <a:latin typeface="Arial"/>
                <a:ea typeface="等线"/>
                <a:cs typeface="Arial"/>
              </a:rPr>
              <a:t>词元级的</a:t>
            </a:r>
            <a:r>
              <a:rPr lang="zh-CN" sz="1200" dirty="0">
                <a:solidFill>
                  <a:srgbClr val="015F84"/>
                </a:solidFill>
                <a:latin typeface="Arial"/>
                <a:ea typeface="等线"/>
                <a:cs typeface="Arial"/>
              </a:rPr>
              <a:t>通信</a:t>
            </a:r>
            <a:r>
              <a:rPr lang="en-US" altLang="zh-CN" sz="1200" dirty="0">
                <a:solidFill>
                  <a:srgbClr val="015F84"/>
                </a:solidFill>
                <a:latin typeface="Arial"/>
                <a:ea typeface="等线"/>
                <a:cs typeface="Arial"/>
              </a:rPr>
              <a:t>-</a:t>
            </a:r>
            <a:r>
              <a:rPr lang="en-US" altLang="zh-CN" sz="1200" dirty="0" err="1">
                <a:solidFill>
                  <a:srgbClr val="015F84"/>
                </a:solidFill>
                <a:latin typeface="Arial"/>
                <a:ea typeface="等线"/>
                <a:cs typeface="Arial"/>
              </a:rPr>
              <a:t>计算并行</a:t>
            </a:r>
            <a:endParaRPr lang="zh-CN" altLang="en-US" sz="1200" dirty="0">
              <a:solidFill>
                <a:srgbClr val="000000"/>
              </a:solidFill>
              <a:latin typeface="等线" panose="020F0502020204030204"/>
              <a:ea typeface="等线"/>
              <a:cs typeface="Arial"/>
            </a:endParaRPr>
          </a:p>
          <a:p>
            <a:pPr marL="685800" lvl="1" indent="-228600">
              <a:lnSpc>
                <a:spcPct val="150000"/>
              </a:lnSpc>
              <a:buFont typeface="Courier New"/>
              <a:buChar char="o"/>
            </a:pPr>
            <a:r>
              <a:rPr lang="en-US" altLang="zh-CN" sz="1200" dirty="0" err="1">
                <a:solidFill>
                  <a:srgbClr val="015F84"/>
                </a:solidFill>
                <a:latin typeface="Arial"/>
                <a:ea typeface="等线"/>
                <a:cs typeface="Arial"/>
              </a:rPr>
              <a:t>稀疏的</a:t>
            </a:r>
            <a:r>
              <a:rPr lang="zh-CN" altLang="en-US" sz="1200" dirty="0">
                <a:solidFill>
                  <a:srgbClr val="015F84"/>
                </a:solidFill>
                <a:latin typeface="Arial"/>
                <a:ea typeface="等线"/>
                <a:cs typeface="Arial"/>
              </a:rPr>
              <a:t>计算量</a:t>
            </a:r>
            <a:r>
              <a:rPr lang="zh-CN" sz="1200" dirty="0">
                <a:solidFill>
                  <a:srgbClr val="015F84"/>
                </a:solidFill>
                <a:latin typeface="Arial"/>
                <a:ea typeface="等线"/>
                <a:cs typeface="Arial"/>
              </a:rPr>
              <a:t>不足以完全覆盖通信时间，</a:t>
            </a:r>
            <a:r>
              <a:rPr lang="zh-CN" altLang="en-US" sz="1200" dirty="0">
                <a:solidFill>
                  <a:srgbClr val="015F84"/>
                </a:solidFill>
                <a:latin typeface="Arial"/>
                <a:ea typeface="等线"/>
                <a:cs typeface="Arial"/>
              </a:rPr>
              <a:t>尤其在商用云场景下，形成通信瓶颈</a:t>
            </a:r>
          </a:p>
        </p:txBody>
      </p:sp>
      <p:sp>
        <p:nvSpPr>
          <p:cNvPr id="12" name="TextBox 11">
            <a:extLst>
              <a:ext uri="{FF2B5EF4-FFF2-40B4-BE49-F238E27FC236}">
                <a16:creationId xmlns:a16="http://schemas.microsoft.com/office/drawing/2014/main" id="{94D1B874-1B2D-F0D6-F240-FA62BDA87199}"/>
              </a:ext>
            </a:extLst>
          </p:cNvPr>
          <p:cNvSpPr txBox="1"/>
          <p:nvPr/>
        </p:nvSpPr>
        <p:spPr>
          <a:xfrm>
            <a:off x="346363" y="2465289"/>
            <a:ext cx="11212945" cy="1217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ct val="150000"/>
              </a:lnSpc>
              <a:buFont typeface="Arial"/>
              <a:buChar char="•"/>
            </a:pPr>
            <a:r>
              <a:rPr lang="en-US" altLang="zh-CN" sz="1400" b="1" dirty="0">
                <a:solidFill>
                  <a:srgbClr val="015F84"/>
                </a:solidFill>
                <a:latin typeface="Arial"/>
                <a:ea typeface="等线"/>
                <a:cs typeface="Arial"/>
              </a:rPr>
              <a:t>Idea</a:t>
            </a:r>
            <a:r>
              <a:rPr lang="zh-CN" sz="1400">
                <a:solidFill>
                  <a:srgbClr val="015F84"/>
                </a:solidFill>
                <a:latin typeface="Arial"/>
                <a:ea typeface="等线"/>
                <a:cs typeface="Arial"/>
              </a:rPr>
              <a:t>：</a:t>
            </a:r>
            <a:r>
              <a:rPr lang="zh-CN" altLang="en-US" sz="1400">
                <a:solidFill>
                  <a:srgbClr val="015F84"/>
                </a:solidFill>
                <a:latin typeface="Arial"/>
                <a:ea typeface="等线"/>
                <a:cs typeface="Arial"/>
              </a:rPr>
              <a:t>利用上游</a:t>
            </a:r>
            <a:r>
              <a:rPr lang="en-US" altLang="zh-CN" sz="1400" dirty="0">
                <a:solidFill>
                  <a:srgbClr val="015F84"/>
                </a:solidFill>
                <a:latin typeface="Arial"/>
                <a:ea typeface="等线"/>
                <a:cs typeface="Arial"/>
              </a:rPr>
              <a:t>Attention</a:t>
            </a:r>
            <a:r>
              <a:rPr lang="zh-CN" altLang="en-US" sz="1400">
                <a:solidFill>
                  <a:srgbClr val="015F84"/>
                </a:solidFill>
                <a:latin typeface="Arial"/>
                <a:ea typeface="等线"/>
                <a:cs typeface="Arial"/>
              </a:rPr>
              <a:t>计算（</a:t>
            </a:r>
            <a:r>
              <a:rPr lang="zh-CN" altLang="en-US" sz="1400">
                <a:solidFill>
                  <a:srgbClr val="FAAAAA"/>
                </a:solidFill>
                <a:latin typeface="Arial"/>
                <a:ea typeface="等线"/>
                <a:cs typeface="Arial"/>
              </a:rPr>
              <a:t>粉色</a:t>
            </a:r>
            <a:r>
              <a:rPr lang="zh-CN" altLang="en-US" sz="1400">
                <a:solidFill>
                  <a:srgbClr val="015F84"/>
                </a:solidFill>
                <a:latin typeface="Arial"/>
                <a:ea typeface="等线"/>
                <a:cs typeface="Arial"/>
              </a:rPr>
              <a:t>块）进行词元级别重叠</a:t>
            </a:r>
            <a:r>
              <a:rPr lang="zh-CN" sz="1400">
                <a:solidFill>
                  <a:srgbClr val="015F84"/>
                </a:solidFill>
                <a:latin typeface="Arial"/>
                <a:ea typeface="等线"/>
                <a:cs typeface="Arial"/>
              </a:rPr>
              <a:t>通信</a:t>
            </a:r>
            <a:endParaRPr lang="en-US" altLang="zh-CN" sz="1400" dirty="0">
              <a:solidFill>
                <a:srgbClr val="015F84"/>
              </a:solidFill>
              <a:latin typeface="Arial"/>
              <a:ea typeface="等线"/>
              <a:cs typeface="Arial"/>
            </a:endParaRPr>
          </a:p>
          <a:p>
            <a:pPr marL="685800" lvl="1" indent="-228600">
              <a:lnSpc>
                <a:spcPct val="150000"/>
              </a:lnSpc>
              <a:buFont typeface="Arial"/>
              <a:buChar char="•"/>
            </a:pPr>
            <a:r>
              <a:rPr lang="zh-CN" altLang="en-US" sz="1200">
                <a:solidFill>
                  <a:srgbClr val="015F84"/>
                </a:solidFill>
                <a:latin typeface="Arial"/>
                <a:ea typeface="等线"/>
                <a:cs typeface="Arial"/>
              </a:rPr>
              <a:t>词元级别重叠例子：“模型稀疏层分布式训练” 中 “[模][型][稀][疏][层]“的通信 和 “[分][布][式][训][练]“的计算重叠</a:t>
            </a:r>
            <a:endParaRPr lang="zh-CN" altLang="en-US" sz="1200" dirty="0">
              <a:solidFill>
                <a:srgbClr val="015F84"/>
              </a:solidFill>
              <a:latin typeface="Arial"/>
              <a:ea typeface="等线"/>
              <a:cs typeface="Arial"/>
            </a:endParaRPr>
          </a:p>
          <a:p>
            <a:pPr marL="685800" lvl="1" indent="-228600">
              <a:lnSpc>
                <a:spcPct val="150000"/>
              </a:lnSpc>
              <a:buFont typeface="Courier New,monospace"/>
              <a:buChar char="o"/>
            </a:pPr>
            <a:r>
              <a:rPr lang="zh-CN" sz="1200">
                <a:solidFill>
                  <a:srgbClr val="015F84"/>
                </a:solidFill>
                <a:latin typeface="Arial"/>
                <a:ea typeface="等线"/>
                <a:cs typeface="Arial"/>
              </a:rPr>
              <a:t>Strawman方案：直接利用Atte</a:t>
            </a:r>
            <a:r>
              <a:rPr lang="en-US" altLang="zh-CN" sz="1200" err="1">
                <a:solidFill>
                  <a:srgbClr val="015F84"/>
                </a:solidFill>
                <a:latin typeface="Arial"/>
                <a:ea typeface="等线"/>
                <a:cs typeface="Arial"/>
              </a:rPr>
              <a:t>ntion</a:t>
            </a:r>
            <a:r>
              <a:rPr lang="zh-CN" altLang="en-US" sz="1200">
                <a:solidFill>
                  <a:srgbClr val="015F84"/>
                </a:solidFill>
                <a:latin typeface="Arial"/>
                <a:ea typeface="等线"/>
                <a:cs typeface="Arial"/>
              </a:rPr>
              <a:t> 进行重叠，存在较大流水线气泡</a:t>
            </a:r>
            <a:endParaRPr lang="en-US" altLang="zh-CN" sz="1200">
              <a:solidFill>
                <a:srgbClr val="000000"/>
              </a:solidFill>
              <a:latin typeface="Arial"/>
              <a:ea typeface="等线"/>
              <a:cs typeface="Arial"/>
            </a:endParaRPr>
          </a:p>
          <a:p>
            <a:pPr marL="685800" lvl="1" indent="-228600">
              <a:lnSpc>
                <a:spcPct val="150000"/>
              </a:lnSpc>
              <a:buFont typeface="Courier New,monospace"/>
              <a:buChar char="o"/>
            </a:pPr>
            <a:r>
              <a:rPr lang="en-US" altLang="zh-CN" sz="1200" dirty="0">
                <a:solidFill>
                  <a:srgbClr val="015F84"/>
                </a:solidFill>
                <a:latin typeface="Arial"/>
                <a:ea typeface="等线"/>
                <a:cs typeface="Arial"/>
              </a:rPr>
              <a:t>1A1M</a:t>
            </a:r>
            <a:r>
              <a:rPr lang="zh-CN" altLang="en-US" sz="1200">
                <a:solidFill>
                  <a:srgbClr val="015F84"/>
                </a:solidFill>
                <a:latin typeface="Arial"/>
                <a:ea typeface="等线"/>
                <a:cs typeface="Arial"/>
              </a:rPr>
              <a:t>调度</a:t>
            </a:r>
            <a:r>
              <a:rPr lang="en-US" altLang="zh-CN" sz="1200" dirty="0">
                <a:solidFill>
                  <a:srgbClr val="015F84"/>
                </a:solidFill>
                <a:latin typeface="Arial"/>
                <a:ea typeface="等线"/>
                <a:cs typeface="Arial"/>
              </a:rPr>
              <a:t>+</a:t>
            </a:r>
            <a:r>
              <a:rPr lang="zh-CN" altLang="en-US" sz="1200">
                <a:solidFill>
                  <a:srgbClr val="015F84"/>
                </a:solidFill>
                <a:latin typeface="Arial"/>
                <a:ea typeface="等线"/>
                <a:cs typeface="Arial"/>
              </a:rPr>
              <a:t>均匀切分 </a:t>
            </a:r>
            <a:r>
              <a:rPr lang="en-US" altLang="zh-CN" sz="1200" dirty="0">
                <a:solidFill>
                  <a:srgbClr val="015F84"/>
                </a:solidFill>
                <a:latin typeface="Arial"/>
                <a:ea typeface="等线"/>
                <a:cs typeface="Arial"/>
              </a:rPr>
              <a:t>(Fo</a:t>
            </a:r>
            <a:r>
              <a:rPr lang="zh-CN" sz="1200">
                <a:solidFill>
                  <a:srgbClr val="015F84"/>
                </a:solidFill>
                <a:latin typeface="Arial"/>
                <a:ea typeface="等线"/>
                <a:cs typeface="Arial"/>
              </a:rPr>
              <a:t>l</a:t>
            </a:r>
            <a:r>
              <a:rPr lang="en-US" altLang="zh-CN" sz="1200" dirty="0">
                <a:solidFill>
                  <a:srgbClr val="015F84"/>
                </a:solidFill>
                <a:latin typeface="Arial"/>
                <a:ea typeface="等线"/>
                <a:cs typeface="Arial"/>
              </a:rPr>
              <a:t>d</a:t>
            </a:r>
            <a:r>
              <a:rPr lang="zh-CN" sz="1200">
                <a:solidFill>
                  <a:srgbClr val="015F84"/>
                </a:solidFill>
                <a:latin typeface="Arial"/>
                <a:ea typeface="等线"/>
                <a:cs typeface="Arial"/>
              </a:rPr>
              <a:t>M</a:t>
            </a:r>
            <a:r>
              <a:rPr lang="en-US" altLang="zh-CN" sz="1200" err="1">
                <a:solidFill>
                  <a:srgbClr val="015F84"/>
                </a:solidFill>
                <a:latin typeface="Arial"/>
                <a:ea typeface="等线"/>
                <a:cs typeface="Arial"/>
              </a:rPr>
              <a:t>oE</a:t>
            </a:r>
            <a:r>
              <a:rPr lang="en-US" altLang="zh-CN" sz="1200" dirty="0">
                <a:solidFill>
                  <a:srgbClr val="015F84"/>
                </a:solidFill>
                <a:latin typeface="Arial"/>
                <a:ea typeface="等线"/>
                <a:cs typeface="Arial"/>
              </a:rPr>
              <a:t>)</a:t>
            </a:r>
            <a:r>
              <a:rPr lang="zh-CN" altLang="en-US" sz="1200">
                <a:solidFill>
                  <a:srgbClr val="015F84"/>
                </a:solidFill>
                <a:latin typeface="Arial"/>
                <a:ea typeface="等线"/>
                <a:cs typeface="Arial"/>
              </a:rPr>
              <a:t>：交替进行两种计算</a:t>
            </a:r>
            <a:r>
              <a:rPr lang="zh-CN" sz="1200">
                <a:solidFill>
                  <a:srgbClr val="015F84"/>
                </a:solidFill>
                <a:latin typeface="Arial"/>
                <a:ea typeface="等线"/>
                <a:cs typeface="Arial"/>
              </a:rPr>
              <a:t>s</a:t>
            </a:r>
            <a:r>
              <a:rPr lang="en-US" altLang="zh-CN" sz="1200" err="1">
                <a:solidFill>
                  <a:srgbClr val="015F84"/>
                </a:solidFill>
                <a:latin typeface="Arial"/>
                <a:ea typeface="等线"/>
                <a:cs typeface="Arial"/>
              </a:rPr>
              <a:t>tage</a:t>
            </a:r>
            <a:r>
              <a:rPr lang="zh-CN" altLang="en-US" sz="1200">
                <a:solidFill>
                  <a:srgbClr val="015F84"/>
                </a:solidFill>
                <a:latin typeface="Arial"/>
                <a:ea typeface="等线"/>
                <a:cs typeface="Arial"/>
              </a:rPr>
              <a:t>，并对</a:t>
            </a:r>
            <a:r>
              <a:rPr lang="en-US" altLang="zh-CN" sz="1200" dirty="0">
                <a:solidFill>
                  <a:srgbClr val="015F84"/>
                </a:solidFill>
                <a:latin typeface="Arial"/>
                <a:ea typeface="等线"/>
                <a:cs typeface="Arial"/>
              </a:rPr>
              <a:t>attention</a:t>
            </a:r>
            <a:r>
              <a:rPr lang="zh-CN" sz="1200">
                <a:solidFill>
                  <a:srgbClr val="015F84"/>
                </a:solidFill>
                <a:latin typeface="Arial"/>
                <a:ea typeface="等线"/>
                <a:cs typeface="Arial"/>
              </a:rPr>
              <a:t>进行词元级均匀切分</a:t>
            </a:r>
            <a:endParaRPr lang="en-US" altLang="zh-CN" sz="1200">
              <a:solidFill>
                <a:srgbClr val="000000"/>
              </a:solidFill>
              <a:latin typeface="Arial"/>
              <a:ea typeface="等线"/>
              <a:cs typeface="Arial"/>
            </a:endParaRPr>
          </a:p>
        </p:txBody>
      </p:sp>
      <p:sp>
        <p:nvSpPr>
          <p:cNvPr id="13" name="TextBox 12">
            <a:extLst>
              <a:ext uri="{FF2B5EF4-FFF2-40B4-BE49-F238E27FC236}">
                <a16:creationId xmlns:a16="http://schemas.microsoft.com/office/drawing/2014/main" id="{D5E03E1C-E1F6-450D-9200-D6A81EFB0C5F}"/>
              </a:ext>
            </a:extLst>
          </p:cNvPr>
          <p:cNvSpPr txBox="1"/>
          <p:nvPr/>
        </p:nvSpPr>
        <p:spPr>
          <a:xfrm>
            <a:off x="315883" y="3723732"/>
            <a:ext cx="11243425" cy="381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ct val="150000"/>
              </a:lnSpc>
              <a:buFont typeface="Courier New,monospace"/>
              <a:buChar char="•"/>
            </a:pPr>
            <a:r>
              <a:rPr lang="zh-CN" altLang="en-US" sz="1400" b="1">
                <a:solidFill>
                  <a:srgbClr val="015F84"/>
                </a:solidFill>
                <a:latin typeface="Arial"/>
                <a:ea typeface="等线"/>
                <a:cs typeface="Arial"/>
              </a:rPr>
              <a:t>实</a:t>
            </a:r>
            <a:r>
              <a:rPr lang="zh-CN" sz="1400" b="1">
                <a:solidFill>
                  <a:srgbClr val="015F84"/>
                </a:solidFill>
                <a:latin typeface="Arial"/>
                <a:ea typeface="等线"/>
                <a:cs typeface="Arial"/>
              </a:rPr>
              <a:t>验结果</a:t>
            </a:r>
            <a:r>
              <a:rPr lang="zh-CN" sz="1200">
                <a:solidFill>
                  <a:srgbClr val="015F84"/>
                </a:solidFill>
                <a:latin typeface="Arial"/>
                <a:ea typeface="等线"/>
                <a:cs typeface="Arial"/>
              </a:rPr>
              <a:t>：在</a:t>
            </a:r>
            <a:r>
              <a:rPr lang="en-US" altLang="zh-CN" sz="1200" dirty="0">
                <a:solidFill>
                  <a:srgbClr val="015F84"/>
                </a:solidFill>
                <a:latin typeface="Arial"/>
                <a:ea typeface="等线"/>
                <a:cs typeface="Arial"/>
              </a:rPr>
              <a:t>GPT-</a:t>
            </a:r>
            <a:r>
              <a:rPr lang="en-US" altLang="zh-CN" sz="1200" dirty="0" err="1">
                <a:solidFill>
                  <a:srgbClr val="015F84"/>
                </a:solidFill>
                <a:latin typeface="Arial"/>
                <a:ea typeface="等线"/>
                <a:cs typeface="Arial"/>
              </a:rPr>
              <a:t>MoE</a:t>
            </a:r>
            <a:r>
              <a:rPr lang="zh-CN" altLang="en-US" sz="1200">
                <a:solidFill>
                  <a:srgbClr val="015F84"/>
                </a:solidFill>
                <a:latin typeface="Arial"/>
                <a:ea typeface="等线"/>
                <a:cs typeface="Arial"/>
              </a:rPr>
              <a:t>模</a:t>
            </a:r>
            <a:r>
              <a:rPr lang="zh-CN" sz="1200">
                <a:solidFill>
                  <a:srgbClr val="015F84"/>
                </a:solidFill>
                <a:latin typeface="Arial"/>
                <a:ea typeface="等线"/>
                <a:cs typeface="Arial"/>
              </a:rPr>
              <a:t>型上相比于现有词元级训练</a:t>
            </a:r>
            <a:r>
              <a:rPr lang="zh-CN" altLang="en-US" sz="1200">
                <a:solidFill>
                  <a:srgbClr val="015F84"/>
                </a:solidFill>
                <a:latin typeface="Arial"/>
                <a:ea typeface="等线"/>
                <a:cs typeface="Arial"/>
              </a:rPr>
              <a:t>系统</a:t>
            </a:r>
            <a:r>
              <a:rPr lang="zh-CN" sz="1200">
                <a:solidFill>
                  <a:srgbClr val="015F84"/>
                </a:solidFill>
                <a:latin typeface="Arial"/>
                <a:ea typeface="等线"/>
                <a:cs typeface="Arial"/>
              </a:rPr>
              <a:t> (T</a:t>
            </a:r>
            <a:r>
              <a:rPr lang="en-US" altLang="zh-CN" sz="1200" dirty="0">
                <a:solidFill>
                  <a:srgbClr val="015F84"/>
                </a:solidFill>
                <a:latin typeface="Arial"/>
                <a:ea typeface="等线"/>
                <a:cs typeface="Arial"/>
              </a:rPr>
              <a:t>u</a:t>
            </a:r>
            <a:r>
              <a:rPr lang="zh-CN" sz="1200">
                <a:solidFill>
                  <a:srgbClr val="015F84"/>
                </a:solidFill>
                <a:latin typeface="Arial"/>
                <a:ea typeface="等线"/>
                <a:cs typeface="Arial"/>
              </a:rPr>
              <a:t>tel</a:t>
            </a:r>
            <a:r>
              <a:rPr lang="en-US" altLang="zh-CN" sz="1200" dirty="0">
                <a:solidFill>
                  <a:srgbClr val="015F84"/>
                </a:solidFill>
                <a:latin typeface="Arial"/>
                <a:ea typeface="等线"/>
                <a:cs typeface="Arial"/>
              </a:rPr>
              <a:t>,</a:t>
            </a:r>
            <a:r>
              <a:rPr lang="zh-CN" altLang="en-US" sz="1200" dirty="0">
                <a:solidFill>
                  <a:srgbClr val="015F84"/>
                </a:solidFill>
                <a:latin typeface="Arial"/>
                <a:ea typeface="等线"/>
                <a:cs typeface="Arial"/>
              </a:rPr>
              <a:t> </a:t>
            </a:r>
            <a:r>
              <a:rPr lang="en-US" altLang="zh-CN" sz="1200" dirty="0" err="1">
                <a:solidFill>
                  <a:srgbClr val="015F84"/>
                </a:solidFill>
                <a:latin typeface="Arial"/>
                <a:ea typeface="等线"/>
                <a:cs typeface="Arial"/>
              </a:rPr>
              <a:t>MLSys</a:t>
            </a:r>
            <a:r>
              <a:rPr lang="zh-CN" altLang="en-US" sz="1200">
                <a:solidFill>
                  <a:srgbClr val="015F84"/>
                </a:solidFill>
                <a:latin typeface="Arial"/>
                <a:ea typeface="等线"/>
                <a:cs typeface="Arial"/>
              </a:rPr>
              <a:t>’</a:t>
            </a:r>
            <a:r>
              <a:rPr lang="en-US" altLang="zh-CN" sz="1200" dirty="0">
                <a:solidFill>
                  <a:srgbClr val="015F84"/>
                </a:solidFill>
                <a:latin typeface="Arial"/>
                <a:ea typeface="等线"/>
                <a:cs typeface="Arial"/>
              </a:rPr>
              <a:t>23)</a:t>
            </a:r>
            <a:r>
              <a:rPr lang="zh-CN" sz="1200">
                <a:solidFill>
                  <a:srgbClr val="015F84"/>
                </a:solidFill>
                <a:latin typeface="Arial"/>
                <a:ea typeface="等线"/>
                <a:cs typeface="Arial"/>
              </a:rPr>
              <a:t> 实现平均</a:t>
            </a:r>
            <a:r>
              <a:rPr lang="en-US" altLang="zh-CN" sz="1200" dirty="0">
                <a:solidFill>
                  <a:srgbClr val="015F84"/>
                </a:solidFill>
                <a:latin typeface="Arial"/>
                <a:ea typeface="等线"/>
                <a:cs typeface="Arial"/>
              </a:rPr>
              <a:t>1.84</a:t>
            </a:r>
            <a:r>
              <a:rPr lang="zh-CN" altLang="en-US" sz="1200">
                <a:solidFill>
                  <a:srgbClr val="015F84"/>
                </a:solidFill>
                <a:latin typeface="Arial"/>
                <a:ea typeface="等线"/>
                <a:cs typeface="Arial"/>
              </a:rPr>
              <a:t>倍加速</a:t>
            </a:r>
            <a:endParaRPr lang="zh-CN" altLang="en-US" sz="1200">
              <a:solidFill>
                <a:srgbClr val="000000"/>
              </a:solidFill>
              <a:latin typeface="Arial"/>
              <a:ea typeface="等线"/>
              <a:cs typeface="Arial"/>
            </a:endParaRPr>
          </a:p>
        </p:txBody>
      </p:sp>
      <p:grpSp>
        <p:nvGrpSpPr>
          <p:cNvPr id="19" name="Group 18">
            <a:extLst>
              <a:ext uri="{FF2B5EF4-FFF2-40B4-BE49-F238E27FC236}">
                <a16:creationId xmlns:a16="http://schemas.microsoft.com/office/drawing/2014/main" id="{9792CB64-E0C3-181B-30CC-44508E592788}"/>
              </a:ext>
            </a:extLst>
          </p:cNvPr>
          <p:cNvGrpSpPr/>
          <p:nvPr/>
        </p:nvGrpSpPr>
        <p:grpSpPr>
          <a:xfrm>
            <a:off x="637081" y="4312941"/>
            <a:ext cx="7657477" cy="2216029"/>
            <a:chOff x="637081" y="4138056"/>
            <a:chExt cx="7657477" cy="2216029"/>
          </a:xfrm>
        </p:grpSpPr>
        <p:pic>
          <p:nvPicPr>
            <p:cNvPr id="16" name="Picture 15">
              <a:extLst>
                <a:ext uri="{FF2B5EF4-FFF2-40B4-BE49-F238E27FC236}">
                  <a16:creationId xmlns:a16="http://schemas.microsoft.com/office/drawing/2014/main" id="{919299F1-C488-D6D7-6C41-617BC4B6C129}"/>
                </a:ext>
              </a:extLst>
            </p:cNvPr>
            <p:cNvPicPr>
              <a:picLocks noChangeAspect="1"/>
            </p:cNvPicPr>
            <p:nvPr/>
          </p:nvPicPr>
          <p:blipFill>
            <a:blip r:embed="rId3"/>
            <a:srcRect t="1695" b="14689"/>
            <a:stretch>
              <a:fillRect/>
            </a:stretch>
          </p:blipFill>
          <p:spPr>
            <a:xfrm>
              <a:off x="637082" y="4500319"/>
              <a:ext cx="7657476" cy="1853766"/>
            </a:xfrm>
            <a:prstGeom prst="rect">
              <a:avLst/>
            </a:prstGeom>
          </p:spPr>
        </p:pic>
        <p:pic>
          <p:nvPicPr>
            <p:cNvPr id="17" name="Picture 16">
              <a:extLst>
                <a:ext uri="{FF2B5EF4-FFF2-40B4-BE49-F238E27FC236}">
                  <a16:creationId xmlns:a16="http://schemas.microsoft.com/office/drawing/2014/main" id="{096FA9A6-E9C6-E9A5-997B-4CD2BEEB4020}"/>
                </a:ext>
              </a:extLst>
            </p:cNvPr>
            <p:cNvPicPr>
              <a:picLocks noChangeAspect="1"/>
            </p:cNvPicPr>
            <p:nvPr/>
          </p:nvPicPr>
          <p:blipFill>
            <a:blip r:embed="rId3"/>
            <a:srcRect t="84181" r="840" b="-565"/>
            <a:stretch>
              <a:fillRect/>
            </a:stretch>
          </p:blipFill>
          <p:spPr>
            <a:xfrm>
              <a:off x="637081" y="4138056"/>
              <a:ext cx="7593123" cy="363240"/>
            </a:xfrm>
            <a:prstGeom prst="rect">
              <a:avLst/>
            </a:prstGeom>
          </p:spPr>
        </p:pic>
      </p:grpSp>
      <p:grpSp>
        <p:nvGrpSpPr>
          <p:cNvPr id="2" name="Group 1">
            <a:extLst>
              <a:ext uri="{FF2B5EF4-FFF2-40B4-BE49-F238E27FC236}">
                <a16:creationId xmlns:a16="http://schemas.microsoft.com/office/drawing/2014/main" id="{AAF672C0-6EFA-7F51-CCB4-83874ADC7DFB}"/>
              </a:ext>
            </a:extLst>
          </p:cNvPr>
          <p:cNvGrpSpPr/>
          <p:nvPr/>
        </p:nvGrpSpPr>
        <p:grpSpPr>
          <a:xfrm>
            <a:off x="8467860" y="1082881"/>
            <a:ext cx="3285340" cy="5276252"/>
            <a:chOff x="9393835" y="947843"/>
            <a:chExt cx="3285340" cy="5276252"/>
          </a:xfrm>
        </p:grpSpPr>
        <p:pic>
          <p:nvPicPr>
            <p:cNvPr id="20" name="Picture 19">
              <a:extLst>
                <a:ext uri="{FF2B5EF4-FFF2-40B4-BE49-F238E27FC236}">
                  <a16:creationId xmlns:a16="http://schemas.microsoft.com/office/drawing/2014/main" id="{BE66181C-9BA4-91C6-1BED-924C8035873D}"/>
                </a:ext>
              </a:extLst>
            </p:cNvPr>
            <p:cNvPicPr>
              <a:picLocks noChangeAspect="1"/>
            </p:cNvPicPr>
            <p:nvPr/>
          </p:nvPicPr>
          <p:blipFill>
            <a:blip r:embed="rId4"/>
            <a:srcRect l="26173" r="26354" b="84516"/>
            <a:stretch>
              <a:fillRect/>
            </a:stretch>
          </p:blipFill>
          <p:spPr>
            <a:xfrm>
              <a:off x="9393835" y="947843"/>
              <a:ext cx="3285340" cy="298344"/>
            </a:xfrm>
            <a:prstGeom prst="rect">
              <a:avLst/>
            </a:prstGeom>
          </p:spPr>
        </p:pic>
        <p:pic>
          <p:nvPicPr>
            <p:cNvPr id="21" name="Picture 20">
              <a:extLst>
                <a:ext uri="{FF2B5EF4-FFF2-40B4-BE49-F238E27FC236}">
                  <a16:creationId xmlns:a16="http://schemas.microsoft.com/office/drawing/2014/main" id="{EB1FBA38-8E91-F2BA-5213-3FB5246E8E0F}"/>
                </a:ext>
              </a:extLst>
            </p:cNvPr>
            <p:cNvPicPr>
              <a:picLocks noChangeAspect="1"/>
            </p:cNvPicPr>
            <p:nvPr/>
          </p:nvPicPr>
          <p:blipFill>
            <a:blip r:embed="rId4"/>
            <a:srcRect t="14194" r="66967" b="645"/>
            <a:stretch>
              <a:fillRect/>
            </a:stretch>
          </p:blipFill>
          <p:spPr>
            <a:xfrm>
              <a:off x="9893506" y="1247646"/>
              <a:ext cx="2286002" cy="1640894"/>
            </a:xfrm>
            <a:prstGeom prst="rect">
              <a:avLst/>
            </a:prstGeom>
          </p:spPr>
        </p:pic>
        <p:pic>
          <p:nvPicPr>
            <p:cNvPr id="22" name="Picture 21">
              <a:extLst>
                <a:ext uri="{FF2B5EF4-FFF2-40B4-BE49-F238E27FC236}">
                  <a16:creationId xmlns:a16="http://schemas.microsoft.com/office/drawing/2014/main" id="{1C3623CC-FCD6-077C-F3E4-1271721626FA}"/>
                </a:ext>
              </a:extLst>
            </p:cNvPr>
            <p:cNvPicPr>
              <a:picLocks noChangeAspect="1"/>
            </p:cNvPicPr>
            <p:nvPr/>
          </p:nvPicPr>
          <p:blipFill>
            <a:blip r:embed="rId4"/>
            <a:srcRect l="33816" t="16883" r="33092"/>
            <a:stretch>
              <a:fillRect/>
            </a:stretch>
          </p:blipFill>
          <p:spPr>
            <a:xfrm>
              <a:off x="9893505" y="2934039"/>
              <a:ext cx="2290112" cy="1601507"/>
            </a:xfrm>
            <a:prstGeom prst="rect">
              <a:avLst/>
            </a:prstGeom>
          </p:spPr>
        </p:pic>
        <p:pic>
          <p:nvPicPr>
            <p:cNvPr id="23" name="Picture 22">
              <a:extLst>
                <a:ext uri="{FF2B5EF4-FFF2-40B4-BE49-F238E27FC236}">
                  <a16:creationId xmlns:a16="http://schemas.microsoft.com/office/drawing/2014/main" id="{F276BB3B-A315-5A6E-9CB0-F6C293B38784}"/>
                </a:ext>
              </a:extLst>
            </p:cNvPr>
            <p:cNvPicPr>
              <a:picLocks noChangeAspect="1"/>
            </p:cNvPicPr>
            <p:nvPr/>
          </p:nvPicPr>
          <p:blipFill>
            <a:blip r:embed="rId4"/>
            <a:srcRect l="66967" t="16774" b="645"/>
            <a:stretch>
              <a:fillRect/>
            </a:stretch>
          </p:blipFill>
          <p:spPr>
            <a:xfrm>
              <a:off x="9893506" y="4632924"/>
              <a:ext cx="2286002" cy="1591171"/>
            </a:xfrm>
            <a:prstGeom prst="rect">
              <a:avLst/>
            </a:prstGeom>
          </p:spPr>
        </p:pic>
      </p:grpSp>
      <p:sp>
        <p:nvSpPr>
          <p:cNvPr id="11" name="Rectangle 10">
            <a:extLst>
              <a:ext uri="{FF2B5EF4-FFF2-40B4-BE49-F238E27FC236}">
                <a16:creationId xmlns:a16="http://schemas.microsoft.com/office/drawing/2014/main" id="{EEE5608C-501C-415E-A5AB-2EF3344B0319}"/>
              </a:ext>
            </a:extLst>
          </p:cNvPr>
          <p:cNvSpPr/>
          <p:nvPr/>
        </p:nvSpPr>
        <p:spPr>
          <a:xfrm>
            <a:off x="163903" y="5488150"/>
            <a:ext cx="8304549" cy="7753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E7A22F3C-0613-2BC6-BDC5-3D1A25E5A6C8}"/>
              </a:ext>
            </a:extLst>
          </p:cNvPr>
          <p:cNvSpPr/>
          <p:nvPr/>
        </p:nvSpPr>
        <p:spPr>
          <a:xfrm>
            <a:off x="163903" y="5082326"/>
            <a:ext cx="8304549" cy="11812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167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0" presetClass="exit" presetSubtype="0" fill="hold" grpId="0" nodeType="with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childTnLst>
                                </p:cTn>
                              </p:par>
                              <p:par>
                                <p:cTn id="22" presetID="10" presetClass="exit" presetSubtype="0" fill="hold" grpId="0" nodeType="withEffect">
                                  <p:stCondLst>
                                    <p:cond delay="0"/>
                                  </p:stCondLst>
                                  <p:childTnLst>
                                    <p:animEffect transition="out" filter="fade">
                                      <p:cBhvr>
                                        <p:cTn id="23" dur="500"/>
                                        <p:tgtEl>
                                          <p:spTgt spid="11"/>
                                        </p:tgtEl>
                                      </p:cBhvr>
                                    </p:animEffect>
                                    <p:set>
                                      <p:cBhvr>
                                        <p:cTn id="24" dur="1" fill="hold">
                                          <p:stCondLst>
                                            <p:cond delay="499"/>
                                          </p:stCondLst>
                                        </p:cTn>
                                        <p:tgtEl>
                                          <p:spTgt spid="1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0"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5765-3912-5039-2A40-31FB0A851692}"/>
            </a:ext>
          </a:extLst>
        </p:cNvPr>
        <p:cNvGrpSpPr/>
        <p:nvPr/>
      </p:nvGrpSpPr>
      <p:grpSpPr>
        <a:xfrm>
          <a:off x="0" y="0"/>
          <a:ext cx="0" cy="0"/>
          <a:chOff x="0" y="0"/>
          <a:chExt cx="0" cy="0"/>
        </a:xfrm>
      </p:grpSpPr>
      <p:cxnSp>
        <p:nvCxnSpPr>
          <p:cNvPr id="2" name="Straight Connector 8">
            <a:extLst>
              <a:ext uri="{FF2B5EF4-FFF2-40B4-BE49-F238E27FC236}">
                <a16:creationId xmlns:a16="http://schemas.microsoft.com/office/drawing/2014/main" id="{61CAEF4A-D802-3CB8-2773-90C0F820427F}"/>
              </a:ext>
            </a:extLst>
          </p:cNvPr>
          <p:cNvCxnSpPr/>
          <p:nvPr/>
        </p:nvCxnSpPr>
        <p:spPr>
          <a:xfrm>
            <a:off x="827314" y="5302164"/>
            <a:ext cx="2445488" cy="0"/>
          </a:xfrm>
          <a:prstGeom prst="line">
            <a:avLst/>
          </a:prstGeom>
          <a:ln w="50800">
            <a:solidFill>
              <a:srgbClr val="7F8C8D"/>
            </a:solidFill>
            <a:headEnd type="oval"/>
          </a:ln>
        </p:spPr>
        <p:style>
          <a:lnRef idx="1">
            <a:schemeClr val="accent1"/>
          </a:lnRef>
          <a:fillRef idx="0">
            <a:schemeClr val="accent1"/>
          </a:fillRef>
          <a:effectRef idx="0">
            <a:schemeClr val="accent1"/>
          </a:effectRef>
          <a:fontRef idx="minor">
            <a:schemeClr val="tx1"/>
          </a:fontRef>
        </p:style>
      </p:cxnSp>
      <p:sp>
        <p:nvSpPr>
          <p:cNvPr id="3" name="Arc 9">
            <a:extLst>
              <a:ext uri="{FF2B5EF4-FFF2-40B4-BE49-F238E27FC236}">
                <a16:creationId xmlns:a16="http://schemas.microsoft.com/office/drawing/2014/main" id="{16F9257C-5D29-D687-11D1-650B76595E7B}"/>
              </a:ext>
            </a:extLst>
          </p:cNvPr>
          <p:cNvSpPr/>
          <p:nvPr/>
        </p:nvSpPr>
        <p:spPr>
          <a:xfrm>
            <a:off x="3272802" y="5117107"/>
            <a:ext cx="370114" cy="370114"/>
          </a:xfrm>
          <a:prstGeom prst="arc">
            <a:avLst>
              <a:gd name="adj1" fmla="val 1821037"/>
              <a:gd name="adj2" fmla="val 19752242"/>
            </a:avLst>
          </a:prstGeom>
          <a:noFill/>
          <a:ln w="50800">
            <a:solidFill>
              <a:srgbClr val="7F8C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10">
            <a:extLst>
              <a:ext uri="{FF2B5EF4-FFF2-40B4-BE49-F238E27FC236}">
                <a16:creationId xmlns:a16="http://schemas.microsoft.com/office/drawing/2014/main" id="{7503A654-0E4C-9024-47B6-83DA6CA8FDC1}"/>
              </a:ext>
            </a:extLst>
          </p:cNvPr>
          <p:cNvCxnSpPr/>
          <p:nvPr/>
        </p:nvCxnSpPr>
        <p:spPr>
          <a:xfrm>
            <a:off x="3461657" y="5302164"/>
            <a:ext cx="2445488" cy="0"/>
          </a:xfrm>
          <a:prstGeom prst="line">
            <a:avLst/>
          </a:prstGeom>
          <a:ln w="50800">
            <a:solidFill>
              <a:srgbClr val="FEB834"/>
            </a:solidFill>
            <a:headEnd type="oval"/>
          </a:ln>
        </p:spPr>
        <p:style>
          <a:lnRef idx="1">
            <a:schemeClr val="accent1"/>
          </a:lnRef>
          <a:fillRef idx="0">
            <a:schemeClr val="accent1"/>
          </a:fillRef>
          <a:effectRef idx="0">
            <a:schemeClr val="accent1"/>
          </a:effectRef>
          <a:fontRef idx="minor">
            <a:schemeClr val="tx1"/>
          </a:fontRef>
        </p:style>
      </p:cxnSp>
      <p:cxnSp>
        <p:nvCxnSpPr>
          <p:cNvPr id="5" name="Straight Connector 12">
            <a:extLst>
              <a:ext uri="{FF2B5EF4-FFF2-40B4-BE49-F238E27FC236}">
                <a16:creationId xmlns:a16="http://schemas.microsoft.com/office/drawing/2014/main" id="{7DDC0A72-B639-44D0-88FE-5815F76AAE45}"/>
              </a:ext>
            </a:extLst>
          </p:cNvPr>
          <p:cNvCxnSpPr/>
          <p:nvPr/>
        </p:nvCxnSpPr>
        <p:spPr>
          <a:xfrm>
            <a:off x="6096000" y="5302164"/>
            <a:ext cx="2445488" cy="0"/>
          </a:xfrm>
          <a:prstGeom prst="line">
            <a:avLst/>
          </a:prstGeom>
          <a:ln w="50800">
            <a:solidFill>
              <a:srgbClr val="94B155"/>
            </a:solidFill>
            <a:headEnd type="oval"/>
          </a:ln>
        </p:spPr>
        <p:style>
          <a:lnRef idx="1">
            <a:schemeClr val="accent1"/>
          </a:lnRef>
          <a:fillRef idx="0">
            <a:schemeClr val="accent1"/>
          </a:fillRef>
          <a:effectRef idx="0">
            <a:schemeClr val="accent1"/>
          </a:effectRef>
          <a:fontRef idx="minor">
            <a:schemeClr val="tx1"/>
          </a:fontRef>
        </p:style>
      </p:cxnSp>
      <p:cxnSp>
        <p:nvCxnSpPr>
          <p:cNvPr id="6" name="Straight Connector 14">
            <a:extLst>
              <a:ext uri="{FF2B5EF4-FFF2-40B4-BE49-F238E27FC236}">
                <a16:creationId xmlns:a16="http://schemas.microsoft.com/office/drawing/2014/main" id="{385E3669-E567-1277-900A-0F5C5CBE96E8}"/>
              </a:ext>
            </a:extLst>
          </p:cNvPr>
          <p:cNvCxnSpPr/>
          <p:nvPr/>
        </p:nvCxnSpPr>
        <p:spPr>
          <a:xfrm>
            <a:off x="8730343" y="5302164"/>
            <a:ext cx="2445488" cy="0"/>
          </a:xfrm>
          <a:prstGeom prst="line">
            <a:avLst/>
          </a:prstGeom>
          <a:ln w="50800">
            <a:solidFill>
              <a:srgbClr val="E74C3C"/>
            </a:solidFill>
            <a:headEnd type="oval"/>
          </a:ln>
        </p:spPr>
        <p:style>
          <a:lnRef idx="1">
            <a:schemeClr val="accent1"/>
          </a:lnRef>
          <a:fillRef idx="0">
            <a:schemeClr val="accent1"/>
          </a:fillRef>
          <a:effectRef idx="0">
            <a:schemeClr val="accent1"/>
          </a:effectRef>
          <a:fontRef idx="minor">
            <a:schemeClr val="tx1"/>
          </a:fontRef>
        </p:style>
      </p:cxnSp>
      <p:sp>
        <p:nvSpPr>
          <p:cNvPr id="7" name="Arc 16">
            <a:extLst>
              <a:ext uri="{FF2B5EF4-FFF2-40B4-BE49-F238E27FC236}">
                <a16:creationId xmlns:a16="http://schemas.microsoft.com/office/drawing/2014/main" id="{5AE25EC2-1651-1056-CC75-E797D236A45D}"/>
              </a:ext>
            </a:extLst>
          </p:cNvPr>
          <p:cNvSpPr/>
          <p:nvPr/>
        </p:nvSpPr>
        <p:spPr>
          <a:xfrm>
            <a:off x="5903347" y="5117107"/>
            <a:ext cx="370114" cy="370114"/>
          </a:xfrm>
          <a:prstGeom prst="arc">
            <a:avLst>
              <a:gd name="adj1" fmla="val 1821037"/>
              <a:gd name="adj2" fmla="val 19752242"/>
            </a:avLst>
          </a:prstGeom>
          <a:noFill/>
          <a:ln w="50800">
            <a:solidFill>
              <a:srgbClr val="FEB8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c 17">
            <a:extLst>
              <a:ext uri="{FF2B5EF4-FFF2-40B4-BE49-F238E27FC236}">
                <a16:creationId xmlns:a16="http://schemas.microsoft.com/office/drawing/2014/main" id="{8E3BDB44-0618-C2C8-EE4B-5875D602DC10}"/>
              </a:ext>
            </a:extLst>
          </p:cNvPr>
          <p:cNvSpPr/>
          <p:nvPr/>
        </p:nvSpPr>
        <p:spPr>
          <a:xfrm>
            <a:off x="8533892" y="5117107"/>
            <a:ext cx="370114" cy="370114"/>
          </a:xfrm>
          <a:prstGeom prst="arc">
            <a:avLst>
              <a:gd name="adj1" fmla="val 1821037"/>
              <a:gd name="adj2" fmla="val 19752242"/>
            </a:avLst>
          </a:prstGeom>
          <a:noFill/>
          <a:ln w="50800">
            <a:solidFill>
              <a:srgbClr val="94B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18">
            <a:extLst>
              <a:ext uri="{FF2B5EF4-FFF2-40B4-BE49-F238E27FC236}">
                <a16:creationId xmlns:a16="http://schemas.microsoft.com/office/drawing/2014/main" id="{C3CA11CB-0425-5532-5FB0-FADC31DD0869}"/>
              </a:ext>
            </a:extLst>
          </p:cNvPr>
          <p:cNvSpPr/>
          <p:nvPr/>
        </p:nvSpPr>
        <p:spPr>
          <a:xfrm>
            <a:off x="11164437" y="5117107"/>
            <a:ext cx="370114" cy="370114"/>
          </a:xfrm>
          <a:prstGeom prst="arc">
            <a:avLst>
              <a:gd name="adj1" fmla="val 1821037"/>
              <a:gd name="adj2" fmla="val 19752242"/>
            </a:avLst>
          </a:prstGeom>
          <a:noFill/>
          <a:ln w="50800">
            <a:solidFill>
              <a:srgbClr val="E74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20">
            <a:extLst>
              <a:ext uri="{FF2B5EF4-FFF2-40B4-BE49-F238E27FC236}">
                <a16:creationId xmlns:a16="http://schemas.microsoft.com/office/drawing/2014/main" id="{6DFA68FE-3668-973D-B151-F0941C6A0907}"/>
              </a:ext>
            </a:extLst>
          </p:cNvPr>
          <p:cNvSpPr txBox="1"/>
          <p:nvPr/>
        </p:nvSpPr>
        <p:spPr>
          <a:xfrm>
            <a:off x="984382" y="4932441"/>
            <a:ext cx="710451" cy="369332"/>
          </a:xfrm>
          <a:prstGeom prst="rect">
            <a:avLst/>
          </a:prstGeom>
          <a:noFill/>
        </p:spPr>
        <p:txBody>
          <a:bodyPr wrap="none" rtlCol="0">
            <a:spAutoFit/>
          </a:bodyPr>
          <a:lstStyle/>
          <a:p>
            <a:r>
              <a:rPr lang="en-US"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2021</a:t>
            </a:r>
          </a:p>
        </p:txBody>
      </p:sp>
      <p:sp>
        <p:nvSpPr>
          <p:cNvPr id="11" name="TextBox 21">
            <a:extLst>
              <a:ext uri="{FF2B5EF4-FFF2-40B4-BE49-F238E27FC236}">
                <a16:creationId xmlns:a16="http://schemas.microsoft.com/office/drawing/2014/main" id="{D5A28B18-965D-4AAD-DE33-CF295A566FAB}"/>
              </a:ext>
            </a:extLst>
          </p:cNvPr>
          <p:cNvSpPr txBox="1"/>
          <p:nvPr/>
        </p:nvSpPr>
        <p:spPr>
          <a:xfrm>
            <a:off x="981078" y="5399592"/>
            <a:ext cx="2291724" cy="1431161"/>
          </a:xfrm>
          <a:prstGeom prst="rect">
            <a:avLst/>
          </a:prstGeom>
          <a:noFill/>
        </p:spPr>
        <p:txBody>
          <a:bodyPr wrap="square" rtlCol="0">
            <a:spAutoFit/>
          </a:bodyPr>
          <a:lstStyle/>
          <a:p>
            <a:r>
              <a:rPr lang="en-US" sz="1600" b="1"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vPipe</a:t>
            </a:r>
            <a:r>
              <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[TPDS‘21]</a:t>
            </a:r>
          </a:p>
          <a:p>
            <a:r>
              <a:rPr lang="en-US" altLang="zh-CN" sz="1600" b="1"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NASPipe</a:t>
            </a:r>
            <a:r>
              <a:rPr lang="en-US" altLang="zh-CN"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[ASPLOS‘21]</a:t>
            </a:r>
            <a:endPar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endParaRPr lang="en-US" sz="1100" b="1"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a:p>
            <a:r>
              <a:rPr lang="en-US" sz="1100" b="1" dirty="0" err="1">
                <a:latin typeface="Open Sans" panose="020B0606030504020204" pitchFamily="34" charset="0"/>
                <a:ea typeface="Open Sans" panose="020B0606030504020204" pitchFamily="34" charset="0"/>
                <a:cs typeface="Open Sans" panose="020B0606030504020204" pitchFamily="34" charset="0"/>
              </a:rPr>
              <a:t>Gpipe</a:t>
            </a:r>
            <a:r>
              <a:rPr lang="en-US" sz="1100" b="1" dirty="0">
                <a:latin typeface="Open Sans" panose="020B0606030504020204" pitchFamily="34" charset="0"/>
                <a:ea typeface="Open Sans" panose="020B0606030504020204" pitchFamily="34" charset="0"/>
                <a:cs typeface="Open Sans" panose="020B0606030504020204" pitchFamily="34" charset="0"/>
              </a:rPr>
              <a:t> [NIPS‘19]</a:t>
            </a:r>
          </a:p>
          <a:p>
            <a:r>
              <a:rPr lang="en-US" sz="1100" b="1" dirty="0" err="1">
                <a:latin typeface="Open Sans" panose="020B0606030504020204" pitchFamily="34" charset="0"/>
                <a:ea typeface="Open Sans" panose="020B0606030504020204" pitchFamily="34" charset="0"/>
                <a:cs typeface="Open Sans" panose="020B0606030504020204" pitchFamily="34" charset="0"/>
              </a:rPr>
              <a:t>PipeDream</a:t>
            </a:r>
            <a:r>
              <a:rPr lang="en-US" sz="1100" b="1" dirty="0">
                <a:latin typeface="Open Sans" panose="020B0606030504020204" pitchFamily="34" charset="0"/>
                <a:ea typeface="Open Sans" panose="020B0606030504020204" pitchFamily="34" charset="0"/>
                <a:cs typeface="Open Sans" panose="020B0606030504020204" pitchFamily="34" charset="0"/>
              </a:rPr>
              <a:t> [SOSP‘19]</a:t>
            </a:r>
          </a:p>
          <a:p>
            <a:r>
              <a:rPr lang="en-US" sz="1100" b="1" dirty="0" err="1">
                <a:latin typeface="Open Sans" panose="020B0606030504020204" pitchFamily="34" charset="0"/>
                <a:ea typeface="Open Sans" panose="020B0606030504020204" pitchFamily="34" charset="0"/>
                <a:cs typeface="Open Sans" panose="020B0606030504020204" pitchFamily="34" charset="0"/>
              </a:rPr>
              <a:t>FlexMoE</a:t>
            </a:r>
            <a:r>
              <a:rPr lang="en-US" sz="1100" b="1" dirty="0">
                <a:latin typeface="Open Sans" panose="020B0606030504020204" pitchFamily="34" charset="0"/>
                <a:ea typeface="Open Sans" panose="020B0606030504020204" pitchFamily="34" charset="0"/>
                <a:cs typeface="Open Sans" panose="020B0606030504020204" pitchFamily="34" charset="0"/>
              </a:rPr>
              <a:t> [Sigmod’24]</a:t>
            </a:r>
          </a:p>
        </p:txBody>
      </p:sp>
      <p:sp>
        <p:nvSpPr>
          <p:cNvPr id="12" name="TextBox 22">
            <a:extLst>
              <a:ext uri="{FF2B5EF4-FFF2-40B4-BE49-F238E27FC236}">
                <a16:creationId xmlns:a16="http://schemas.microsoft.com/office/drawing/2014/main" id="{46C6A18C-C759-92DD-A4EC-3E2930934EB1}"/>
              </a:ext>
            </a:extLst>
          </p:cNvPr>
          <p:cNvSpPr txBox="1"/>
          <p:nvPr/>
        </p:nvSpPr>
        <p:spPr>
          <a:xfrm>
            <a:off x="3707518" y="4932832"/>
            <a:ext cx="710451" cy="369332"/>
          </a:xfrm>
          <a:prstGeom prst="rect">
            <a:avLst/>
          </a:prstGeom>
          <a:noFill/>
        </p:spPr>
        <p:txBody>
          <a:bodyPr wrap="none" rtlCol="0">
            <a:spAutoFit/>
          </a:bodyPr>
          <a:lstStyle/>
          <a:p>
            <a:r>
              <a:rPr lang="en-US"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2023</a:t>
            </a:r>
          </a:p>
        </p:txBody>
      </p:sp>
      <p:sp>
        <p:nvSpPr>
          <p:cNvPr id="14" name="TextBox 24">
            <a:extLst>
              <a:ext uri="{FF2B5EF4-FFF2-40B4-BE49-F238E27FC236}">
                <a16:creationId xmlns:a16="http://schemas.microsoft.com/office/drawing/2014/main" id="{86666B6C-9AA0-60A7-BC49-E32F8EE958CA}"/>
              </a:ext>
            </a:extLst>
          </p:cNvPr>
          <p:cNvSpPr txBox="1"/>
          <p:nvPr/>
        </p:nvSpPr>
        <p:spPr>
          <a:xfrm>
            <a:off x="6426212" y="4932441"/>
            <a:ext cx="710451" cy="369332"/>
          </a:xfrm>
          <a:prstGeom prst="rect">
            <a:avLst/>
          </a:prstGeom>
          <a:noFill/>
        </p:spPr>
        <p:txBody>
          <a:bodyPr wrap="none" rtlCol="0">
            <a:spAutoFit/>
          </a:bodyPr>
          <a:lstStyle/>
          <a:p>
            <a:r>
              <a:rPr lang="en-US"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2024</a:t>
            </a:r>
          </a:p>
        </p:txBody>
      </p:sp>
      <p:sp>
        <p:nvSpPr>
          <p:cNvPr id="16" name="TextBox 26">
            <a:extLst>
              <a:ext uri="{FF2B5EF4-FFF2-40B4-BE49-F238E27FC236}">
                <a16:creationId xmlns:a16="http://schemas.microsoft.com/office/drawing/2014/main" id="{DBD0BCF6-2A92-709B-0CD3-1E1E612C8DB1}"/>
              </a:ext>
            </a:extLst>
          </p:cNvPr>
          <p:cNvSpPr txBox="1"/>
          <p:nvPr/>
        </p:nvSpPr>
        <p:spPr>
          <a:xfrm>
            <a:off x="9092861" y="4932441"/>
            <a:ext cx="710451" cy="369332"/>
          </a:xfrm>
          <a:prstGeom prst="rect">
            <a:avLst/>
          </a:prstGeom>
          <a:noFill/>
        </p:spPr>
        <p:txBody>
          <a:bodyPr wrap="none" rtlCol="0">
            <a:spAutoFit/>
          </a:bodyPr>
          <a:lstStyle/>
          <a:p>
            <a:r>
              <a:rPr lang="en-US"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2025</a:t>
            </a:r>
          </a:p>
        </p:txBody>
      </p:sp>
      <p:sp>
        <p:nvSpPr>
          <p:cNvPr id="17" name="TextBox 27">
            <a:extLst>
              <a:ext uri="{FF2B5EF4-FFF2-40B4-BE49-F238E27FC236}">
                <a16:creationId xmlns:a16="http://schemas.microsoft.com/office/drawing/2014/main" id="{E7D7C572-2F62-7FE4-0A19-64E89317396A}"/>
              </a:ext>
            </a:extLst>
          </p:cNvPr>
          <p:cNvSpPr txBox="1"/>
          <p:nvPr/>
        </p:nvSpPr>
        <p:spPr>
          <a:xfrm>
            <a:off x="9092860" y="5437391"/>
            <a:ext cx="2690737" cy="1184940"/>
          </a:xfrm>
          <a:prstGeom prst="rect">
            <a:avLst/>
          </a:prstGeom>
          <a:noFill/>
        </p:spPr>
        <p:txBody>
          <a:bodyPr wrap="square" lIns="91440" tIns="45720" rIns="91440" bIns="45720" rtlCol="0" anchor="t">
            <a:spAutoFit/>
          </a:bodyPr>
          <a:lstStyle/>
          <a:p>
            <a:r>
              <a:rPr lang="en-US" altLang="zh-CN" sz="1600" b="1" dirty="0" err="1">
                <a:solidFill>
                  <a:srgbClr val="E74C3C"/>
                </a:solidFill>
                <a:latin typeface="Open Sans"/>
                <a:ea typeface="Open Sans"/>
                <a:cs typeface="Open Sans"/>
              </a:rPr>
              <a:t>FoldMoE</a:t>
            </a:r>
            <a:r>
              <a:rPr lang="en-US" altLang="zh-CN" sz="1600" b="1" dirty="0">
                <a:solidFill>
                  <a:srgbClr val="E74C3C"/>
                </a:solidFill>
                <a:latin typeface="Open Sans"/>
                <a:ea typeface="Open Sans"/>
                <a:cs typeface="Open Sans"/>
              </a:rPr>
              <a:t> [ACL’25]</a:t>
            </a:r>
          </a:p>
          <a:p>
            <a:r>
              <a:rPr lang="en-US" altLang="zh-CN" sz="1600" b="1" dirty="0">
                <a:solidFill>
                  <a:srgbClr val="FF0000"/>
                </a:solidFill>
                <a:latin typeface="Open Sans"/>
                <a:ea typeface="Open Sans"/>
                <a:cs typeface="Open Sans"/>
              </a:rPr>
              <a:t>Y [</a:t>
            </a:r>
            <a:r>
              <a:rPr lang="zh-CN" altLang="en-US" sz="1600" b="1" dirty="0">
                <a:solidFill>
                  <a:srgbClr val="FF0000"/>
                </a:solidFill>
                <a:latin typeface="Open Sans"/>
                <a:ea typeface="Open Sans"/>
                <a:cs typeface="Open Sans"/>
              </a:rPr>
              <a:t>系统</a:t>
            </a:r>
            <a:r>
              <a:rPr lang="en-US" altLang="zh-CN" sz="1600" b="1" dirty="0">
                <a:solidFill>
                  <a:srgbClr val="FF0000"/>
                </a:solidFill>
                <a:latin typeface="Open Sans"/>
                <a:ea typeface="Open Sans"/>
                <a:cs typeface="Open Sans"/>
              </a:rPr>
              <a:t>A</a:t>
            </a:r>
            <a:r>
              <a:rPr lang="zh-CN" altLang="en-US" sz="1600" b="1" dirty="0">
                <a:solidFill>
                  <a:srgbClr val="FF0000"/>
                </a:solidFill>
                <a:latin typeface="Open Sans"/>
                <a:ea typeface="Open Sans"/>
                <a:cs typeface="Open Sans"/>
              </a:rPr>
              <a:t>会</a:t>
            </a:r>
            <a:r>
              <a:rPr lang="en-US" altLang="zh-CN" sz="1600" b="1" dirty="0">
                <a:solidFill>
                  <a:srgbClr val="FF0000"/>
                </a:solidFill>
                <a:latin typeface="Open Sans"/>
                <a:ea typeface="Open Sans"/>
                <a:cs typeface="Open Sans"/>
              </a:rPr>
              <a:t> 2025 </a:t>
            </a:r>
            <a:r>
              <a:rPr lang="zh-CN" altLang="en-US" sz="1600" b="1" dirty="0">
                <a:solidFill>
                  <a:srgbClr val="FF0000"/>
                </a:solidFill>
                <a:latin typeface="Open Sans"/>
                <a:ea typeface="Open Sans"/>
                <a:cs typeface="Open Sans"/>
              </a:rPr>
              <a:t>已提交</a:t>
            </a:r>
            <a:r>
              <a:rPr lang="en-US" altLang="zh-CN" sz="1600" b="1" dirty="0">
                <a:solidFill>
                  <a:srgbClr val="FF0000"/>
                </a:solidFill>
                <a:latin typeface="Open Sans"/>
                <a:ea typeface="Open Sans"/>
                <a:cs typeface="Open Sans"/>
              </a:rPr>
              <a:t>]</a:t>
            </a:r>
          </a:p>
          <a:p>
            <a:r>
              <a:rPr lang="en-US" altLang="zh-CN" sz="14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Z [</a:t>
            </a:r>
            <a:r>
              <a:rPr lang="en-US" altLang="zh-CN" sz="1400" b="1"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FoldDeepSeekInfer</a:t>
            </a:r>
            <a:r>
              <a:rPr lang="en-US" altLang="zh-CN" sz="14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zh-CN" altLang="en-US" sz="14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研发中</a:t>
            </a:r>
            <a:r>
              <a:rPr lang="en-US" altLang="zh-CN" sz="14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p>
          <a:p>
            <a:endParaRPr lang="en-US" altLang="zh-CN" sz="1400" b="1" dirty="0">
              <a:latin typeface="Open Sans" panose="020B0606030504020204" pitchFamily="34" charset="0"/>
              <a:ea typeface="Open Sans" panose="020B0606030504020204" pitchFamily="34" charset="0"/>
              <a:cs typeface="Open Sans" panose="020B0606030504020204" pitchFamily="34" charset="0"/>
            </a:endParaRPr>
          </a:p>
          <a:p>
            <a:r>
              <a:rPr lang="en-US" altLang="zh-CN" sz="1100" b="1" dirty="0" err="1">
                <a:latin typeface="Open Sans"/>
                <a:ea typeface="Open Sans"/>
                <a:cs typeface="Open Sans"/>
              </a:rPr>
              <a:t>Tutel</a:t>
            </a:r>
            <a:r>
              <a:rPr lang="en-US" altLang="zh-CN" sz="1100" b="1" dirty="0">
                <a:latin typeface="Open Sans"/>
                <a:ea typeface="Open Sans"/>
                <a:cs typeface="Open Sans"/>
              </a:rPr>
              <a:t> [MLSys’23]</a:t>
            </a:r>
          </a:p>
        </p:txBody>
      </p:sp>
      <p:sp>
        <p:nvSpPr>
          <p:cNvPr id="18" name="文本框 17">
            <a:extLst>
              <a:ext uri="{FF2B5EF4-FFF2-40B4-BE49-F238E27FC236}">
                <a16:creationId xmlns:a16="http://schemas.microsoft.com/office/drawing/2014/main" id="{62A88F22-6051-1C7A-BC11-9CD43F8BA9B1}"/>
              </a:ext>
            </a:extLst>
          </p:cNvPr>
          <p:cNvSpPr txBox="1"/>
          <p:nvPr/>
        </p:nvSpPr>
        <p:spPr>
          <a:xfrm>
            <a:off x="2439827" y="4468007"/>
            <a:ext cx="6991203" cy="584775"/>
          </a:xfrm>
          <a:prstGeom prst="rect">
            <a:avLst/>
          </a:prstGeom>
          <a:noFill/>
        </p:spPr>
        <p:txBody>
          <a:bodyPr wrap="square" rtlCol="0">
            <a:spAutoFit/>
          </a:bodyPr>
          <a:lstStyle/>
          <a:p>
            <a:pPr algn="ctr"/>
            <a:r>
              <a:rPr kumimoji="1" lang="zh-CN" altLang="en-US" sz="1600" b="1" dirty="0">
                <a:solidFill>
                  <a:srgbClr val="025F84"/>
                </a:solidFill>
                <a:ea typeface="PingFang SC Medium" panose="020B0400000000000000" pitchFamily="34" charset="-122"/>
              </a:rPr>
              <a:t>下一代新型大模型的设计，不断演进的一些</a:t>
            </a:r>
            <a:endParaRPr kumimoji="1" lang="en-US" altLang="zh-CN" sz="1600" b="1" dirty="0">
              <a:solidFill>
                <a:srgbClr val="025F84"/>
              </a:solidFill>
              <a:ea typeface="PingFang SC Medium" panose="020B0400000000000000" pitchFamily="34" charset="-122"/>
            </a:endParaRPr>
          </a:p>
          <a:p>
            <a:pPr algn="ctr"/>
            <a:r>
              <a:rPr kumimoji="1" lang="zh-CN" altLang="en-US" sz="1600" b="1" dirty="0">
                <a:solidFill>
                  <a:srgbClr val="025F84"/>
                </a:solidFill>
                <a:ea typeface="PingFang SC Medium" panose="020B0400000000000000" pitchFamily="34" charset="-122"/>
              </a:rPr>
              <a:t>共性规律：更宽、更深；更动态、更稀疏</a:t>
            </a:r>
          </a:p>
        </p:txBody>
      </p:sp>
      <p:sp>
        <p:nvSpPr>
          <p:cNvPr id="21" name="TextBox 23">
            <a:extLst>
              <a:ext uri="{FF2B5EF4-FFF2-40B4-BE49-F238E27FC236}">
                <a16:creationId xmlns:a16="http://schemas.microsoft.com/office/drawing/2014/main" id="{53D2D21F-4DC9-F9EE-AE13-D149CEB5C151}"/>
              </a:ext>
            </a:extLst>
          </p:cNvPr>
          <p:cNvSpPr txBox="1"/>
          <p:nvPr/>
        </p:nvSpPr>
        <p:spPr>
          <a:xfrm>
            <a:off x="3707518" y="5459626"/>
            <a:ext cx="1918178" cy="1261884"/>
          </a:xfrm>
          <a:prstGeom prst="rect">
            <a:avLst/>
          </a:prstGeom>
          <a:noFill/>
        </p:spPr>
        <p:txBody>
          <a:bodyPr wrap="square" rtlCol="0">
            <a:spAutoFit/>
          </a:bodyPr>
          <a:lstStyle/>
          <a:p>
            <a:r>
              <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Fold3D [TPDS‘23]</a:t>
            </a:r>
          </a:p>
          <a:p>
            <a:r>
              <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[Rog Micro ‘22]</a:t>
            </a: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a:p>
            <a:r>
              <a:rPr lang="en-US" sz="1100" b="1" dirty="0">
                <a:latin typeface="Open Sans" panose="020B0606030504020204" pitchFamily="34" charset="0"/>
                <a:ea typeface="Open Sans" panose="020B0606030504020204" pitchFamily="34" charset="0"/>
                <a:cs typeface="Open Sans" panose="020B0606030504020204" pitchFamily="34" charset="0"/>
              </a:rPr>
              <a:t>Megatron [SC‘21]</a:t>
            </a:r>
          </a:p>
          <a:p>
            <a:r>
              <a:rPr lang="en-US" sz="1100" b="1" dirty="0" err="1">
                <a:latin typeface="Open Sans" panose="020B0606030504020204" pitchFamily="34" charset="0"/>
                <a:ea typeface="Open Sans" panose="020B0606030504020204" pitchFamily="34" charset="0"/>
                <a:cs typeface="Open Sans" panose="020B0606030504020204" pitchFamily="34" charset="0"/>
              </a:rPr>
              <a:t>DeepSpeed</a:t>
            </a:r>
            <a:r>
              <a:rPr lang="en-US" sz="1100" b="1" dirty="0">
                <a:latin typeface="Open Sans" panose="020B0606030504020204" pitchFamily="34" charset="0"/>
                <a:ea typeface="Open Sans" panose="020B0606030504020204" pitchFamily="34" charset="0"/>
                <a:cs typeface="Open Sans" panose="020B0606030504020204" pitchFamily="34" charset="0"/>
              </a:rPr>
              <a:t> 3D [SC‘20]</a:t>
            </a:r>
          </a:p>
        </p:txBody>
      </p:sp>
      <p:sp>
        <p:nvSpPr>
          <p:cNvPr id="22" name="TextBox 25">
            <a:extLst>
              <a:ext uri="{FF2B5EF4-FFF2-40B4-BE49-F238E27FC236}">
                <a16:creationId xmlns:a16="http://schemas.microsoft.com/office/drawing/2014/main" id="{87E243CF-AA2B-CA37-A286-8300975C322D}"/>
              </a:ext>
            </a:extLst>
          </p:cNvPr>
          <p:cNvSpPr txBox="1"/>
          <p:nvPr/>
        </p:nvSpPr>
        <p:spPr>
          <a:xfrm>
            <a:off x="6226164" y="5404939"/>
            <a:ext cx="2819398" cy="1508105"/>
          </a:xfrm>
          <a:prstGeom prst="rect">
            <a:avLst/>
          </a:prstGeom>
          <a:noFill/>
        </p:spPr>
        <p:txBody>
          <a:bodyPr wrap="square" rtlCol="0">
            <a:spAutoFit/>
          </a:bodyPr>
          <a:lstStyle/>
          <a:p>
            <a:r>
              <a:rPr lang="en-US" sz="1600" b="1"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PipeMesh</a:t>
            </a:r>
            <a:r>
              <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[TPDS minor revision]</a:t>
            </a:r>
          </a:p>
          <a:p>
            <a:r>
              <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X [</a:t>
            </a:r>
            <a:r>
              <a:rPr lang="en-US" sz="1600" b="1"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系统A会</a:t>
            </a:r>
            <a:r>
              <a:rPr lang="zh-CN" alt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altLang="zh-CN"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2025</a:t>
            </a:r>
            <a:r>
              <a:rPr lang="zh-CN" alt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 已提交</a:t>
            </a:r>
            <a:r>
              <a:rPr lang="en-US" altLang="zh-CN" sz="16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1600" b="1"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a:p>
            <a:r>
              <a:rPr lang="en-US" sz="1100" b="1" dirty="0" err="1">
                <a:latin typeface="Open Sans" panose="020B0606030504020204" pitchFamily="34" charset="0"/>
                <a:ea typeface="Open Sans" panose="020B0606030504020204" pitchFamily="34" charset="0"/>
                <a:cs typeface="Open Sans" panose="020B0606030504020204" pitchFamily="34" charset="0"/>
              </a:rPr>
              <a:t>MegaScale</a:t>
            </a:r>
            <a:r>
              <a:rPr lang="en-US" sz="1100" b="1" dirty="0">
                <a:latin typeface="Open Sans" panose="020B0606030504020204" pitchFamily="34" charset="0"/>
                <a:ea typeface="Open Sans" panose="020B0606030504020204" pitchFamily="34" charset="0"/>
                <a:cs typeface="Open Sans" panose="020B0606030504020204" pitchFamily="34" charset="0"/>
              </a:rPr>
              <a:t> [NSDI’24]</a:t>
            </a:r>
          </a:p>
          <a:p>
            <a:r>
              <a:rPr lang="en-US" sz="1100" b="1" dirty="0">
                <a:latin typeface="Open Sans" panose="020B0606030504020204" pitchFamily="34" charset="0"/>
                <a:ea typeface="Open Sans" panose="020B0606030504020204" pitchFamily="34" charset="0"/>
                <a:cs typeface="Open Sans" panose="020B0606030504020204" pitchFamily="34" charset="0"/>
              </a:rPr>
              <a:t>Verl [EuroSys’25]</a:t>
            </a: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内容占位符 2">
            <a:extLst>
              <a:ext uri="{FF2B5EF4-FFF2-40B4-BE49-F238E27FC236}">
                <a16:creationId xmlns:a16="http://schemas.microsoft.com/office/drawing/2014/main" id="{463A0F1C-CC6F-6FD9-A161-D3F3C23FDF34}"/>
              </a:ext>
            </a:extLst>
          </p:cNvPr>
          <p:cNvSpPr>
            <a:spLocks noGrp="1"/>
          </p:cNvSpPr>
          <p:nvPr/>
        </p:nvSpPr>
        <p:spPr bwMode="auto">
          <a:xfrm>
            <a:off x="211465" y="1059214"/>
            <a:ext cx="11572133" cy="5218113"/>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dirty="0">
                <a:solidFill>
                  <a:srgbClr val="015F84"/>
                </a:solidFill>
                <a:latin typeface="+mj-ea"/>
                <a:ea typeface="PingFang SC Medium" panose="020B0400000000000000"/>
              </a:rPr>
              <a:t>集群互联持续演进：支持</a:t>
            </a:r>
            <a:r>
              <a:rPr kumimoji="1" lang="en-US" altLang="zh-CN" sz="1600" b="0" dirty="0" err="1">
                <a:solidFill>
                  <a:srgbClr val="015F84"/>
                </a:solidFill>
                <a:latin typeface="+mj-ea"/>
                <a:ea typeface="PingFang SC Medium" panose="020B0400000000000000"/>
              </a:rPr>
              <a:t>NVLink</a:t>
            </a:r>
            <a:r>
              <a:rPr kumimoji="1" lang="zh-CN" altLang="en-US" sz="1600" b="0" dirty="0">
                <a:solidFill>
                  <a:srgbClr val="015F84"/>
                </a:solidFill>
                <a:latin typeface="+mj-ea"/>
                <a:ea typeface="PingFang SC Medium" panose="020B0400000000000000"/>
              </a:rPr>
              <a:t>、</a:t>
            </a:r>
            <a:r>
              <a:rPr kumimoji="1" lang="en-US" altLang="zh-CN" sz="1600" b="0" dirty="0" err="1">
                <a:solidFill>
                  <a:srgbClr val="015F84"/>
                </a:solidFill>
                <a:latin typeface="+mj-ea"/>
                <a:ea typeface="PingFang SC Medium" panose="020B0400000000000000"/>
              </a:rPr>
              <a:t>NVSwitch</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InfiniBand</a:t>
            </a:r>
            <a:r>
              <a:rPr kumimoji="1" lang="zh-CN" altLang="en-US" sz="1600" b="0" dirty="0">
                <a:solidFill>
                  <a:srgbClr val="015F84"/>
                </a:solidFill>
                <a:latin typeface="+mj-ea"/>
                <a:ea typeface="PingFang SC Medium" panose="020B0400000000000000"/>
              </a:rPr>
              <a:t>技术，</a:t>
            </a:r>
            <a:r>
              <a:rPr kumimoji="1" lang="en-US" altLang="zh-CN" sz="1600" b="0" dirty="0">
                <a:solidFill>
                  <a:srgbClr val="015F84"/>
                </a:solidFill>
                <a:latin typeface="+mj-ea"/>
                <a:ea typeface="PingFang SC Medium" panose="020B0400000000000000"/>
              </a:rPr>
              <a:t>GPU</a:t>
            </a:r>
            <a:r>
              <a:rPr kumimoji="1" lang="zh-CN" altLang="en-US" sz="1600" b="0" dirty="0">
                <a:solidFill>
                  <a:srgbClr val="015F84"/>
                </a:solidFill>
                <a:latin typeface="+mj-ea"/>
                <a:ea typeface="PingFang SC Medium" panose="020B0400000000000000"/>
              </a:rPr>
              <a:t>间</a:t>
            </a:r>
            <a:r>
              <a:rPr kumimoji="1" lang="zh-CN" altLang="en-US" sz="1600" dirty="0">
                <a:solidFill>
                  <a:srgbClr val="015F84"/>
                </a:solidFill>
                <a:latin typeface="+mj-ea"/>
                <a:ea typeface="PingFang SC Medium" panose="020B0400000000000000"/>
              </a:rPr>
              <a:t>互联</a:t>
            </a:r>
            <a:r>
              <a:rPr kumimoji="1" lang="zh-CN" altLang="en-US" sz="1600" b="0" dirty="0">
                <a:solidFill>
                  <a:srgbClr val="015F84"/>
                </a:solidFill>
                <a:latin typeface="+mj-ea"/>
                <a:ea typeface="PingFang SC Medium" panose="020B0400000000000000"/>
              </a:rPr>
              <a:t>从</a:t>
            </a:r>
            <a:r>
              <a:rPr kumimoji="1" lang="en-US" altLang="zh-CN" sz="1600" b="0" dirty="0">
                <a:solidFill>
                  <a:srgbClr val="015F84"/>
                </a:solidFill>
                <a:latin typeface="+mj-ea"/>
                <a:ea typeface="PingFang SC Medium" panose="020B0400000000000000"/>
              </a:rPr>
              <a:t>300GB/s</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Volta</a:t>
            </a:r>
            <a:r>
              <a:rPr kumimoji="1" lang="zh-CN" altLang="en-US" sz="1600" b="0" dirty="0">
                <a:solidFill>
                  <a:srgbClr val="015F84"/>
                </a:solidFill>
                <a:latin typeface="+mj-ea"/>
                <a:ea typeface="PingFang SC Medium" panose="020B0400000000000000"/>
              </a:rPr>
              <a:t>）</a:t>
            </a:r>
            <a:r>
              <a:rPr kumimoji="1" lang="zh-CN" altLang="en-US" sz="1600" dirty="0">
                <a:solidFill>
                  <a:srgbClr val="015F84"/>
                </a:solidFill>
                <a:latin typeface="+mj-ea"/>
                <a:ea typeface="PingFang SC Medium" panose="020B0400000000000000"/>
              </a:rPr>
              <a:t>增长</a:t>
            </a:r>
            <a:r>
              <a:rPr kumimoji="1" lang="zh-CN" altLang="en-US" sz="1600" b="0" dirty="0">
                <a:solidFill>
                  <a:srgbClr val="015F84"/>
                </a:solidFill>
                <a:latin typeface="+mj-ea"/>
                <a:ea typeface="PingFang SC Medium" panose="020B0400000000000000"/>
              </a:rPr>
              <a:t>到</a:t>
            </a:r>
            <a:r>
              <a:rPr kumimoji="1" lang="en-US" altLang="zh-CN" sz="1600" b="0" dirty="0">
                <a:solidFill>
                  <a:srgbClr val="015F84"/>
                </a:solidFill>
                <a:latin typeface="+mj-ea"/>
                <a:ea typeface="PingFang SC Medium" panose="020B0400000000000000"/>
              </a:rPr>
              <a:t>1800GB/s</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Blackwell</a:t>
            </a:r>
            <a:r>
              <a:rPr kumimoji="1" lang="zh-CN" altLang="en-US" sz="1600" b="0" dirty="0">
                <a:solidFill>
                  <a:srgbClr val="015F84"/>
                </a:solidFill>
                <a:latin typeface="+mj-ea"/>
                <a:ea typeface="PingFang SC Medium" panose="020B0400000000000000"/>
              </a:rPr>
              <a:t>）</a:t>
            </a:r>
            <a:endParaRPr kumimoji="1" lang="en-US" altLang="zh-CN" sz="1600" b="0" dirty="0">
              <a:solidFill>
                <a:srgbClr val="015F84"/>
              </a:solidFill>
              <a:latin typeface="+mj-ea"/>
              <a:ea typeface="PingFang SC Medium" panose="020B0400000000000000"/>
            </a:endParaRPr>
          </a:p>
          <a:p>
            <a:r>
              <a:rPr kumimoji="1" lang="en-US" altLang="zh-CN" sz="1600" b="0" dirty="0">
                <a:solidFill>
                  <a:srgbClr val="015F84"/>
                </a:solidFill>
                <a:latin typeface="+mj-ea"/>
                <a:ea typeface="PingFang SC Medium" panose="020B0400000000000000"/>
              </a:rPr>
              <a:t>GPU</a:t>
            </a:r>
            <a:r>
              <a:rPr kumimoji="1" lang="zh-CN" altLang="en-US" sz="1600" dirty="0">
                <a:solidFill>
                  <a:srgbClr val="015F84"/>
                </a:solidFill>
                <a:latin typeface="+mj-ea"/>
                <a:ea typeface="PingFang SC Medium" panose="020B0400000000000000"/>
              </a:rPr>
              <a:t>算力显著提升</a:t>
            </a:r>
            <a:r>
              <a:rPr kumimoji="1" lang="zh-CN" altLang="en-US" sz="1600" b="0" dirty="0">
                <a:solidFill>
                  <a:srgbClr val="015F84"/>
                </a:solidFill>
                <a:latin typeface="+mj-ea"/>
                <a:ea typeface="PingFang SC Medium" panose="020B0400000000000000"/>
              </a:rPr>
              <a:t>：单卡</a:t>
            </a:r>
            <a:r>
              <a:rPr kumimoji="1" lang="en-US" altLang="zh-CN" sz="1600" b="0" dirty="0">
                <a:solidFill>
                  <a:srgbClr val="015F84"/>
                </a:solidFill>
                <a:latin typeface="+mj-ea"/>
                <a:ea typeface="PingFang SC Medium" panose="020B0400000000000000"/>
              </a:rPr>
              <a:t>FP16</a:t>
            </a:r>
            <a:r>
              <a:rPr kumimoji="1" lang="zh-CN" altLang="en-US" sz="1600" b="0" dirty="0">
                <a:solidFill>
                  <a:srgbClr val="015F84"/>
                </a:solidFill>
                <a:latin typeface="+mj-ea"/>
                <a:ea typeface="PingFang SC Medium" panose="020B0400000000000000"/>
              </a:rPr>
              <a:t>算力从</a:t>
            </a:r>
            <a:r>
              <a:rPr kumimoji="1" lang="en-US" altLang="zh-CN" sz="1600" b="0" dirty="0">
                <a:solidFill>
                  <a:srgbClr val="015F84"/>
                </a:solidFill>
                <a:latin typeface="+mj-ea"/>
                <a:ea typeface="PingFang SC Medium" panose="020B0400000000000000"/>
              </a:rPr>
              <a:t>125</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TFPLOPS</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V100</a:t>
            </a:r>
            <a:r>
              <a:rPr kumimoji="1" lang="zh-CN" altLang="en-US" sz="1600" b="0" dirty="0">
                <a:solidFill>
                  <a:srgbClr val="015F84"/>
                </a:solidFill>
                <a:latin typeface="+mj-ea"/>
                <a:ea typeface="PingFang SC Medium" panose="020B0400000000000000"/>
              </a:rPr>
              <a:t>）增长到</a:t>
            </a:r>
            <a:r>
              <a:rPr kumimoji="1" lang="en-US" altLang="zh-CN" sz="1600" b="0" dirty="0">
                <a:solidFill>
                  <a:srgbClr val="015F84"/>
                </a:solidFill>
                <a:latin typeface="+mj-ea"/>
                <a:ea typeface="PingFang SC Medium" panose="020B0400000000000000"/>
              </a:rPr>
              <a:t>5</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PFLPOS</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B200</a:t>
            </a:r>
            <a:r>
              <a:rPr kumimoji="1" lang="zh-CN" altLang="en-US" sz="1600" b="0" dirty="0">
                <a:solidFill>
                  <a:srgbClr val="015F84"/>
                </a:solidFill>
                <a:latin typeface="+mj-ea"/>
                <a:ea typeface="PingFang SC Medium" panose="020B0400000000000000"/>
              </a:rPr>
              <a:t>）</a:t>
            </a:r>
            <a:endParaRPr kumimoji="1" lang="en-US" altLang="zh-CN" sz="1600" b="0" dirty="0">
              <a:solidFill>
                <a:srgbClr val="015F84"/>
              </a:solidFill>
              <a:latin typeface="+mj-ea"/>
              <a:ea typeface="PingFang SC Medium" panose="020B0400000000000000"/>
            </a:endParaRPr>
          </a:p>
          <a:p>
            <a:r>
              <a:rPr kumimoji="1" lang="en-US" altLang="zh-CN" sz="1600" b="0" dirty="0">
                <a:solidFill>
                  <a:srgbClr val="015F84"/>
                </a:solidFill>
                <a:latin typeface="+mj-ea"/>
                <a:ea typeface="PingFang SC Medium" panose="020B0400000000000000"/>
              </a:rPr>
              <a:t>GPU</a:t>
            </a:r>
            <a:r>
              <a:rPr kumimoji="1" lang="zh-CN" altLang="en-US" sz="1600" dirty="0">
                <a:solidFill>
                  <a:srgbClr val="015F84"/>
                </a:solidFill>
                <a:latin typeface="+mj-ea"/>
                <a:ea typeface="PingFang SC Medium" panose="020B0400000000000000"/>
              </a:rPr>
              <a:t>显存逐级攀升</a:t>
            </a:r>
            <a:r>
              <a:rPr kumimoji="1" lang="zh-CN" altLang="en-US" sz="1600" b="0" dirty="0">
                <a:solidFill>
                  <a:srgbClr val="015F84"/>
                </a:solidFill>
                <a:latin typeface="+mj-ea"/>
                <a:ea typeface="PingFang SC Medium" panose="020B0400000000000000"/>
              </a:rPr>
              <a:t>：单卡显存从</a:t>
            </a:r>
            <a:r>
              <a:rPr kumimoji="1" lang="en-US" altLang="zh-CN" sz="1600" b="0" dirty="0">
                <a:solidFill>
                  <a:srgbClr val="015F84"/>
                </a:solidFill>
                <a:latin typeface="+mj-ea"/>
                <a:ea typeface="PingFang SC Medium" panose="020B0400000000000000"/>
              </a:rPr>
              <a:t>32</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GB</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V100</a:t>
            </a:r>
            <a:r>
              <a:rPr kumimoji="1" lang="zh-CN" altLang="en-US" sz="1600" b="0" dirty="0">
                <a:solidFill>
                  <a:srgbClr val="015F84"/>
                </a:solidFill>
                <a:latin typeface="+mj-ea"/>
                <a:ea typeface="PingFang SC Medium" panose="020B0400000000000000"/>
              </a:rPr>
              <a:t>）增长到</a:t>
            </a:r>
            <a:r>
              <a:rPr kumimoji="1" lang="en-US" altLang="zh-CN" sz="1600" b="0" dirty="0">
                <a:solidFill>
                  <a:srgbClr val="015F84"/>
                </a:solidFill>
                <a:latin typeface="+mj-ea"/>
                <a:ea typeface="PingFang SC Medium" panose="020B0400000000000000"/>
              </a:rPr>
              <a:t>192</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GB</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B200</a:t>
            </a:r>
            <a:r>
              <a:rPr kumimoji="1" lang="zh-CN" altLang="en-US" sz="1600" b="0" dirty="0">
                <a:solidFill>
                  <a:srgbClr val="015F84"/>
                </a:solidFill>
                <a:latin typeface="+mj-ea"/>
                <a:ea typeface="PingFang SC Medium" panose="020B0400000000000000"/>
              </a:rPr>
              <a:t>）；</a:t>
            </a:r>
            <a:r>
              <a:rPr kumimoji="1" lang="zh-CN" altLang="en-US" sz="1600" dirty="0">
                <a:solidFill>
                  <a:srgbClr val="015F84"/>
                </a:solidFill>
                <a:latin typeface="+mj-ea"/>
                <a:ea typeface="PingFang SC Medium" panose="020B0400000000000000"/>
              </a:rPr>
              <a:t>但各种硬件能力的提升速率，按逐年计，并不同步</a:t>
            </a:r>
            <a:endParaRPr kumimoji="1" lang="en-US" altLang="zh-CN" sz="160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大模型参数容量越来越大（</a:t>
            </a:r>
            <a:r>
              <a:rPr kumimoji="1" lang="zh-CN" altLang="en-US" sz="1600" dirty="0">
                <a:solidFill>
                  <a:srgbClr val="015F84"/>
                </a:solidFill>
                <a:latin typeface="+mj-ea"/>
                <a:ea typeface="PingFang SC Medium" panose="020B0400000000000000"/>
              </a:rPr>
              <a:t>更宽</a:t>
            </a:r>
            <a:r>
              <a:rPr kumimoji="1" lang="zh-CN" altLang="en-US" sz="1600" b="0" dirty="0">
                <a:solidFill>
                  <a:srgbClr val="015F84"/>
                </a:solidFill>
                <a:latin typeface="+mj-ea"/>
                <a:ea typeface="PingFang SC Medium" panose="020B0400000000000000"/>
              </a:rPr>
              <a:t>、</a:t>
            </a:r>
            <a:r>
              <a:rPr kumimoji="1" lang="zh-CN" altLang="en-US" sz="1600" dirty="0">
                <a:solidFill>
                  <a:srgbClr val="015F84"/>
                </a:solidFill>
                <a:latin typeface="+mj-ea"/>
                <a:ea typeface="PingFang SC Medium" panose="020B0400000000000000"/>
              </a:rPr>
              <a:t>更长</a:t>
            </a:r>
            <a:r>
              <a:rPr kumimoji="1" lang="zh-CN" altLang="en-US" sz="1600" b="0" dirty="0">
                <a:solidFill>
                  <a:srgbClr val="015F84"/>
                </a:solidFill>
                <a:latin typeface="+mj-ea"/>
                <a:ea typeface="PingFang SC Medium" panose="020B0400000000000000"/>
              </a:rPr>
              <a:t>），大模型架构设计由静态变</a:t>
            </a:r>
            <a:r>
              <a:rPr kumimoji="1" lang="zh-CN" altLang="en-US" sz="1600" dirty="0">
                <a:solidFill>
                  <a:srgbClr val="015F84"/>
                </a:solidFill>
                <a:latin typeface="+mj-ea"/>
                <a:ea typeface="PingFang SC Medium" panose="020B0400000000000000"/>
              </a:rPr>
              <a:t>更动态</a:t>
            </a:r>
            <a:r>
              <a:rPr kumimoji="1" lang="zh-CN" altLang="en-US" sz="1600" b="0" dirty="0">
                <a:solidFill>
                  <a:srgbClr val="015F84"/>
                </a:solidFill>
                <a:latin typeface="+mj-ea"/>
                <a:ea typeface="PingFang SC Medium" panose="020B0400000000000000"/>
              </a:rPr>
              <a:t>，由稠密变</a:t>
            </a:r>
            <a:r>
              <a:rPr kumimoji="1" lang="zh-CN" altLang="en-US" sz="1600" dirty="0">
                <a:solidFill>
                  <a:srgbClr val="015F84"/>
                </a:solidFill>
                <a:latin typeface="+mj-ea"/>
                <a:ea typeface="PingFang SC Medium" panose="020B0400000000000000"/>
              </a:rPr>
              <a:t>更稀疏</a:t>
            </a:r>
            <a:endParaRPr kumimoji="1" lang="en-US" altLang="zh-CN" sz="160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国内外，新的大模型设计，仍</a:t>
            </a:r>
            <a:r>
              <a:rPr kumimoji="1" lang="zh-CN" altLang="en-US" sz="1600" dirty="0">
                <a:solidFill>
                  <a:srgbClr val="015F84"/>
                </a:solidFill>
                <a:latin typeface="+mj-ea"/>
                <a:ea typeface="PingFang SC Medium" panose="020B0400000000000000"/>
              </a:rPr>
              <a:t>不断涌现，百家争鸣</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Qwen3, DeepSeekV3/3.5, Pangu-2, Llama 4, Mistral, Gemini 2</a:t>
            </a:r>
            <a:r>
              <a:rPr kumimoji="1" lang="zh-CN" altLang="en-US" sz="1600" b="0" dirty="0">
                <a:solidFill>
                  <a:srgbClr val="015F84"/>
                </a:solidFill>
                <a:latin typeface="+mj-ea"/>
                <a:ea typeface="PingFang SC Medium" panose="020B0400000000000000"/>
              </a:rPr>
              <a:t>等。</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我的博士生们的研究思路：根据云中计算硬件能力（计算、通信、存储等）不断演进，根据大模型设计演进的一些共性规律，我们研发的新型软件训练系统（</a:t>
            </a:r>
            <a:r>
              <a:rPr kumimoji="1" lang="zh-CN" altLang="en-US" sz="1600" dirty="0">
                <a:solidFill>
                  <a:srgbClr val="FF0000"/>
                </a:solidFill>
                <a:latin typeface="+mj-ea"/>
                <a:ea typeface="PingFang SC Medium" panose="020B0400000000000000"/>
              </a:rPr>
              <a:t>红色</a:t>
            </a:r>
            <a:r>
              <a:rPr kumimoji="1" lang="zh-CN" altLang="en-US" sz="1600" b="0" dirty="0">
                <a:solidFill>
                  <a:srgbClr val="015F84"/>
                </a:solidFill>
                <a:latin typeface="+mj-ea"/>
                <a:ea typeface="PingFang SC Medium" panose="020B0400000000000000"/>
              </a:rPr>
              <a:t>），以提高多种硬件能力的并行性；我们的系统和</a:t>
            </a:r>
            <a:r>
              <a:rPr kumimoji="1" lang="en-US" altLang="zh-CN" sz="1600" b="0" dirty="0">
                <a:solidFill>
                  <a:srgbClr val="015F84"/>
                </a:solidFill>
                <a:latin typeface="+mj-ea"/>
                <a:ea typeface="PingFang SC Medium" panose="020B0400000000000000"/>
              </a:rPr>
              <a:t>baseline</a:t>
            </a:r>
            <a:r>
              <a:rPr kumimoji="1" lang="zh-CN" altLang="en-US" sz="1600" b="0" dirty="0">
                <a:solidFill>
                  <a:srgbClr val="015F84"/>
                </a:solidFill>
                <a:latin typeface="+mj-ea"/>
                <a:ea typeface="PingFang SC Medium" panose="020B0400000000000000"/>
              </a:rPr>
              <a:t>系统互补，共同进步。</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但我们不牺牲大模型训练过程收敛的质量（稳定性确定性）：如</a:t>
            </a:r>
            <a:r>
              <a:rPr kumimoji="1" lang="en-US" altLang="zh-CN" sz="1600" b="0" dirty="0">
                <a:solidFill>
                  <a:srgbClr val="015F84"/>
                </a:solidFill>
                <a:latin typeface="+mj-ea"/>
                <a:ea typeface="PingFang SC Medium" panose="020B0400000000000000"/>
              </a:rPr>
              <a:t>baseline</a:t>
            </a:r>
            <a:r>
              <a:rPr kumimoji="1" lang="zh-CN" altLang="en-US" sz="1600" b="0" dirty="0">
                <a:solidFill>
                  <a:srgbClr val="015F84"/>
                </a:solidFill>
                <a:latin typeface="+mj-ea"/>
                <a:ea typeface="PingFang SC Medium" panose="020B0400000000000000"/>
              </a:rPr>
              <a:t>系统遵循</a:t>
            </a:r>
            <a:r>
              <a:rPr kumimoji="1" lang="en-US" altLang="zh-CN" sz="1600" b="0" dirty="0">
                <a:solidFill>
                  <a:srgbClr val="015F84"/>
                </a:solidFill>
                <a:latin typeface="+mj-ea"/>
                <a:ea typeface="PingFang SC Medium" panose="020B0400000000000000"/>
              </a:rPr>
              <a:t>BSP(Bule Synchronous Parallel)</a:t>
            </a:r>
            <a:r>
              <a:rPr kumimoji="1" lang="zh-CN" altLang="en-US" sz="1600" b="0" dirty="0">
                <a:solidFill>
                  <a:srgbClr val="015F84"/>
                </a:solidFill>
                <a:latin typeface="+mj-ea"/>
                <a:ea typeface="PingFang SC Medium" panose="020B0400000000000000"/>
              </a:rPr>
              <a:t>，我们也遵循。</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博士生们正推进</a:t>
            </a:r>
            <a:r>
              <a:rPr kumimoji="1" lang="en-US" altLang="zh-CN" sz="1600" b="0" dirty="0">
                <a:solidFill>
                  <a:srgbClr val="015F84"/>
                </a:solidFill>
                <a:latin typeface="+mj-ea"/>
                <a:ea typeface="PingFang SC Medium" panose="020B0400000000000000"/>
              </a:rPr>
              <a:t>X Y Z</a:t>
            </a:r>
            <a:r>
              <a:rPr kumimoji="1" lang="zh-CN" altLang="en-US" sz="1600" b="0" dirty="0">
                <a:solidFill>
                  <a:srgbClr val="015F84"/>
                </a:solidFill>
                <a:latin typeface="+mj-ea"/>
                <a:ea typeface="PingFang SC Medium" panose="020B0400000000000000"/>
              </a:rPr>
              <a:t>等支撑更动态更稀疏大模型的训练、后训练和推理系统的工作，密切和领军企业推进新的产业化合作。</a:t>
            </a:r>
            <a:endParaRPr kumimoji="1" lang="en-US" altLang="zh-CN" sz="1600" b="0" dirty="0">
              <a:solidFill>
                <a:srgbClr val="015F84"/>
              </a:solidFill>
              <a:latin typeface="+mj-ea"/>
              <a:ea typeface="PingFang SC Medium" panose="020B0400000000000000"/>
            </a:endParaRPr>
          </a:p>
        </p:txBody>
      </p:sp>
      <p:sp>
        <p:nvSpPr>
          <p:cNvPr id="15" name="文本框 14">
            <a:extLst>
              <a:ext uri="{FF2B5EF4-FFF2-40B4-BE49-F238E27FC236}">
                <a16:creationId xmlns:a16="http://schemas.microsoft.com/office/drawing/2014/main" id="{46F2F90C-ECF0-4092-BD69-B0C54810B83F}"/>
              </a:ext>
            </a:extLst>
          </p:cNvPr>
          <p:cNvSpPr txBox="1"/>
          <p:nvPr/>
        </p:nvSpPr>
        <p:spPr>
          <a:xfrm>
            <a:off x="254280" y="88578"/>
            <a:ext cx="11953764" cy="707886"/>
          </a:xfrm>
          <a:prstGeom prst="rect">
            <a:avLst/>
          </a:prstGeom>
          <a:noFill/>
        </p:spPr>
        <p:txBody>
          <a:bodyPr wrap="square" rtlCol="0">
            <a:spAutoFit/>
          </a:bodyPr>
          <a:lstStyle/>
          <a:p>
            <a:pPr>
              <a:defRPr/>
            </a:pPr>
            <a:r>
              <a:rPr kumimoji="1" lang="zh-CN" altLang="en-US" sz="4000" b="1" dirty="0">
                <a:solidFill>
                  <a:srgbClr val="025F84"/>
                </a:solidFill>
                <a:ea typeface="PingFang SC Medium" panose="020B0400000000000000" pitchFamily="34" charset="-122"/>
              </a:rPr>
              <a:t>云数据中心的硬件发展趋势，大模型设计也有新趋势</a:t>
            </a:r>
            <a:endParaRPr kumimoji="1" lang="en-US" altLang="zh-CN" sz="4000" b="1" dirty="0">
              <a:solidFill>
                <a:srgbClr val="025F84"/>
              </a:solidFill>
              <a:ea typeface="PingFang SC Medium" panose="020B0400000000000000" pitchFamily="34" charset="-122"/>
            </a:endParaRPr>
          </a:p>
        </p:txBody>
      </p:sp>
    </p:spTree>
    <p:extLst>
      <p:ext uri="{BB962C8B-B14F-4D97-AF65-F5344CB8AC3E}">
        <p14:creationId xmlns:p14="http://schemas.microsoft.com/office/powerpoint/2010/main" val="3253654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870CDB-58CB-4615-8DCB-D9018B21E280}"/>
              </a:ext>
            </a:extLst>
          </p:cNvPr>
          <p:cNvSpPr txBox="1"/>
          <p:nvPr/>
        </p:nvSpPr>
        <p:spPr>
          <a:xfrm>
            <a:off x="281015" y="88578"/>
            <a:ext cx="11422385" cy="707886"/>
          </a:xfrm>
          <a:prstGeom prst="rect">
            <a:avLst/>
          </a:prstGeom>
          <a:noFill/>
        </p:spPr>
        <p:txBody>
          <a:bodyPr wrap="square" rtlCol="0">
            <a:spAutoFit/>
          </a:bodyPr>
          <a:lstStyle/>
          <a:p>
            <a:pPr>
              <a:defRPr/>
            </a:pPr>
            <a:r>
              <a:rPr kumimoji="1" lang="zh-CN" altLang="en-US" sz="4000" b="1" dirty="0">
                <a:solidFill>
                  <a:srgbClr val="025F84"/>
                </a:solidFill>
                <a:ea typeface="PingFang SC Medium" panose="020B0400000000000000" pitchFamily="34" charset="-122"/>
              </a:rPr>
              <a:t>国内外的其他相关工作，和我们有很大程度的互补</a:t>
            </a:r>
            <a:endParaRPr kumimoji="1" lang="en-US" altLang="zh-CN" sz="4000" b="1" dirty="0">
              <a:solidFill>
                <a:srgbClr val="025F84"/>
              </a:solidFill>
              <a:ea typeface="PingFang SC Medium" panose="020B0400000000000000" pitchFamily="34" charset="-122"/>
            </a:endParaRPr>
          </a:p>
        </p:txBody>
      </p:sp>
      <p:sp>
        <p:nvSpPr>
          <p:cNvPr id="4" name="内容占位符 2">
            <a:extLst>
              <a:ext uri="{FF2B5EF4-FFF2-40B4-BE49-F238E27FC236}">
                <a16:creationId xmlns:a16="http://schemas.microsoft.com/office/drawing/2014/main" id="{A5A89844-C745-EC3C-6110-B20C1181206C}"/>
              </a:ext>
            </a:extLst>
          </p:cNvPr>
          <p:cNvSpPr>
            <a:spLocks noGrp="1"/>
          </p:cNvSpPr>
          <p:nvPr/>
        </p:nvSpPr>
        <p:spPr bwMode="auto">
          <a:xfrm>
            <a:off x="281016" y="1105169"/>
            <a:ext cx="11622962" cy="5601829"/>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a:solidFill>
                  <a:srgbClr val="015F84"/>
                </a:solidFill>
                <a:ea typeface="PingFang SC Medium" panose="020B0400000000000000"/>
                <a:sym typeface="Wingdings" panose="05000000000000000000" pitchFamily="2" charset="2"/>
              </a:rPr>
              <a:t>国内外先进的大模型众多，分布式训练系统可研究范围广，本研究计划</a:t>
            </a:r>
            <a:r>
              <a:rPr kumimoji="1" lang="en-US" altLang="zh-CN" sz="1600" b="0" err="1">
                <a:solidFill>
                  <a:srgbClr val="015F84"/>
                </a:solidFill>
                <a:ea typeface="PingFang SC Medium" panose="020B0400000000000000"/>
                <a:sym typeface="Wingdings" panose="05000000000000000000" pitchFamily="2" charset="2"/>
              </a:rPr>
              <a:t>MindPipe</a:t>
            </a:r>
            <a:r>
              <a:rPr kumimoji="1" lang="zh-CN" altLang="en-US" sz="1600" b="0">
                <a:solidFill>
                  <a:srgbClr val="015F84"/>
                </a:solidFill>
                <a:ea typeface="PingFang SC Medium" panose="020B0400000000000000"/>
                <a:sym typeface="Wingdings" panose="05000000000000000000" pitchFamily="2" charset="2"/>
              </a:rPr>
              <a:t>专注于其中的语言类大模型的三个点：并行维度间及维度内的资源调度</a:t>
            </a:r>
            <a:r>
              <a:rPr kumimoji="1" lang="zh-CN" altLang="en-US" sz="1600">
                <a:solidFill>
                  <a:srgbClr val="015F84"/>
                </a:solidFill>
                <a:ea typeface="PingFang SC Medium" panose="020B0400000000000000"/>
                <a:sym typeface="Wingdings" panose="05000000000000000000" pitchFamily="2" charset="2"/>
              </a:rPr>
              <a:t>不平衡性</a:t>
            </a:r>
            <a:r>
              <a:rPr kumimoji="1" lang="zh-CN" altLang="en-US" sz="1600" b="0">
                <a:solidFill>
                  <a:srgbClr val="015F84"/>
                </a:solidFill>
                <a:ea typeface="PingFang SC Medium" panose="020B0400000000000000"/>
                <a:sym typeface="Wingdings" panose="05000000000000000000" pitchFamily="2" charset="2"/>
              </a:rPr>
              <a:t>，通用的多子模型并行训练中</a:t>
            </a:r>
            <a:r>
              <a:rPr kumimoji="1" lang="zh-CN" altLang="en-US" sz="1600">
                <a:solidFill>
                  <a:srgbClr val="015F84"/>
                </a:solidFill>
                <a:ea typeface="PingFang SC Medium" panose="020B0400000000000000"/>
                <a:sym typeface="Wingdings" panose="05000000000000000000" pitchFamily="2" charset="2"/>
              </a:rPr>
              <a:t>动态性</a:t>
            </a:r>
            <a:r>
              <a:rPr kumimoji="1" lang="zh-CN" altLang="en-US" sz="1600" b="0">
                <a:solidFill>
                  <a:srgbClr val="015F84"/>
                </a:solidFill>
                <a:ea typeface="PingFang SC Medium" panose="020B0400000000000000"/>
                <a:sym typeface="Wingdings" panose="05000000000000000000" pitchFamily="2" charset="2"/>
              </a:rPr>
              <a:t>和激活干涉性，及“超模型</a:t>
            </a:r>
            <a:r>
              <a:rPr kumimoji="1" lang="en-US" altLang="zh-CN" sz="1600" b="0">
                <a:solidFill>
                  <a:srgbClr val="015F84"/>
                </a:solidFill>
                <a:ea typeface="PingFang SC Medium" panose="020B0400000000000000"/>
                <a:sym typeface="Wingdings" panose="05000000000000000000" pitchFamily="2" charset="2"/>
              </a:rPr>
              <a:t>-</a:t>
            </a:r>
            <a:r>
              <a:rPr kumimoji="1" lang="zh-CN" altLang="en-US" sz="1600" b="0">
                <a:solidFill>
                  <a:srgbClr val="015F84"/>
                </a:solidFill>
                <a:ea typeface="PingFang SC Medium" panose="020B0400000000000000"/>
                <a:sym typeface="Wingdings" panose="05000000000000000000" pitchFamily="2" charset="2"/>
              </a:rPr>
              <a:t>子模型”高性能训练</a:t>
            </a:r>
            <a:endParaRPr kumimoji="1" lang="en-US" altLang="zh-CN" sz="1600">
              <a:solidFill>
                <a:srgbClr val="015F84"/>
              </a:solidFill>
              <a:ea typeface="PingFang SC Medium" panose="020B0400000000000000"/>
              <a:sym typeface="Wingdings" panose="05000000000000000000" pitchFamily="2" charset="2"/>
            </a:endParaRPr>
          </a:p>
          <a:p>
            <a:pPr lvl="1"/>
            <a:r>
              <a:rPr kumimoji="1" lang="zh-CN" altLang="en-US" sz="1400">
                <a:solidFill>
                  <a:srgbClr val="015F84"/>
                </a:solidFill>
                <a:ea typeface="PingFang SC Medium" panose="020B0400000000000000"/>
                <a:sym typeface="Wingdings" panose="05000000000000000000" pitchFamily="2" charset="2"/>
              </a:rPr>
              <a:t>三维并行训练系统，例如</a:t>
            </a:r>
            <a:r>
              <a:rPr kumimoji="1" lang="en-US" altLang="zh-CN" sz="1400">
                <a:solidFill>
                  <a:srgbClr val="015F84"/>
                </a:solidFill>
                <a:ea typeface="PingFang SC Medium" panose="020B0400000000000000"/>
              </a:rPr>
              <a:t>Nvidia Megatron-LM[SC '21]</a:t>
            </a:r>
            <a:r>
              <a:rPr kumimoji="1" lang="zh-CN" altLang="en-US" sz="1400">
                <a:solidFill>
                  <a:srgbClr val="015F84"/>
                </a:solidFill>
                <a:ea typeface="PingFang SC Medium" panose="020B0400000000000000"/>
              </a:rPr>
              <a:t>，</a:t>
            </a:r>
            <a:r>
              <a:rPr kumimoji="1" lang="en-US" altLang="zh-CN" sz="1400">
                <a:solidFill>
                  <a:srgbClr val="015F84"/>
                </a:solidFill>
                <a:ea typeface="PingFang SC Medium" panose="020B0400000000000000"/>
              </a:rPr>
              <a:t>Microsoft </a:t>
            </a:r>
            <a:r>
              <a:rPr kumimoji="1" lang="en-US" altLang="zh-CN" sz="1400" err="1">
                <a:solidFill>
                  <a:srgbClr val="015F84"/>
                </a:solidFill>
                <a:ea typeface="PingFang SC Medium" panose="020B0400000000000000"/>
              </a:rPr>
              <a:t>DeepSpeed</a:t>
            </a:r>
            <a:r>
              <a:rPr kumimoji="1" lang="en-US" altLang="zh-CN" sz="1400">
                <a:solidFill>
                  <a:srgbClr val="015F84"/>
                </a:solidFill>
                <a:ea typeface="PingFang SC Medium" panose="020B0400000000000000"/>
              </a:rPr>
              <a:t> 3D[KDD '21]</a:t>
            </a:r>
          </a:p>
          <a:p>
            <a:pPr lvl="2"/>
            <a:r>
              <a:rPr kumimoji="1" lang="zh-CN" altLang="en-US" sz="1400">
                <a:solidFill>
                  <a:srgbClr val="015F84"/>
                </a:solidFill>
                <a:ea typeface="PingFang SC Medium" panose="020B0400000000000000"/>
              </a:rPr>
              <a:t>针对私有云中使用超算大规模并行训练大模型设计</a:t>
            </a:r>
            <a:endParaRPr kumimoji="1" lang="en-US" altLang="zh-CN" sz="1400">
              <a:solidFill>
                <a:srgbClr val="015F84"/>
              </a:solidFill>
              <a:ea typeface="PingFang SC Medium" panose="020B0400000000000000"/>
            </a:endParaRPr>
          </a:p>
          <a:p>
            <a:pPr lvl="2"/>
            <a:r>
              <a:rPr kumimoji="1" lang="zh-CN" altLang="en-US" sz="1400">
                <a:solidFill>
                  <a:srgbClr val="015F84"/>
                </a:solidFill>
                <a:ea typeface="PingFang SC Medium" panose="020B0400000000000000"/>
              </a:rPr>
              <a:t>本计划互补点：并行维度内</a:t>
            </a:r>
            <a:r>
              <a:rPr kumimoji="1" lang="en-US" altLang="zh-CN" sz="1400">
                <a:solidFill>
                  <a:srgbClr val="015F84"/>
                </a:solidFill>
                <a:ea typeface="PingFang SC Medium" panose="020B0400000000000000"/>
              </a:rPr>
              <a:t>GPU</a:t>
            </a:r>
            <a:r>
              <a:rPr kumimoji="1" lang="zh-CN" altLang="en-US" sz="1400">
                <a:solidFill>
                  <a:srgbClr val="015F84"/>
                </a:solidFill>
                <a:ea typeface="PingFang SC Medium" panose="020B0400000000000000"/>
              </a:rPr>
              <a:t> </a:t>
            </a:r>
            <a:r>
              <a:rPr kumimoji="1" lang="en-US" altLang="zh-CN" sz="1400">
                <a:solidFill>
                  <a:srgbClr val="015F84"/>
                </a:solidFill>
                <a:ea typeface="PingFang SC Medium" panose="020B0400000000000000"/>
              </a:rPr>
              <a:t>ALU</a:t>
            </a:r>
            <a:r>
              <a:rPr kumimoji="1" lang="zh-CN" altLang="en-US" sz="1400">
                <a:solidFill>
                  <a:srgbClr val="015F84"/>
                </a:solidFill>
                <a:ea typeface="PingFang SC Medium" panose="020B0400000000000000"/>
              </a:rPr>
              <a:t>算力和</a:t>
            </a:r>
            <a:r>
              <a:rPr kumimoji="1" lang="en-US" altLang="zh-CN" sz="1400">
                <a:solidFill>
                  <a:srgbClr val="015F84"/>
                </a:solidFill>
                <a:ea typeface="PingFang SC Medium" panose="020B0400000000000000"/>
              </a:rPr>
              <a:t>GPU</a:t>
            </a:r>
            <a:r>
              <a:rPr kumimoji="1" lang="zh-CN" altLang="en-US" sz="1400">
                <a:solidFill>
                  <a:srgbClr val="015F84"/>
                </a:solidFill>
                <a:ea typeface="PingFang SC Medium" panose="020B0400000000000000"/>
              </a:rPr>
              <a:t>内存上的高度不平衡性和三维并行中网络通信与计算的冲突</a:t>
            </a:r>
            <a:endParaRPr kumimoji="1" lang="en-US" altLang="zh-CN" sz="1400">
              <a:solidFill>
                <a:srgbClr val="015F84"/>
              </a:solidFill>
              <a:ea typeface="PingFang SC Medium" panose="020B0400000000000000"/>
            </a:endParaRPr>
          </a:p>
          <a:p>
            <a:pPr lvl="1"/>
            <a:r>
              <a:rPr kumimoji="1" lang="zh-CN" altLang="en-US" sz="1400">
                <a:solidFill>
                  <a:srgbClr val="015F84"/>
                </a:solidFill>
                <a:ea typeface="PingFang SC Medium" panose="020B0400000000000000"/>
              </a:rPr>
              <a:t>“超模型</a:t>
            </a:r>
            <a:r>
              <a:rPr kumimoji="1" lang="en-US" altLang="zh-CN" sz="1400">
                <a:solidFill>
                  <a:srgbClr val="015F84"/>
                </a:solidFill>
                <a:ea typeface="PingFang SC Medium" panose="020B0400000000000000"/>
              </a:rPr>
              <a:t>-</a:t>
            </a:r>
            <a:r>
              <a:rPr kumimoji="1" lang="zh-CN" altLang="en-US" sz="1400">
                <a:solidFill>
                  <a:srgbClr val="015F84"/>
                </a:solidFill>
                <a:ea typeface="PingFang SC Medium" panose="020B0400000000000000"/>
              </a:rPr>
              <a:t>子模型”训练系统，例如</a:t>
            </a:r>
            <a:r>
              <a:rPr kumimoji="1" lang="en-US" altLang="zh-CN" sz="1400">
                <a:solidFill>
                  <a:srgbClr val="015F84"/>
                </a:solidFill>
                <a:ea typeface="PingFang SC Medium" panose="020B0400000000000000"/>
              </a:rPr>
              <a:t>MOE</a:t>
            </a:r>
            <a:r>
              <a:rPr kumimoji="1" lang="zh-CN" altLang="en-US" sz="1400">
                <a:solidFill>
                  <a:srgbClr val="015F84"/>
                </a:solidFill>
                <a:ea typeface="PingFang SC Medium" panose="020B0400000000000000"/>
              </a:rPr>
              <a:t>训练系统清华 </a:t>
            </a:r>
            <a:r>
              <a:rPr kumimoji="1" lang="en-US" altLang="zh-CN" sz="1400" err="1">
                <a:solidFill>
                  <a:srgbClr val="015F84"/>
                </a:solidFill>
                <a:ea typeface="PingFang SC Medium" panose="020B0400000000000000"/>
              </a:rPr>
              <a:t>FasterMoE</a:t>
            </a:r>
            <a:r>
              <a:rPr kumimoji="1" lang="en-US" altLang="zh-CN" sz="1400">
                <a:solidFill>
                  <a:srgbClr val="015F84"/>
                </a:solidFill>
                <a:ea typeface="PingFang SC Medium" panose="020B0400000000000000"/>
              </a:rPr>
              <a:t>[</a:t>
            </a:r>
            <a:r>
              <a:rPr kumimoji="1" lang="en-US" altLang="zh-CN" sz="1400" err="1">
                <a:solidFill>
                  <a:srgbClr val="015F84"/>
                </a:solidFill>
                <a:ea typeface="PingFang SC Medium" panose="020B0400000000000000"/>
              </a:rPr>
              <a:t>PPoPP</a:t>
            </a:r>
            <a:r>
              <a:rPr kumimoji="1" lang="en-US" altLang="zh-CN" sz="1400">
                <a:solidFill>
                  <a:srgbClr val="015F84"/>
                </a:solidFill>
                <a:ea typeface="PingFang SC Medium" panose="020B0400000000000000"/>
              </a:rPr>
              <a:t> ‘22]</a:t>
            </a:r>
            <a:r>
              <a:rPr kumimoji="1" lang="zh-CN" altLang="en-US" sz="1400">
                <a:solidFill>
                  <a:srgbClr val="015F84"/>
                </a:solidFill>
                <a:ea typeface="PingFang SC Medium" panose="020B0400000000000000"/>
              </a:rPr>
              <a:t>，</a:t>
            </a:r>
            <a:r>
              <a:rPr kumimoji="1" lang="en-US" altLang="zh-CN" sz="1400">
                <a:solidFill>
                  <a:srgbClr val="015F84"/>
                </a:solidFill>
                <a:ea typeface="PingFang SC Medium" panose="020B0400000000000000"/>
              </a:rPr>
              <a:t>Microsoft </a:t>
            </a:r>
            <a:r>
              <a:rPr kumimoji="1" lang="en-US" altLang="zh-CN" sz="1400" err="1">
                <a:solidFill>
                  <a:srgbClr val="015F84"/>
                </a:solidFill>
                <a:ea typeface="PingFang SC Medium" panose="020B0400000000000000"/>
              </a:rPr>
              <a:t>Tutel</a:t>
            </a:r>
            <a:r>
              <a:rPr kumimoji="1" lang="en-US" altLang="zh-CN" sz="1400">
                <a:solidFill>
                  <a:srgbClr val="015F84"/>
                </a:solidFill>
                <a:ea typeface="PingFang SC Medium" panose="020B0400000000000000"/>
              </a:rPr>
              <a:t>[</a:t>
            </a:r>
            <a:r>
              <a:rPr kumimoji="1" lang="en-US" altLang="zh-CN" sz="1400" err="1">
                <a:solidFill>
                  <a:srgbClr val="015F84"/>
                </a:solidFill>
                <a:ea typeface="PingFang SC Medium" panose="020B0400000000000000"/>
              </a:rPr>
              <a:t>MLSys</a:t>
            </a:r>
            <a:r>
              <a:rPr kumimoji="1" lang="en-US" altLang="zh-CN" sz="1400">
                <a:solidFill>
                  <a:srgbClr val="015F84"/>
                </a:solidFill>
                <a:ea typeface="PingFang SC Medium" panose="020B0400000000000000"/>
              </a:rPr>
              <a:t> ’23]</a:t>
            </a:r>
            <a:r>
              <a:rPr kumimoji="1" lang="zh-CN" altLang="en-US" sz="1400">
                <a:solidFill>
                  <a:srgbClr val="015F84"/>
                </a:solidFill>
                <a:ea typeface="PingFang SC Medium" panose="020B0400000000000000"/>
              </a:rPr>
              <a:t>，</a:t>
            </a:r>
            <a:r>
              <a:rPr kumimoji="1" lang="en-US" altLang="zh-CN" sz="1400" err="1">
                <a:solidFill>
                  <a:srgbClr val="015F84"/>
                </a:solidFill>
                <a:ea typeface="PingFang SC Medium" panose="020B0400000000000000"/>
              </a:rPr>
              <a:t>FlexMoE</a:t>
            </a:r>
            <a:r>
              <a:rPr kumimoji="1" lang="en-US" altLang="zh-CN" sz="1400">
                <a:solidFill>
                  <a:srgbClr val="015F84"/>
                </a:solidFill>
                <a:ea typeface="PingFang SC Medium" panose="020B0400000000000000"/>
              </a:rPr>
              <a:t>[PACMMOD</a:t>
            </a:r>
            <a:r>
              <a:rPr kumimoji="1" lang="zh-CN" altLang="en-US" sz="1400">
                <a:solidFill>
                  <a:srgbClr val="015F84"/>
                </a:solidFill>
                <a:ea typeface="PingFang SC Medium" panose="020B0400000000000000"/>
              </a:rPr>
              <a:t> </a:t>
            </a:r>
            <a:r>
              <a:rPr kumimoji="1" lang="en-US" altLang="zh-CN" sz="1400">
                <a:solidFill>
                  <a:srgbClr val="015F84"/>
                </a:solidFill>
                <a:ea typeface="PingFang SC Medium" panose="020B0400000000000000"/>
              </a:rPr>
              <a:t>’23]</a:t>
            </a:r>
          </a:p>
          <a:p>
            <a:pPr lvl="2"/>
            <a:r>
              <a:rPr kumimoji="1" lang="zh-CN" altLang="en-US" sz="1400">
                <a:solidFill>
                  <a:srgbClr val="015F84"/>
                </a:solidFill>
                <a:ea typeface="PingFang SC Medium" panose="020B0400000000000000"/>
              </a:rPr>
              <a:t>针对高效并行训练混合专家子模型设计</a:t>
            </a:r>
            <a:endParaRPr kumimoji="1" lang="en-US" altLang="zh-CN" sz="1400">
              <a:solidFill>
                <a:srgbClr val="015F84"/>
              </a:solidFill>
              <a:ea typeface="PingFang SC Medium" panose="020B0400000000000000"/>
            </a:endParaRPr>
          </a:p>
          <a:p>
            <a:pPr lvl="2"/>
            <a:r>
              <a:rPr kumimoji="1" lang="zh-CN" altLang="en-US" sz="1400">
                <a:solidFill>
                  <a:srgbClr val="015F84"/>
                </a:solidFill>
                <a:ea typeface="PingFang SC Medium" panose="020B0400000000000000"/>
              </a:rPr>
              <a:t>和</a:t>
            </a:r>
            <a:r>
              <a:rPr kumimoji="1" lang="en-US" altLang="zh-CN" sz="1400" err="1">
                <a:solidFill>
                  <a:srgbClr val="015F84"/>
                </a:solidFill>
                <a:ea typeface="PingFang SC Medium" panose="020B0400000000000000"/>
              </a:rPr>
              <a:t>vPipe</a:t>
            </a:r>
            <a:r>
              <a:rPr kumimoji="1" lang="zh-CN" altLang="en-US" sz="1400">
                <a:solidFill>
                  <a:srgbClr val="015F84"/>
                </a:solidFill>
                <a:ea typeface="PingFang SC Medium" panose="020B0400000000000000"/>
              </a:rPr>
              <a:t>三维并行互补可整合；适应多任务多模态模型训练等复杂动态路由场景的超模型训练和子模型提取</a:t>
            </a:r>
            <a:endParaRPr kumimoji="1" lang="en-US" altLang="zh-CN" sz="1400">
              <a:solidFill>
                <a:srgbClr val="015F84"/>
              </a:solidFill>
              <a:ea typeface="PingFang SC Medium" panose="020B0400000000000000"/>
            </a:endParaRPr>
          </a:p>
          <a:p>
            <a:pPr lvl="1"/>
            <a:r>
              <a:rPr kumimoji="1" lang="zh-CN" altLang="en-US" sz="1400">
                <a:solidFill>
                  <a:srgbClr val="015F84"/>
                </a:solidFill>
                <a:ea typeface="PingFang SC Medium" panose="020B0400000000000000"/>
              </a:rPr>
              <a:t>多任务多模型并行训练系统，例如</a:t>
            </a:r>
            <a:r>
              <a:rPr kumimoji="1" lang="en-US" altLang="zh-CN" sz="1400">
                <a:solidFill>
                  <a:srgbClr val="015F84"/>
                </a:solidFill>
                <a:ea typeface="PingFang SC Medium" panose="020B0400000000000000"/>
              </a:rPr>
              <a:t>Google Pathways[</a:t>
            </a:r>
            <a:r>
              <a:rPr kumimoji="1" lang="en-US" altLang="zh-CN" sz="1400" err="1">
                <a:solidFill>
                  <a:srgbClr val="015F84"/>
                </a:solidFill>
                <a:ea typeface="PingFang SC Medium" panose="020B0400000000000000"/>
              </a:rPr>
              <a:t>MLSys</a:t>
            </a:r>
            <a:r>
              <a:rPr kumimoji="1" lang="en-US" altLang="zh-CN" sz="1400">
                <a:solidFill>
                  <a:srgbClr val="015F84"/>
                </a:solidFill>
                <a:ea typeface="PingFang SC Medium" panose="020B0400000000000000"/>
              </a:rPr>
              <a:t> '22]</a:t>
            </a:r>
          </a:p>
          <a:p>
            <a:pPr lvl="2"/>
            <a:r>
              <a:rPr kumimoji="1" lang="zh-CN" altLang="en-US" sz="1400">
                <a:solidFill>
                  <a:srgbClr val="015F84"/>
                </a:solidFill>
                <a:ea typeface="PingFang SC Medium" panose="020B0400000000000000"/>
              </a:rPr>
              <a:t>针对多任务多模型的高效并行训练设计，在异构计算集群上同时运行多个任务</a:t>
            </a:r>
            <a:r>
              <a:rPr kumimoji="1" lang="en-US" altLang="zh-CN" sz="1400">
                <a:solidFill>
                  <a:srgbClr val="015F84"/>
                </a:solidFill>
                <a:ea typeface="PingFang SC Medium" panose="020B0400000000000000"/>
              </a:rPr>
              <a:t>/</a:t>
            </a:r>
            <a:r>
              <a:rPr kumimoji="1" lang="zh-CN" altLang="en-US" sz="1400">
                <a:solidFill>
                  <a:srgbClr val="015F84"/>
                </a:solidFill>
                <a:ea typeface="PingFang SC Medium" panose="020B0400000000000000"/>
              </a:rPr>
              <a:t>模型</a:t>
            </a:r>
            <a:endParaRPr kumimoji="1" lang="en-US" altLang="zh-CN" sz="1400">
              <a:solidFill>
                <a:srgbClr val="015F84"/>
              </a:solidFill>
              <a:ea typeface="PingFang SC Medium" panose="020B0400000000000000"/>
            </a:endParaRPr>
          </a:p>
          <a:p>
            <a:pPr lvl="2"/>
            <a:r>
              <a:rPr kumimoji="1" lang="zh-CN" altLang="en-US" sz="1400">
                <a:solidFill>
                  <a:srgbClr val="015F84"/>
                </a:solidFill>
                <a:ea typeface="PingFang SC Medium" panose="020B0400000000000000"/>
              </a:rPr>
              <a:t>本计划互补点：多子模型共享运算符时，子模型质量的互相干涉</a:t>
            </a:r>
            <a:endParaRPr kumimoji="1" lang="en-US" altLang="zh-CN" sz="1600">
              <a:solidFill>
                <a:srgbClr val="015F84"/>
              </a:solidFill>
              <a:ea typeface="PingFang SC Medium" panose="020B0400000000000000"/>
            </a:endParaRPr>
          </a:p>
          <a:p>
            <a:pPr lvl="1"/>
            <a:r>
              <a:rPr kumimoji="1" lang="zh-CN" altLang="en-US" sz="1400">
                <a:solidFill>
                  <a:srgbClr val="015F84"/>
                </a:solidFill>
                <a:ea typeface="PingFang SC Medium" panose="020B0400000000000000"/>
              </a:rPr>
              <a:t>针对异构集群的并行训练系统，例如</a:t>
            </a:r>
            <a:r>
              <a:rPr kumimoji="1" lang="en-US" altLang="zh-CN" sz="1400" err="1">
                <a:solidFill>
                  <a:srgbClr val="015F84"/>
                </a:solidFill>
                <a:ea typeface="PingFang SC Medium" panose="020B0400000000000000"/>
              </a:rPr>
              <a:t>SDPipe</a:t>
            </a:r>
            <a:r>
              <a:rPr kumimoji="1" lang="en-US" altLang="zh-CN" sz="1400">
                <a:solidFill>
                  <a:srgbClr val="015F84"/>
                </a:solidFill>
                <a:ea typeface="PingFang SC Medium" panose="020B0400000000000000"/>
              </a:rPr>
              <a:t>[VLDB ’23]</a:t>
            </a:r>
          </a:p>
          <a:p>
            <a:pPr lvl="1"/>
            <a:r>
              <a:rPr kumimoji="1" lang="zh-CN" altLang="en-US" sz="1400">
                <a:solidFill>
                  <a:srgbClr val="015F84"/>
                </a:solidFill>
                <a:ea typeface="PingFang SC Medium" panose="020B0400000000000000"/>
              </a:rPr>
              <a:t>“超模型</a:t>
            </a:r>
            <a:r>
              <a:rPr kumimoji="1" lang="en-US" altLang="zh-CN" sz="1400">
                <a:solidFill>
                  <a:srgbClr val="015F84"/>
                </a:solidFill>
                <a:ea typeface="PingFang SC Medium" panose="020B0400000000000000"/>
              </a:rPr>
              <a:t>-</a:t>
            </a:r>
            <a:r>
              <a:rPr kumimoji="1" lang="zh-CN" altLang="en-US" sz="1400">
                <a:solidFill>
                  <a:srgbClr val="015F84"/>
                </a:solidFill>
                <a:ea typeface="PingFang SC Medium" panose="020B0400000000000000"/>
              </a:rPr>
              <a:t>子模型”推理系统，例如</a:t>
            </a:r>
            <a:r>
              <a:rPr kumimoji="1" lang="en-US" altLang="zh-CN" sz="1400">
                <a:solidFill>
                  <a:srgbClr val="015F84"/>
                </a:solidFill>
                <a:ea typeface="PingFang SC Medium" panose="020B0400000000000000"/>
              </a:rPr>
              <a:t>MOE</a:t>
            </a:r>
            <a:r>
              <a:rPr kumimoji="1" lang="zh-CN" altLang="en-US" sz="1400">
                <a:solidFill>
                  <a:srgbClr val="015F84"/>
                </a:solidFill>
                <a:ea typeface="PingFang SC Medium" panose="020B0400000000000000"/>
              </a:rPr>
              <a:t>推理系统</a:t>
            </a:r>
            <a:r>
              <a:rPr kumimoji="1" lang="en-US" altLang="zh-CN" sz="1400">
                <a:solidFill>
                  <a:srgbClr val="015F84"/>
                </a:solidFill>
                <a:ea typeface="PingFang SC Medium" panose="020B0400000000000000"/>
              </a:rPr>
              <a:t>Brainstorm[OSDI ‘23]</a:t>
            </a:r>
          </a:p>
          <a:p>
            <a:pPr lvl="2"/>
            <a:r>
              <a:rPr kumimoji="1" lang="zh-CN" altLang="en-US" sz="1400">
                <a:solidFill>
                  <a:srgbClr val="015F84"/>
                </a:solidFill>
                <a:ea typeface="PingFang SC Medium" panose="020B0400000000000000"/>
              </a:rPr>
              <a:t>针对推理过程中的动态负载设计</a:t>
            </a:r>
            <a:endParaRPr kumimoji="1" lang="en-US" altLang="zh-CN" sz="1400">
              <a:solidFill>
                <a:srgbClr val="015F84"/>
              </a:solidFill>
              <a:ea typeface="PingFang SC Medium" panose="020B0400000000000000"/>
            </a:endParaRPr>
          </a:p>
          <a:p>
            <a:pPr lvl="2"/>
            <a:r>
              <a:rPr kumimoji="1" lang="zh-CN" altLang="en-US" sz="1400">
                <a:solidFill>
                  <a:srgbClr val="015F84"/>
                </a:solidFill>
                <a:ea typeface="PingFang SC Medium" panose="020B0400000000000000"/>
              </a:rPr>
              <a:t>本计划互补点：训练过程中的特定问题，如</a:t>
            </a:r>
            <a:r>
              <a:rPr kumimoji="1" lang="en-US" altLang="zh-CN" sz="1400">
                <a:solidFill>
                  <a:srgbClr val="015F84"/>
                </a:solidFill>
                <a:ea typeface="PingFang SC Medium" panose="020B0400000000000000"/>
              </a:rPr>
              <a:t>GPU</a:t>
            </a:r>
            <a:r>
              <a:rPr kumimoji="1" lang="zh-CN" altLang="en-US" sz="1400">
                <a:solidFill>
                  <a:srgbClr val="015F84"/>
                </a:solidFill>
                <a:ea typeface="PingFang SC Medium" panose="020B0400000000000000"/>
              </a:rPr>
              <a:t>内存不平衡</a:t>
            </a:r>
            <a:endParaRPr kumimoji="1" lang="en-US" altLang="zh-CN" sz="1400">
              <a:solidFill>
                <a:srgbClr val="015F84"/>
              </a:solidFill>
              <a:ea typeface="PingFang SC Medium" panose="020B0400000000000000"/>
            </a:endParaRPr>
          </a:p>
          <a:p>
            <a:pPr lvl="1"/>
            <a:endParaRPr lang="en-US" altLang="zh-CN" sz="1400">
              <a:solidFill>
                <a:srgbClr val="000000"/>
              </a:solidFill>
              <a:latin typeface="Arial" panose="020B0604020202020204" pitchFamily="34" charset="0"/>
            </a:endParaRPr>
          </a:p>
          <a:p>
            <a:pPr lvl="1"/>
            <a:endParaRPr kumimoji="1" lang="en-US" altLang="zh-CN" sz="1400" b="0">
              <a:ea typeface="PingFang SC Medium" panose="020B0400000000000000"/>
              <a:sym typeface="Wingdings" panose="05000000000000000000" pitchFamily="2" charset="2"/>
            </a:endParaRPr>
          </a:p>
          <a:p>
            <a:endParaRPr kumimoji="1" lang="en-US" altLang="zh-CN" sz="1400" b="0">
              <a:ea typeface="PingFang SC Medium" panose="020B0400000000000000"/>
              <a:sym typeface="Wingdings" panose="05000000000000000000" pitchFamily="2" charset="2"/>
            </a:endParaRPr>
          </a:p>
        </p:txBody>
      </p:sp>
    </p:spTree>
    <p:extLst>
      <p:ext uri="{BB962C8B-B14F-4D97-AF65-F5344CB8AC3E}">
        <p14:creationId xmlns:p14="http://schemas.microsoft.com/office/powerpoint/2010/main" val="323654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9611F8F4-A289-52E1-825D-63B4AB4A74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D3A57B-50DD-7CD1-4E4E-6F8F8ED02334}"/>
              </a:ext>
            </a:extLst>
          </p:cNvPr>
          <p:cNvSpPr/>
          <p:nvPr/>
        </p:nvSpPr>
        <p:spPr>
          <a:xfrm>
            <a:off x="407730" y="860839"/>
            <a:ext cx="7600424" cy="2404207"/>
          </a:xfrm>
          <a:prstGeom prst="rect">
            <a:avLst/>
          </a:prstGeom>
          <a:ln w="12700">
            <a:prstDash val="lg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2286" dirty="0"/>
          </a:p>
        </p:txBody>
      </p:sp>
      <p:sp>
        <p:nvSpPr>
          <p:cNvPr id="190" name="Google Shape;190;p33">
            <a:extLst>
              <a:ext uri="{FF2B5EF4-FFF2-40B4-BE49-F238E27FC236}">
                <a16:creationId xmlns:a16="http://schemas.microsoft.com/office/drawing/2014/main" id="{91515696-C13D-3F02-D825-F949FB041F52}"/>
              </a:ext>
            </a:extLst>
          </p:cNvPr>
          <p:cNvSpPr txBox="1">
            <a:spLocks noGrp="1"/>
          </p:cNvSpPr>
          <p:nvPr>
            <p:ph type="title"/>
          </p:nvPr>
        </p:nvSpPr>
        <p:spPr>
          <a:xfrm>
            <a:off x="224053" y="119437"/>
            <a:ext cx="11869826" cy="654860"/>
          </a:xfrm>
          <a:prstGeom prst="rect">
            <a:avLst/>
          </a:prstGeom>
          <a:noFill/>
          <a:ln>
            <a:noFill/>
          </a:ln>
        </p:spPr>
        <p:txBody>
          <a:bodyPr spcFirstLastPara="1" vert="horz" wrap="square" lIns="91434" tIns="45700" rIns="91434" bIns="45700" rtlCol="0" anchor="ctr" anchorCtr="0">
            <a:normAutofit fontScale="90000"/>
          </a:bodyPr>
          <a:lstStyle/>
          <a:p>
            <a:r>
              <a:rPr lang="en-US" altLang="zh-CN" sz="2540" b="1" dirty="0">
                <a:latin typeface="Arial" panose="020B0604020202020204" pitchFamily="34" charset="0"/>
                <a:cs typeface="Arial" panose="020B0604020202020204" pitchFamily="34" charset="0"/>
              </a:rPr>
              <a:t>[K2 VLDB ’25]</a:t>
            </a:r>
            <a:r>
              <a:rPr lang="zh-CN" altLang="en-US" sz="2540" b="1" dirty="0">
                <a:latin typeface="Arial" panose="020B0604020202020204" pitchFamily="34" charset="0"/>
                <a:cs typeface="Arial" panose="020B0604020202020204" pitchFamily="34" charset="0"/>
              </a:rPr>
              <a:t>：基于全球卫星原子时钟的强一致性 全球分布式事务系统（华为云“根服务” ）</a:t>
            </a:r>
            <a:endParaRPr lang="en-US" sz="2540" dirty="0">
              <a:latin typeface="Arial" panose="020B0604020202020204" pitchFamily="34" charset="0"/>
              <a:cs typeface="Arial" panose="020B0604020202020204" pitchFamily="34" charset="0"/>
            </a:endParaRPr>
          </a:p>
        </p:txBody>
      </p:sp>
      <p:sp>
        <p:nvSpPr>
          <p:cNvPr id="193" name="Google Shape;193;p33">
            <a:extLst>
              <a:ext uri="{FF2B5EF4-FFF2-40B4-BE49-F238E27FC236}">
                <a16:creationId xmlns:a16="http://schemas.microsoft.com/office/drawing/2014/main" id="{30694ED1-2588-ABC8-0009-48CEBDD0045E}"/>
              </a:ext>
            </a:extLst>
          </p:cNvPr>
          <p:cNvSpPr txBox="1"/>
          <p:nvPr/>
        </p:nvSpPr>
        <p:spPr>
          <a:xfrm>
            <a:off x="410853" y="827018"/>
            <a:ext cx="7728418" cy="949707"/>
          </a:xfrm>
          <a:prstGeom prst="rect">
            <a:avLst/>
          </a:prstGeom>
          <a:noFill/>
          <a:ln>
            <a:noFill/>
          </a:ln>
        </p:spPr>
        <p:txBody>
          <a:bodyPr spcFirstLastPara="1" wrap="square" lIns="121900" tIns="121900" rIns="121900" bIns="121900" anchor="t" anchorCtr="0">
            <a:spAutoFit/>
          </a:bodyPr>
          <a:lstStyle/>
          <a:p>
            <a:pPr>
              <a:buSzPts val="1400"/>
            </a:pPr>
            <a:r>
              <a:rPr lang="en-HK" sz="2286" b="1" dirty="0">
                <a:latin typeface="Calibri"/>
                <a:ea typeface="Calibri"/>
                <a:cs typeface="Calibri"/>
                <a:sym typeface="Calibri"/>
              </a:rPr>
              <a:t>Google</a:t>
            </a:r>
            <a:r>
              <a:rPr lang="zh-CN" altLang="en-US" sz="2286" b="1" dirty="0">
                <a:latin typeface="Calibri"/>
                <a:ea typeface="Calibri"/>
                <a:cs typeface="Calibri"/>
                <a:sym typeface="Calibri"/>
              </a:rPr>
              <a:t> </a:t>
            </a:r>
            <a:r>
              <a:rPr lang="en-US" altLang="zh-CN" sz="2286" b="1" dirty="0"/>
              <a:t>Spanner</a:t>
            </a:r>
            <a:r>
              <a:rPr lang="zh-CN" altLang="en-US" sz="2286" b="1" dirty="0"/>
              <a:t> 基于传统的二阶段锁和二阶段提交协调读写事务</a:t>
            </a:r>
            <a:endParaRPr sz="2286" b="1" dirty="0">
              <a:latin typeface="Calibri"/>
              <a:ea typeface="Calibri"/>
              <a:cs typeface="Calibri"/>
              <a:sym typeface="Calibri"/>
            </a:endParaRPr>
          </a:p>
        </p:txBody>
      </p:sp>
      <p:sp>
        <p:nvSpPr>
          <p:cNvPr id="3" name="Rectangle 2">
            <a:extLst>
              <a:ext uri="{FF2B5EF4-FFF2-40B4-BE49-F238E27FC236}">
                <a16:creationId xmlns:a16="http://schemas.microsoft.com/office/drawing/2014/main" id="{D5C478A5-0E54-2FBF-6C77-BA8119255BE1}"/>
              </a:ext>
            </a:extLst>
          </p:cNvPr>
          <p:cNvSpPr/>
          <p:nvPr/>
        </p:nvSpPr>
        <p:spPr>
          <a:xfrm>
            <a:off x="407730" y="3404688"/>
            <a:ext cx="7600424" cy="2795393"/>
          </a:xfrm>
          <a:prstGeom prst="rect">
            <a:avLst/>
          </a:prstGeom>
          <a:ln w="12700">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2286" dirty="0"/>
          </a:p>
        </p:txBody>
      </p:sp>
      <p:sp>
        <p:nvSpPr>
          <p:cNvPr id="8" name="Google Shape;193;p33">
            <a:extLst>
              <a:ext uri="{FF2B5EF4-FFF2-40B4-BE49-F238E27FC236}">
                <a16:creationId xmlns:a16="http://schemas.microsoft.com/office/drawing/2014/main" id="{B8943AB8-87DC-F69C-B868-26639DC7401D}"/>
              </a:ext>
            </a:extLst>
          </p:cNvPr>
          <p:cNvSpPr txBox="1"/>
          <p:nvPr/>
        </p:nvSpPr>
        <p:spPr>
          <a:xfrm>
            <a:off x="452341" y="3371182"/>
            <a:ext cx="7600423" cy="597944"/>
          </a:xfrm>
          <a:prstGeom prst="rect">
            <a:avLst/>
          </a:prstGeom>
          <a:noFill/>
          <a:ln>
            <a:noFill/>
          </a:ln>
        </p:spPr>
        <p:txBody>
          <a:bodyPr spcFirstLastPara="1" wrap="square" lIns="121900" tIns="121900" rIns="121900" bIns="121900" anchor="t" anchorCtr="0">
            <a:spAutoFit/>
          </a:bodyPr>
          <a:lstStyle/>
          <a:p>
            <a:pPr>
              <a:buSzPts val="1400"/>
            </a:pPr>
            <a:r>
              <a:rPr lang="en-US" altLang="zh-CN" sz="2286" b="1" dirty="0"/>
              <a:t>K2</a:t>
            </a:r>
            <a:r>
              <a:rPr lang="zh-CN" altLang="en-US" sz="2286" b="1" dirty="0"/>
              <a:t>利用高精度时间戳实现自然排序，将二阶段提交异步化</a:t>
            </a:r>
            <a:r>
              <a:rPr lang="zh-CN" altLang="en-US" sz="2286" b="1" dirty="0">
                <a:latin typeface="Calibri"/>
                <a:ea typeface="Calibri"/>
                <a:cs typeface="Calibri"/>
                <a:sym typeface="Calibri"/>
              </a:rPr>
              <a:t> </a:t>
            </a:r>
            <a:endParaRPr sz="2286" b="1" dirty="0">
              <a:latin typeface="Calibri"/>
              <a:ea typeface="Calibri"/>
              <a:cs typeface="Calibri"/>
              <a:sym typeface="Calibri"/>
            </a:endParaRPr>
          </a:p>
        </p:txBody>
      </p:sp>
      <p:pic>
        <p:nvPicPr>
          <p:cNvPr id="10" name="Picture 9" descr="A graph showing the number of client core values&#10;&#10;AI-generated content may be incorrect.">
            <a:extLst>
              <a:ext uri="{FF2B5EF4-FFF2-40B4-BE49-F238E27FC236}">
                <a16:creationId xmlns:a16="http://schemas.microsoft.com/office/drawing/2014/main" id="{4C3F3121-E693-126F-1532-D0467DD92644}"/>
              </a:ext>
            </a:extLst>
          </p:cNvPr>
          <p:cNvPicPr>
            <a:picLocks noChangeAspect="1"/>
          </p:cNvPicPr>
          <p:nvPr/>
        </p:nvPicPr>
        <p:blipFill>
          <a:blip r:embed="rId4"/>
          <a:stretch>
            <a:fillRect/>
          </a:stretch>
        </p:blipFill>
        <p:spPr>
          <a:xfrm>
            <a:off x="8715819" y="778520"/>
            <a:ext cx="2633117" cy="1763248"/>
          </a:xfrm>
          <a:prstGeom prst="rect">
            <a:avLst/>
          </a:prstGeom>
        </p:spPr>
      </p:pic>
      <p:pic>
        <p:nvPicPr>
          <p:cNvPr id="14" name="Picture 13" descr="A graph showing the number of client core values&#10;&#10;AI-generated content may be incorrect.">
            <a:extLst>
              <a:ext uri="{FF2B5EF4-FFF2-40B4-BE49-F238E27FC236}">
                <a16:creationId xmlns:a16="http://schemas.microsoft.com/office/drawing/2014/main" id="{C6EEF570-75EC-FBBB-8267-68C09A309F48}"/>
              </a:ext>
            </a:extLst>
          </p:cNvPr>
          <p:cNvPicPr>
            <a:picLocks noChangeAspect="1"/>
          </p:cNvPicPr>
          <p:nvPr/>
        </p:nvPicPr>
        <p:blipFill>
          <a:blip r:embed="rId5"/>
          <a:stretch>
            <a:fillRect/>
          </a:stretch>
        </p:blipFill>
        <p:spPr>
          <a:xfrm>
            <a:off x="8851640" y="2777917"/>
            <a:ext cx="2828907" cy="1885938"/>
          </a:xfrm>
          <a:prstGeom prst="rect">
            <a:avLst/>
          </a:prstGeom>
        </p:spPr>
      </p:pic>
      <p:sp>
        <p:nvSpPr>
          <p:cNvPr id="15" name="Google Shape;193;p33">
            <a:extLst>
              <a:ext uri="{FF2B5EF4-FFF2-40B4-BE49-F238E27FC236}">
                <a16:creationId xmlns:a16="http://schemas.microsoft.com/office/drawing/2014/main" id="{458131FD-C844-6CDB-EA8E-A7007CED5B0C}"/>
              </a:ext>
            </a:extLst>
          </p:cNvPr>
          <p:cNvSpPr txBox="1"/>
          <p:nvPr/>
        </p:nvSpPr>
        <p:spPr>
          <a:xfrm>
            <a:off x="8794939" y="2430731"/>
            <a:ext cx="3085695" cy="451302"/>
          </a:xfrm>
          <a:prstGeom prst="rect">
            <a:avLst/>
          </a:prstGeom>
          <a:noFill/>
          <a:ln>
            <a:noFill/>
          </a:ln>
        </p:spPr>
        <p:txBody>
          <a:bodyPr spcFirstLastPara="1" wrap="square" lIns="121900" tIns="121900" rIns="121900" bIns="121900" anchor="t" anchorCtr="0">
            <a:spAutoFit/>
          </a:bodyPr>
          <a:lstStyle/>
          <a:p>
            <a:pPr>
              <a:buSzPts val="1400"/>
            </a:pPr>
            <a:r>
              <a:rPr lang="en-HK" sz="1333" b="1" dirty="0" err="1">
                <a:latin typeface="Calibri"/>
                <a:ea typeface="Calibri"/>
                <a:cs typeface="Calibri"/>
                <a:sym typeface="Calibri"/>
              </a:rPr>
              <a:t>事务吞吐相比Spanner</a:t>
            </a:r>
            <a:r>
              <a:rPr lang="zh-CN" altLang="en-US" sz="1333" b="1" dirty="0">
                <a:latin typeface="Calibri"/>
                <a:ea typeface="Calibri"/>
                <a:cs typeface="Calibri"/>
                <a:sym typeface="Calibri"/>
              </a:rPr>
              <a:t> 提升</a:t>
            </a:r>
            <a:r>
              <a:rPr lang="en-US" altLang="zh-CN" sz="1333" b="1" dirty="0">
                <a:latin typeface="Calibri"/>
                <a:ea typeface="Calibri"/>
                <a:cs typeface="Calibri"/>
                <a:sym typeface="Calibri"/>
              </a:rPr>
              <a:t>10</a:t>
            </a:r>
            <a:r>
              <a:rPr lang="zh-CN" altLang="en-US" sz="1333" b="1" dirty="0">
                <a:latin typeface="Calibri"/>
                <a:ea typeface="Calibri"/>
                <a:cs typeface="Calibri"/>
                <a:sym typeface="Calibri"/>
              </a:rPr>
              <a:t>倍</a:t>
            </a:r>
            <a:endParaRPr sz="1333" b="1" dirty="0">
              <a:latin typeface="Calibri"/>
              <a:ea typeface="Calibri"/>
              <a:cs typeface="Calibri"/>
              <a:sym typeface="Calibri"/>
            </a:endParaRPr>
          </a:p>
        </p:txBody>
      </p:sp>
      <p:sp>
        <p:nvSpPr>
          <p:cNvPr id="16" name="Google Shape;193;p33">
            <a:extLst>
              <a:ext uri="{FF2B5EF4-FFF2-40B4-BE49-F238E27FC236}">
                <a16:creationId xmlns:a16="http://schemas.microsoft.com/office/drawing/2014/main" id="{1783BC73-91E0-676B-947B-DCE41E47385E}"/>
              </a:ext>
            </a:extLst>
          </p:cNvPr>
          <p:cNvSpPr txBox="1"/>
          <p:nvPr/>
        </p:nvSpPr>
        <p:spPr>
          <a:xfrm>
            <a:off x="8947652" y="4556031"/>
            <a:ext cx="2501976" cy="461176"/>
          </a:xfrm>
          <a:prstGeom prst="rect">
            <a:avLst/>
          </a:prstGeom>
          <a:noFill/>
          <a:ln>
            <a:noFill/>
          </a:ln>
        </p:spPr>
        <p:txBody>
          <a:bodyPr spcFirstLastPara="1" wrap="square" lIns="121900" tIns="121900" rIns="121900" bIns="121900" anchor="t" anchorCtr="0">
            <a:spAutoFit/>
          </a:bodyPr>
          <a:lstStyle/>
          <a:p>
            <a:pPr>
              <a:buSzPts val="1400"/>
            </a:pPr>
            <a:r>
              <a:rPr lang="en-HK" sz="1397" b="1" dirty="0" err="1">
                <a:latin typeface="Arial" panose="020B0604020202020204" pitchFamily="34" charset="0"/>
                <a:ea typeface="Calibri"/>
                <a:cs typeface="Arial" panose="020B0604020202020204" pitchFamily="34" charset="0"/>
                <a:sym typeface="Calibri"/>
              </a:rPr>
              <a:t>跨域事务时延</a:t>
            </a:r>
            <a:r>
              <a:rPr lang="zh-CN" altLang="en-US" sz="1397" b="1" dirty="0">
                <a:latin typeface="Arial" panose="020B0604020202020204" pitchFamily="34" charset="0"/>
                <a:ea typeface="Calibri"/>
                <a:cs typeface="Arial" panose="020B0604020202020204" pitchFamily="34" charset="0"/>
                <a:sym typeface="Calibri"/>
              </a:rPr>
              <a:t>稳定、可拓展</a:t>
            </a:r>
          </a:p>
        </p:txBody>
      </p:sp>
      <p:sp>
        <p:nvSpPr>
          <p:cNvPr id="17" name="Curved Up Arrow 16">
            <a:extLst>
              <a:ext uri="{FF2B5EF4-FFF2-40B4-BE49-F238E27FC236}">
                <a16:creationId xmlns:a16="http://schemas.microsoft.com/office/drawing/2014/main" id="{17C00757-6927-8E92-F93E-B56057CDAF48}"/>
              </a:ext>
            </a:extLst>
          </p:cNvPr>
          <p:cNvSpPr/>
          <p:nvPr/>
        </p:nvSpPr>
        <p:spPr>
          <a:xfrm rot="16961566">
            <a:off x="10685202" y="1530762"/>
            <a:ext cx="921601" cy="435237"/>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86">
              <a:solidFill>
                <a:schemeClr val="tx1"/>
              </a:solidFill>
            </a:endParaRPr>
          </a:p>
        </p:txBody>
      </p:sp>
      <p:sp>
        <p:nvSpPr>
          <p:cNvPr id="18" name="Google Shape;193;p33">
            <a:extLst>
              <a:ext uri="{FF2B5EF4-FFF2-40B4-BE49-F238E27FC236}">
                <a16:creationId xmlns:a16="http://schemas.microsoft.com/office/drawing/2014/main" id="{8915F733-A6A1-F007-9986-467C847C2DB8}"/>
              </a:ext>
            </a:extLst>
          </p:cNvPr>
          <p:cNvSpPr txBox="1"/>
          <p:nvPr/>
        </p:nvSpPr>
        <p:spPr>
          <a:xfrm>
            <a:off x="10144073" y="1359496"/>
            <a:ext cx="1039465" cy="949707"/>
          </a:xfrm>
          <a:prstGeom prst="rect">
            <a:avLst/>
          </a:prstGeom>
          <a:noFill/>
          <a:ln>
            <a:noFill/>
          </a:ln>
        </p:spPr>
        <p:txBody>
          <a:bodyPr spcFirstLastPara="1" wrap="square" lIns="121900" tIns="121900" rIns="121900" bIns="121900" anchor="t" anchorCtr="0">
            <a:spAutoFit/>
          </a:bodyPr>
          <a:lstStyle/>
          <a:p>
            <a:pPr>
              <a:buSzPts val="1400"/>
            </a:pPr>
            <a:r>
              <a:rPr lang="zh-CN" altLang="en-US" sz="2286" dirty="0">
                <a:latin typeface="Calibri"/>
                <a:ea typeface="Calibri"/>
                <a:cs typeface="Calibri"/>
                <a:sym typeface="Calibri"/>
              </a:rPr>
              <a:t>～</a:t>
            </a:r>
            <a:r>
              <a:rPr lang="en-US" altLang="zh-CN" sz="2286" dirty="0">
                <a:latin typeface="Calibri"/>
                <a:ea typeface="Calibri"/>
                <a:cs typeface="Calibri"/>
                <a:sym typeface="Calibri"/>
              </a:rPr>
              <a:t>10</a:t>
            </a:r>
            <a:r>
              <a:rPr lang="zh-CN" altLang="en-US" sz="2286" dirty="0">
                <a:latin typeface="Calibri"/>
                <a:ea typeface="Calibri"/>
                <a:cs typeface="Calibri"/>
                <a:sym typeface="Calibri"/>
              </a:rPr>
              <a:t>倍</a:t>
            </a:r>
            <a:endParaRPr sz="2286" dirty="0">
              <a:latin typeface="Calibri"/>
              <a:ea typeface="Calibri"/>
              <a:cs typeface="Calibri"/>
              <a:sym typeface="Calibri"/>
            </a:endParaRPr>
          </a:p>
        </p:txBody>
      </p:sp>
      <p:sp>
        <p:nvSpPr>
          <p:cNvPr id="25" name="TextBox 24">
            <a:extLst>
              <a:ext uri="{FF2B5EF4-FFF2-40B4-BE49-F238E27FC236}">
                <a16:creationId xmlns:a16="http://schemas.microsoft.com/office/drawing/2014/main" id="{BBB6AF26-A62F-1ABE-5FEA-76CC3599435C}"/>
              </a:ext>
            </a:extLst>
          </p:cNvPr>
          <p:cNvSpPr txBox="1"/>
          <p:nvPr/>
        </p:nvSpPr>
        <p:spPr>
          <a:xfrm>
            <a:off x="455418" y="5683843"/>
            <a:ext cx="7451114" cy="492892"/>
          </a:xfrm>
          <a:prstGeom prst="rect">
            <a:avLst/>
          </a:prstGeom>
          <a:noFill/>
        </p:spPr>
        <p:txBody>
          <a:bodyPr wrap="square" rtlCol="0">
            <a:spAutoFit/>
          </a:bodyPr>
          <a:lstStyle/>
          <a:p>
            <a:r>
              <a:rPr lang="zh-CN" altLang="en-US" sz="1333" dirty="0"/>
              <a:t>*</a:t>
            </a:r>
            <a:r>
              <a:rPr lang="en-US" sz="1270" dirty="0" err="1"/>
              <a:t>数据版本锁的概念源于</a:t>
            </a:r>
            <a:r>
              <a:rPr lang="zh-CN" altLang="en-US" sz="1270" dirty="0"/>
              <a:t> </a:t>
            </a:r>
            <a:r>
              <a:rPr lang="en-US" sz="1270" dirty="0"/>
              <a:t>MVCC</a:t>
            </a:r>
            <a:r>
              <a:rPr lang="zh-CN" altLang="en-US" sz="1270" dirty="0"/>
              <a:t> </a:t>
            </a:r>
            <a:r>
              <a:rPr lang="en-US" sz="1270" dirty="0"/>
              <a:t>(</a:t>
            </a:r>
            <a:r>
              <a:rPr lang="en-US" altLang="zh-CN" sz="1270" dirty="0"/>
              <a:t>1978</a:t>
            </a:r>
            <a:r>
              <a:rPr lang="en-US" sz="1270" dirty="0"/>
              <a:t>), K2 </a:t>
            </a:r>
            <a:r>
              <a:rPr lang="en-US" sz="1270" dirty="0" err="1"/>
              <a:t>利用对高精度时钟不确定性边界的正确处理</a:t>
            </a:r>
            <a:r>
              <a:rPr lang="zh-CN" altLang="en-US" sz="1270" dirty="0"/>
              <a:t>，</a:t>
            </a:r>
            <a:r>
              <a:rPr lang="en-US" sz="1270" dirty="0" err="1"/>
              <a:t>将数据版本锁拓展到全球跨域事务系统</a:t>
            </a:r>
            <a:r>
              <a:rPr lang="zh-CN" altLang="en-US" sz="1270" dirty="0"/>
              <a:t>，保障高性能和强一致性。</a:t>
            </a:r>
            <a:endParaRPr lang="en-US" sz="1270" dirty="0"/>
          </a:p>
        </p:txBody>
      </p:sp>
      <p:cxnSp>
        <p:nvCxnSpPr>
          <p:cNvPr id="27" name="Straight Connector 26">
            <a:extLst>
              <a:ext uri="{FF2B5EF4-FFF2-40B4-BE49-F238E27FC236}">
                <a16:creationId xmlns:a16="http://schemas.microsoft.com/office/drawing/2014/main" id="{A1B45686-35CD-9289-C0F5-FBF3C45F5197}"/>
              </a:ext>
            </a:extLst>
          </p:cNvPr>
          <p:cNvCxnSpPr>
            <a:cxnSpLocks/>
          </p:cNvCxnSpPr>
          <p:nvPr/>
        </p:nvCxnSpPr>
        <p:spPr>
          <a:xfrm>
            <a:off x="1368210" y="2125841"/>
            <a:ext cx="645971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518254A-DA88-384F-6A0D-72ED031D3525}"/>
              </a:ext>
            </a:extLst>
          </p:cNvPr>
          <p:cNvCxnSpPr>
            <a:cxnSpLocks/>
          </p:cNvCxnSpPr>
          <p:nvPr/>
        </p:nvCxnSpPr>
        <p:spPr>
          <a:xfrm>
            <a:off x="1368210" y="2615546"/>
            <a:ext cx="645971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B7E4C60E-869F-8356-1293-6D7D668E1149}"/>
              </a:ext>
            </a:extLst>
          </p:cNvPr>
          <p:cNvCxnSpPr>
            <a:cxnSpLocks/>
          </p:cNvCxnSpPr>
          <p:nvPr/>
        </p:nvCxnSpPr>
        <p:spPr>
          <a:xfrm>
            <a:off x="1414053" y="3116286"/>
            <a:ext cx="632823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1352CAE-F2B5-A698-FD8D-F2041D590AD7}"/>
              </a:ext>
            </a:extLst>
          </p:cNvPr>
          <p:cNvCxnSpPr>
            <a:cxnSpLocks/>
          </p:cNvCxnSpPr>
          <p:nvPr/>
        </p:nvCxnSpPr>
        <p:spPr>
          <a:xfrm>
            <a:off x="1401490" y="1775717"/>
            <a:ext cx="6426433" cy="0"/>
          </a:xfrm>
          <a:prstGeom prst="line">
            <a:avLst/>
          </a:prstGeom>
          <a:ln w="12700"/>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70D86572-4BC7-B3E8-4DD0-BD940D05D873}"/>
              </a:ext>
            </a:extLst>
          </p:cNvPr>
          <p:cNvSpPr txBox="1"/>
          <p:nvPr/>
        </p:nvSpPr>
        <p:spPr>
          <a:xfrm>
            <a:off x="520335" y="1959248"/>
            <a:ext cx="838691" cy="483209"/>
          </a:xfrm>
          <a:prstGeom prst="rect">
            <a:avLst/>
          </a:prstGeom>
          <a:noFill/>
        </p:spPr>
        <p:txBody>
          <a:bodyPr wrap="none" rtlCol="0">
            <a:spAutoFit/>
          </a:bodyPr>
          <a:lstStyle/>
          <a:p>
            <a:r>
              <a:rPr lang="en-US" sz="1270" b="1" dirty="0"/>
              <a:t>Shard</a:t>
            </a:r>
            <a:r>
              <a:rPr lang="zh-CN" altLang="en-US" sz="1270" b="1" dirty="0"/>
              <a:t> </a:t>
            </a:r>
            <a:r>
              <a:rPr lang="en-US" altLang="zh-CN" sz="1270" b="1" dirty="0"/>
              <a:t>A</a:t>
            </a:r>
          </a:p>
          <a:p>
            <a:r>
              <a:rPr lang="zh-CN" altLang="en-US" sz="1270" b="1" dirty="0"/>
              <a:t>（北京）</a:t>
            </a:r>
            <a:endParaRPr lang="en-US" sz="1270" b="1" dirty="0"/>
          </a:p>
        </p:txBody>
      </p:sp>
      <p:sp>
        <p:nvSpPr>
          <p:cNvPr id="36" name="TextBox 35">
            <a:extLst>
              <a:ext uri="{FF2B5EF4-FFF2-40B4-BE49-F238E27FC236}">
                <a16:creationId xmlns:a16="http://schemas.microsoft.com/office/drawing/2014/main" id="{53A5CD98-466C-3A51-621B-BCDF782AF5EB}"/>
              </a:ext>
            </a:extLst>
          </p:cNvPr>
          <p:cNvSpPr txBox="1"/>
          <p:nvPr/>
        </p:nvSpPr>
        <p:spPr>
          <a:xfrm>
            <a:off x="542810" y="2400260"/>
            <a:ext cx="838691" cy="483209"/>
          </a:xfrm>
          <a:prstGeom prst="rect">
            <a:avLst/>
          </a:prstGeom>
          <a:noFill/>
        </p:spPr>
        <p:txBody>
          <a:bodyPr wrap="none" rtlCol="0">
            <a:spAutoFit/>
          </a:bodyPr>
          <a:lstStyle/>
          <a:p>
            <a:r>
              <a:rPr lang="en-US" sz="1270" b="1" dirty="0"/>
              <a:t>Shard</a:t>
            </a:r>
            <a:r>
              <a:rPr lang="zh-CN" altLang="en-US" sz="1270" b="1" dirty="0"/>
              <a:t> </a:t>
            </a:r>
            <a:r>
              <a:rPr lang="en-US" altLang="zh-CN" sz="1270" b="1" dirty="0"/>
              <a:t>B</a:t>
            </a:r>
          </a:p>
          <a:p>
            <a:r>
              <a:rPr lang="zh-CN" altLang="en-US" sz="1270" b="1" dirty="0"/>
              <a:t>（香港）</a:t>
            </a:r>
            <a:endParaRPr lang="en-US" sz="1270" b="1" dirty="0"/>
          </a:p>
        </p:txBody>
      </p:sp>
      <p:sp>
        <p:nvSpPr>
          <p:cNvPr id="37" name="TextBox 36">
            <a:extLst>
              <a:ext uri="{FF2B5EF4-FFF2-40B4-BE49-F238E27FC236}">
                <a16:creationId xmlns:a16="http://schemas.microsoft.com/office/drawing/2014/main" id="{DE52EAF9-A84B-2F6F-EF2B-D360029CFF0D}"/>
              </a:ext>
            </a:extLst>
          </p:cNvPr>
          <p:cNvSpPr txBox="1"/>
          <p:nvPr/>
        </p:nvSpPr>
        <p:spPr>
          <a:xfrm>
            <a:off x="509108" y="1618443"/>
            <a:ext cx="829073" cy="297454"/>
          </a:xfrm>
          <a:prstGeom prst="rect">
            <a:avLst/>
          </a:prstGeom>
          <a:noFill/>
        </p:spPr>
        <p:txBody>
          <a:bodyPr wrap="none" rtlCol="0">
            <a:spAutoFit/>
          </a:bodyPr>
          <a:lstStyle/>
          <a:p>
            <a:r>
              <a:rPr lang="en-US" altLang="zh-CN" sz="1333" b="1" dirty="0"/>
              <a:t>Client#1</a:t>
            </a:r>
            <a:endParaRPr lang="en-US" sz="1333" b="1" dirty="0"/>
          </a:p>
        </p:txBody>
      </p:sp>
      <p:sp>
        <p:nvSpPr>
          <p:cNvPr id="39" name="TextBox 38">
            <a:extLst>
              <a:ext uri="{FF2B5EF4-FFF2-40B4-BE49-F238E27FC236}">
                <a16:creationId xmlns:a16="http://schemas.microsoft.com/office/drawing/2014/main" id="{ADC0FEDD-CDB1-189A-C069-829D0F7A2A71}"/>
              </a:ext>
            </a:extLst>
          </p:cNvPr>
          <p:cNvSpPr txBox="1"/>
          <p:nvPr/>
        </p:nvSpPr>
        <p:spPr>
          <a:xfrm>
            <a:off x="548782" y="2937167"/>
            <a:ext cx="798617" cy="287771"/>
          </a:xfrm>
          <a:prstGeom prst="rect">
            <a:avLst/>
          </a:prstGeom>
          <a:noFill/>
        </p:spPr>
        <p:txBody>
          <a:bodyPr wrap="none" rtlCol="0">
            <a:spAutoFit/>
          </a:bodyPr>
          <a:lstStyle/>
          <a:p>
            <a:r>
              <a:rPr lang="en-US" altLang="zh-CN" sz="1270" b="1" dirty="0"/>
              <a:t>Client#2</a:t>
            </a:r>
            <a:endParaRPr lang="en-US" sz="1270" b="1" dirty="0"/>
          </a:p>
        </p:txBody>
      </p:sp>
      <p:cxnSp>
        <p:nvCxnSpPr>
          <p:cNvPr id="41" name="Straight Connector 40">
            <a:extLst>
              <a:ext uri="{FF2B5EF4-FFF2-40B4-BE49-F238E27FC236}">
                <a16:creationId xmlns:a16="http://schemas.microsoft.com/office/drawing/2014/main" id="{85B9AE4C-B47B-B842-18EA-94C817377745}"/>
              </a:ext>
            </a:extLst>
          </p:cNvPr>
          <p:cNvCxnSpPr>
            <a:cxnSpLocks/>
          </p:cNvCxnSpPr>
          <p:nvPr/>
        </p:nvCxnSpPr>
        <p:spPr>
          <a:xfrm>
            <a:off x="1435545" y="4689342"/>
            <a:ext cx="645971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AFB939E-3E68-3EE9-77D2-001AE62302C9}"/>
              </a:ext>
            </a:extLst>
          </p:cNvPr>
          <p:cNvCxnSpPr>
            <a:cxnSpLocks/>
          </p:cNvCxnSpPr>
          <p:nvPr/>
        </p:nvCxnSpPr>
        <p:spPr>
          <a:xfrm>
            <a:off x="1446819" y="5182841"/>
            <a:ext cx="645971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CBB38A35-E75B-27FD-0427-0604EB93E2B0}"/>
              </a:ext>
            </a:extLst>
          </p:cNvPr>
          <p:cNvCxnSpPr>
            <a:cxnSpLocks/>
          </p:cNvCxnSpPr>
          <p:nvPr/>
        </p:nvCxnSpPr>
        <p:spPr>
          <a:xfrm>
            <a:off x="1578301" y="5610087"/>
            <a:ext cx="632823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426B98F-9536-5C34-1D96-67566C227024}"/>
              </a:ext>
            </a:extLst>
          </p:cNvPr>
          <p:cNvCxnSpPr>
            <a:cxnSpLocks/>
          </p:cNvCxnSpPr>
          <p:nvPr/>
        </p:nvCxnSpPr>
        <p:spPr>
          <a:xfrm>
            <a:off x="1480099" y="4339218"/>
            <a:ext cx="6426433" cy="0"/>
          </a:xfrm>
          <a:prstGeom prst="line">
            <a:avLst/>
          </a:prstGeom>
          <a:ln w="12700"/>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284DCC7C-5771-9F08-E878-A1B520653AE2}"/>
              </a:ext>
            </a:extLst>
          </p:cNvPr>
          <p:cNvSpPr txBox="1"/>
          <p:nvPr/>
        </p:nvSpPr>
        <p:spPr>
          <a:xfrm>
            <a:off x="463795" y="4442809"/>
            <a:ext cx="838691" cy="483209"/>
          </a:xfrm>
          <a:prstGeom prst="rect">
            <a:avLst/>
          </a:prstGeom>
          <a:noFill/>
        </p:spPr>
        <p:txBody>
          <a:bodyPr wrap="none" rtlCol="0">
            <a:spAutoFit/>
          </a:bodyPr>
          <a:lstStyle/>
          <a:p>
            <a:r>
              <a:rPr lang="en-US" sz="1270" b="1" dirty="0"/>
              <a:t>Shard</a:t>
            </a:r>
            <a:r>
              <a:rPr lang="zh-CN" altLang="en-US" sz="1270" b="1" dirty="0"/>
              <a:t> </a:t>
            </a:r>
            <a:r>
              <a:rPr lang="en-US" altLang="zh-CN" sz="1270" b="1" dirty="0"/>
              <a:t>A</a:t>
            </a:r>
          </a:p>
          <a:p>
            <a:r>
              <a:rPr lang="zh-CN" altLang="en-US" sz="1270" b="1" dirty="0"/>
              <a:t>（北京）</a:t>
            </a:r>
            <a:endParaRPr lang="en-US" sz="1270" b="1" dirty="0"/>
          </a:p>
        </p:txBody>
      </p:sp>
      <p:sp>
        <p:nvSpPr>
          <p:cNvPr id="46" name="TextBox 45">
            <a:extLst>
              <a:ext uri="{FF2B5EF4-FFF2-40B4-BE49-F238E27FC236}">
                <a16:creationId xmlns:a16="http://schemas.microsoft.com/office/drawing/2014/main" id="{D69EABB9-60DB-F524-00CC-350D47938141}"/>
              </a:ext>
            </a:extLst>
          </p:cNvPr>
          <p:cNvSpPr txBox="1"/>
          <p:nvPr/>
        </p:nvSpPr>
        <p:spPr>
          <a:xfrm>
            <a:off x="475068" y="4873394"/>
            <a:ext cx="838691" cy="483209"/>
          </a:xfrm>
          <a:prstGeom prst="rect">
            <a:avLst/>
          </a:prstGeom>
          <a:noFill/>
        </p:spPr>
        <p:txBody>
          <a:bodyPr wrap="none" rtlCol="0">
            <a:spAutoFit/>
          </a:bodyPr>
          <a:lstStyle/>
          <a:p>
            <a:r>
              <a:rPr lang="en-US" sz="1270" b="1" dirty="0"/>
              <a:t>Shard</a:t>
            </a:r>
            <a:r>
              <a:rPr lang="zh-CN" altLang="en-US" sz="1270" b="1" dirty="0"/>
              <a:t> </a:t>
            </a:r>
            <a:r>
              <a:rPr lang="en-US" altLang="zh-CN" sz="1270" b="1" dirty="0"/>
              <a:t>B</a:t>
            </a:r>
          </a:p>
          <a:p>
            <a:r>
              <a:rPr lang="zh-CN" altLang="en-US" sz="1270" b="1" dirty="0"/>
              <a:t>（香港）</a:t>
            </a:r>
            <a:endParaRPr lang="en-US" sz="1270" b="1" dirty="0"/>
          </a:p>
        </p:txBody>
      </p:sp>
      <p:sp>
        <p:nvSpPr>
          <p:cNvPr id="47" name="TextBox 46">
            <a:extLst>
              <a:ext uri="{FF2B5EF4-FFF2-40B4-BE49-F238E27FC236}">
                <a16:creationId xmlns:a16="http://schemas.microsoft.com/office/drawing/2014/main" id="{25355965-F810-6651-C426-5E1C7B7B8B23}"/>
              </a:ext>
            </a:extLst>
          </p:cNvPr>
          <p:cNvSpPr txBox="1"/>
          <p:nvPr/>
        </p:nvSpPr>
        <p:spPr>
          <a:xfrm>
            <a:off x="463794" y="4170862"/>
            <a:ext cx="798617" cy="287771"/>
          </a:xfrm>
          <a:prstGeom prst="rect">
            <a:avLst/>
          </a:prstGeom>
          <a:noFill/>
        </p:spPr>
        <p:txBody>
          <a:bodyPr wrap="none" rtlCol="0">
            <a:spAutoFit/>
          </a:bodyPr>
          <a:lstStyle/>
          <a:p>
            <a:r>
              <a:rPr lang="en-US" altLang="zh-CN" sz="1270" b="1" dirty="0"/>
              <a:t>Client#1</a:t>
            </a:r>
            <a:endParaRPr lang="en-US" sz="1270" b="1" dirty="0"/>
          </a:p>
        </p:txBody>
      </p:sp>
      <p:sp>
        <p:nvSpPr>
          <p:cNvPr id="48" name="TextBox 47">
            <a:extLst>
              <a:ext uri="{FF2B5EF4-FFF2-40B4-BE49-F238E27FC236}">
                <a16:creationId xmlns:a16="http://schemas.microsoft.com/office/drawing/2014/main" id="{2D7B8FA9-0771-D2A9-0367-342F196CA4C4}"/>
              </a:ext>
            </a:extLst>
          </p:cNvPr>
          <p:cNvSpPr txBox="1"/>
          <p:nvPr/>
        </p:nvSpPr>
        <p:spPr>
          <a:xfrm>
            <a:off x="469747" y="5414320"/>
            <a:ext cx="798617" cy="287771"/>
          </a:xfrm>
          <a:prstGeom prst="rect">
            <a:avLst/>
          </a:prstGeom>
          <a:noFill/>
        </p:spPr>
        <p:txBody>
          <a:bodyPr wrap="none" rtlCol="0">
            <a:spAutoFit/>
          </a:bodyPr>
          <a:lstStyle/>
          <a:p>
            <a:r>
              <a:rPr lang="en-US" altLang="zh-CN" sz="1270" b="1" dirty="0"/>
              <a:t>Client#2</a:t>
            </a:r>
            <a:endParaRPr lang="en-US" sz="1270" b="1" dirty="0"/>
          </a:p>
        </p:txBody>
      </p:sp>
      <p:cxnSp>
        <p:nvCxnSpPr>
          <p:cNvPr id="134" name="Straight Arrow Connector 133">
            <a:extLst>
              <a:ext uri="{FF2B5EF4-FFF2-40B4-BE49-F238E27FC236}">
                <a16:creationId xmlns:a16="http://schemas.microsoft.com/office/drawing/2014/main" id="{1BD587A6-393F-C255-5AF3-6ECB256D2616}"/>
              </a:ext>
            </a:extLst>
          </p:cNvPr>
          <p:cNvCxnSpPr>
            <a:cxnSpLocks/>
          </p:cNvCxnSpPr>
          <p:nvPr/>
        </p:nvCxnSpPr>
        <p:spPr>
          <a:xfrm>
            <a:off x="3681977" y="1808227"/>
            <a:ext cx="569535" cy="3456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8D60C0B-B769-B13F-3120-282E081CCE73}"/>
              </a:ext>
            </a:extLst>
          </p:cNvPr>
          <p:cNvCxnSpPr>
            <a:cxnSpLocks/>
          </p:cNvCxnSpPr>
          <p:nvPr/>
        </p:nvCxnSpPr>
        <p:spPr>
          <a:xfrm>
            <a:off x="3645309" y="1794161"/>
            <a:ext cx="792848" cy="839829"/>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C66F9CDF-26DA-E108-275B-4FA01C4B88F7}"/>
              </a:ext>
            </a:extLst>
          </p:cNvPr>
          <p:cNvCxnSpPr>
            <a:cxnSpLocks/>
          </p:cNvCxnSpPr>
          <p:nvPr/>
        </p:nvCxnSpPr>
        <p:spPr>
          <a:xfrm flipV="1">
            <a:off x="4251512" y="1827546"/>
            <a:ext cx="518533" cy="33009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494319E7-D65F-CE3B-2B00-DD6B393301B5}"/>
              </a:ext>
            </a:extLst>
          </p:cNvPr>
          <p:cNvCxnSpPr>
            <a:cxnSpLocks/>
          </p:cNvCxnSpPr>
          <p:nvPr/>
        </p:nvCxnSpPr>
        <p:spPr>
          <a:xfrm flipV="1">
            <a:off x="4510777" y="1791622"/>
            <a:ext cx="1049864" cy="82305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EDECECB0-B128-8818-13D1-61FA86656E46}"/>
              </a:ext>
            </a:extLst>
          </p:cNvPr>
          <p:cNvCxnSpPr>
            <a:cxnSpLocks/>
          </p:cNvCxnSpPr>
          <p:nvPr/>
        </p:nvCxnSpPr>
        <p:spPr>
          <a:xfrm>
            <a:off x="5783955" y="1797923"/>
            <a:ext cx="569535" cy="3456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03537A9F-2C36-3155-0A3C-D618E7627539}"/>
              </a:ext>
            </a:extLst>
          </p:cNvPr>
          <p:cNvCxnSpPr>
            <a:cxnSpLocks/>
          </p:cNvCxnSpPr>
          <p:nvPr/>
        </p:nvCxnSpPr>
        <p:spPr>
          <a:xfrm>
            <a:off x="5747288" y="1783858"/>
            <a:ext cx="792848" cy="839829"/>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A53DFB5F-E708-F4F0-DD58-A7B36542CD6D}"/>
              </a:ext>
            </a:extLst>
          </p:cNvPr>
          <p:cNvCxnSpPr>
            <a:cxnSpLocks/>
          </p:cNvCxnSpPr>
          <p:nvPr/>
        </p:nvCxnSpPr>
        <p:spPr>
          <a:xfrm flipV="1">
            <a:off x="6353490" y="1817242"/>
            <a:ext cx="518533" cy="33009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9ACC2EDF-03C3-CB92-E5B6-AB68D9A31D57}"/>
              </a:ext>
            </a:extLst>
          </p:cNvPr>
          <p:cNvCxnSpPr>
            <a:cxnSpLocks/>
          </p:cNvCxnSpPr>
          <p:nvPr/>
        </p:nvCxnSpPr>
        <p:spPr>
          <a:xfrm flipV="1">
            <a:off x="6612756" y="1822355"/>
            <a:ext cx="1110358" cy="782014"/>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BB16E3E5-7AF1-B753-B4EC-9336074B1785}"/>
              </a:ext>
            </a:extLst>
          </p:cNvPr>
          <p:cNvSpPr/>
          <p:nvPr/>
        </p:nvSpPr>
        <p:spPr>
          <a:xfrm>
            <a:off x="1535535" y="1325632"/>
            <a:ext cx="1416156" cy="3047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24" dirty="0" err="1"/>
              <a:t>读写事务执行</a:t>
            </a:r>
            <a:endParaRPr lang="en-US" sz="1524" dirty="0"/>
          </a:p>
        </p:txBody>
      </p:sp>
      <p:sp>
        <p:nvSpPr>
          <p:cNvPr id="150" name="Rectangle 149">
            <a:extLst>
              <a:ext uri="{FF2B5EF4-FFF2-40B4-BE49-F238E27FC236}">
                <a16:creationId xmlns:a16="http://schemas.microsoft.com/office/drawing/2014/main" id="{4322CFB2-9F15-3356-0DCF-0CF041BE832C}"/>
              </a:ext>
            </a:extLst>
          </p:cNvPr>
          <p:cNvSpPr/>
          <p:nvPr/>
        </p:nvSpPr>
        <p:spPr>
          <a:xfrm>
            <a:off x="4611353" y="1297720"/>
            <a:ext cx="1413048" cy="3047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24" dirty="0" err="1"/>
              <a:t>读写事务提交</a:t>
            </a:r>
            <a:endParaRPr lang="en-US" sz="1524" dirty="0"/>
          </a:p>
        </p:txBody>
      </p:sp>
      <p:cxnSp>
        <p:nvCxnSpPr>
          <p:cNvPr id="151" name="Straight Arrow Connector 150">
            <a:extLst>
              <a:ext uri="{FF2B5EF4-FFF2-40B4-BE49-F238E27FC236}">
                <a16:creationId xmlns:a16="http://schemas.microsoft.com/office/drawing/2014/main" id="{B104A7B4-C1C3-4A8D-F0AE-5ED9BF7A0999}"/>
              </a:ext>
            </a:extLst>
          </p:cNvPr>
          <p:cNvCxnSpPr>
            <a:cxnSpLocks/>
          </p:cNvCxnSpPr>
          <p:nvPr/>
        </p:nvCxnSpPr>
        <p:spPr>
          <a:xfrm>
            <a:off x="1642005" y="1769729"/>
            <a:ext cx="569535" cy="3456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82F0E1B3-FE09-CAC1-1D7C-E56DB19E7BD3}"/>
              </a:ext>
            </a:extLst>
          </p:cNvPr>
          <p:cNvCxnSpPr>
            <a:cxnSpLocks/>
          </p:cNvCxnSpPr>
          <p:nvPr/>
        </p:nvCxnSpPr>
        <p:spPr>
          <a:xfrm>
            <a:off x="1629782" y="1780108"/>
            <a:ext cx="792848" cy="839829"/>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98A6DEA8-57B7-5819-459D-8BD3F6FBFECE}"/>
              </a:ext>
            </a:extLst>
          </p:cNvPr>
          <p:cNvCxnSpPr>
            <a:cxnSpLocks/>
          </p:cNvCxnSpPr>
          <p:nvPr/>
        </p:nvCxnSpPr>
        <p:spPr>
          <a:xfrm flipV="1">
            <a:off x="2211540" y="1789048"/>
            <a:ext cx="518533" cy="33009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0093EFD3-A927-C8E5-2E6E-24E55F4CAA5A}"/>
              </a:ext>
            </a:extLst>
          </p:cNvPr>
          <p:cNvCxnSpPr>
            <a:cxnSpLocks/>
          </p:cNvCxnSpPr>
          <p:nvPr/>
        </p:nvCxnSpPr>
        <p:spPr>
          <a:xfrm flipV="1">
            <a:off x="2470806" y="1794161"/>
            <a:ext cx="1110358" cy="782014"/>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392DD9EC-BD88-6E7D-EFCE-E3BB26AB1DC1}"/>
              </a:ext>
            </a:extLst>
          </p:cNvPr>
          <p:cNvCxnSpPr>
            <a:cxnSpLocks/>
          </p:cNvCxnSpPr>
          <p:nvPr/>
        </p:nvCxnSpPr>
        <p:spPr>
          <a:xfrm>
            <a:off x="3581163" y="1362582"/>
            <a:ext cx="0" cy="1602860"/>
          </a:xfrm>
          <a:prstGeom prst="line">
            <a:avLst/>
          </a:prstGeom>
          <a:ln w="12700"/>
        </p:spPr>
        <p:style>
          <a:lnRef idx="1">
            <a:schemeClr val="accent6"/>
          </a:lnRef>
          <a:fillRef idx="0">
            <a:schemeClr val="accent6"/>
          </a:fillRef>
          <a:effectRef idx="0">
            <a:schemeClr val="accent6"/>
          </a:effectRef>
          <a:fontRef idx="minor">
            <a:schemeClr val="tx1"/>
          </a:fontRef>
        </p:style>
      </p:cxnSp>
      <p:sp>
        <p:nvSpPr>
          <p:cNvPr id="158" name="TextBox 157">
            <a:extLst>
              <a:ext uri="{FF2B5EF4-FFF2-40B4-BE49-F238E27FC236}">
                <a16:creationId xmlns:a16="http://schemas.microsoft.com/office/drawing/2014/main" id="{E0113633-A0CF-B890-7FBA-E00405DAFBBD}"/>
              </a:ext>
            </a:extLst>
          </p:cNvPr>
          <p:cNvSpPr txBox="1"/>
          <p:nvPr/>
        </p:nvSpPr>
        <p:spPr>
          <a:xfrm>
            <a:off x="5177268" y="2299726"/>
            <a:ext cx="769763" cy="326884"/>
          </a:xfrm>
          <a:prstGeom prst="rect">
            <a:avLst/>
          </a:prstGeom>
          <a:noFill/>
        </p:spPr>
        <p:txBody>
          <a:bodyPr wrap="none" rtlCol="0">
            <a:spAutoFit/>
          </a:bodyPr>
          <a:lstStyle/>
          <a:p>
            <a:r>
              <a:rPr lang="en-US" altLang="zh-CN" sz="1524" b="1" dirty="0">
                <a:solidFill>
                  <a:srgbClr val="C00000"/>
                </a:solidFill>
              </a:rPr>
              <a:t>100ms</a:t>
            </a:r>
            <a:endParaRPr lang="en-US" sz="1524" b="1" dirty="0">
              <a:solidFill>
                <a:srgbClr val="C00000"/>
              </a:solidFill>
            </a:endParaRPr>
          </a:p>
        </p:txBody>
      </p:sp>
      <p:cxnSp>
        <p:nvCxnSpPr>
          <p:cNvPr id="159" name="Straight Connector 158">
            <a:extLst>
              <a:ext uri="{FF2B5EF4-FFF2-40B4-BE49-F238E27FC236}">
                <a16:creationId xmlns:a16="http://schemas.microsoft.com/office/drawing/2014/main" id="{69E7C3D0-5658-5B84-F766-76795DBDE09C}"/>
              </a:ext>
            </a:extLst>
          </p:cNvPr>
          <p:cNvCxnSpPr>
            <a:cxnSpLocks/>
          </p:cNvCxnSpPr>
          <p:nvPr/>
        </p:nvCxnSpPr>
        <p:spPr>
          <a:xfrm flipV="1">
            <a:off x="4491946" y="2610968"/>
            <a:ext cx="2112335" cy="0"/>
          </a:xfrm>
          <a:prstGeom prst="line">
            <a:avLst/>
          </a:prstGeom>
          <a:ln w="38100">
            <a:solidFill>
              <a:srgbClr val="C00000"/>
            </a:solidFill>
            <a:headEnd type="oval" w="med" len="med"/>
            <a:tailEnd type="oval" w="med" len="med"/>
          </a:ln>
        </p:spPr>
        <p:style>
          <a:lnRef idx="1">
            <a:schemeClr val="accent6"/>
          </a:lnRef>
          <a:fillRef idx="0">
            <a:schemeClr val="accent6"/>
          </a:fillRef>
          <a:effectRef idx="0">
            <a:schemeClr val="accent6"/>
          </a:effectRef>
          <a:fontRef idx="minor">
            <a:schemeClr val="tx1"/>
          </a:fontRef>
        </p:style>
      </p:cxnSp>
      <p:cxnSp>
        <p:nvCxnSpPr>
          <p:cNvPr id="162" name="Straight Arrow Connector 161">
            <a:extLst>
              <a:ext uri="{FF2B5EF4-FFF2-40B4-BE49-F238E27FC236}">
                <a16:creationId xmlns:a16="http://schemas.microsoft.com/office/drawing/2014/main" id="{29B7308B-CE59-9B7D-4BE9-601877615B05}"/>
              </a:ext>
            </a:extLst>
          </p:cNvPr>
          <p:cNvCxnSpPr>
            <a:cxnSpLocks/>
          </p:cNvCxnSpPr>
          <p:nvPr/>
        </p:nvCxnSpPr>
        <p:spPr>
          <a:xfrm flipV="1">
            <a:off x="4174729" y="2641713"/>
            <a:ext cx="522022" cy="47274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4634C696-940A-797D-0A2E-B3E79E8F52D4}"/>
              </a:ext>
            </a:extLst>
          </p:cNvPr>
          <p:cNvCxnSpPr>
            <a:cxnSpLocks/>
          </p:cNvCxnSpPr>
          <p:nvPr/>
        </p:nvCxnSpPr>
        <p:spPr>
          <a:xfrm>
            <a:off x="6789079" y="2609252"/>
            <a:ext cx="340893" cy="48471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B3673B1C-E8C0-D555-7C5E-38E874C50E91}"/>
              </a:ext>
            </a:extLst>
          </p:cNvPr>
          <p:cNvSpPr/>
          <p:nvPr/>
        </p:nvSpPr>
        <p:spPr>
          <a:xfrm>
            <a:off x="4794979" y="2668389"/>
            <a:ext cx="1714281" cy="511357"/>
          </a:xfrm>
          <a:prstGeom prst="rect">
            <a:avLst/>
          </a:prstGeom>
          <a:solidFill>
            <a:srgbClr val="C00000"/>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397" b="1" dirty="0">
                <a:latin typeface="Arial" panose="020B0604020202020204" pitchFamily="34" charset="0"/>
                <a:ea typeface="SimHei" panose="02010609060101010101" pitchFamily="49" charset="-122"/>
                <a:cs typeface="Arial" panose="020B0604020202020204" pitchFamily="34" charset="0"/>
              </a:rPr>
              <a:t>Client2</a:t>
            </a:r>
            <a:r>
              <a:rPr lang="zh-TW" altLang="en-US" sz="1397" b="1" dirty="0">
                <a:latin typeface="Arial" panose="020B0604020202020204" pitchFamily="34" charset="0"/>
                <a:ea typeface="SimHei" panose="02010609060101010101" pitchFamily="49" charset="-122"/>
                <a:cs typeface="Arial" panose="020B0604020202020204" pitchFamily="34" charset="0"/>
              </a:rPr>
              <a:t>被</a:t>
            </a:r>
            <a:r>
              <a:rPr lang="en-US" sz="1397" b="1" dirty="0">
                <a:latin typeface="Arial" panose="020B0604020202020204" pitchFamily="34" charset="0"/>
                <a:ea typeface="SimHei" panose="02010609060101010101" pitchFamily="49" charset="-122"/>
                <a:cs typeface="Arial" panose="020B0604020202020204" pitchFamily="34" charset="0"/>
              </a:rPr>
              <a:t>Client</a:t>
            </a:r>
            <a:r>
              <a:rPr lang="zh-TW" altLang="en-US" sz="1397" b="1" dirty="0">
                <a:latin typeface="Arial" panose="020B0604020202020204" pitchFamily="34" charset="0"/>
                <a:ea typeface="SimHei" panose="02010609060101010101" pitchFamily="49" charset="-122"/>
                <a:cs typeface="Arial" panose="020B0604020202020204" pitchFamily="34" charset="0"/>
              </a:rPr>
              <a:t>的锁阻塞</a:t>
            </a:r>
            <a:r>
              <a:rPr lang="en-US" altLang="zh-TW" sz="1397" b="1" dirty="0">
                <a:latin typeface="Arial" panose="020B0604020202020204" pitchFamily="34" charset="0"/>
                <a:ea typeface="SimHei" panose="02010609060101010101" pitchFamily="49" charset="-122"/>
                <a:cs typeface="Arial" panose="020B0604020202020204" pitchFamily="34" charset="0"/>
              </a:rPr>
              <a:t>, </a:t>
            </a:r>
            <a:r>
              <a:rPr lang="zh-TW" altLang="en-US" sz="1397" b="1" dirty="0">
                <a:latin typeface="Arial" panose="020B0604020202020204" pitchFamily="34" charset="0"/>
                <a:ea typeface="SimHei" panose="02010609060101010101" pitchFamily="49" charset="-122"/>
                <a:cs typeface="Arial" panose="020B0604020202020204" pitchFamily="34" charset="0"/>
              </a:rPr>
              <a:t>无法写</a:t>
            </a:r>
            <a:endParaRPr lang="en-US" sz="1397" b="1" dirty="0">
              <a:latin typeface="Arial" panose="020B0604020202020204" pitchFamily="34" charset="0"/>
              <a:ea typeface="SimHei" panose="02010609060101010101" pitchFamily="49" charset="-122"/>
              <a:cs typeface="Arial" panose="020B0604020202020204" pitchFamily="34" charset="0"/>
            </a:endParaRPr>
          </a:p>
        </p:txBody>
      </p:sp>
      <p:sp>
        <p:nvSpPr>
          <p:cNvPr id="167" name="Rectangle 166">
            <a:extLst>
              <a:ext uri="{FF2B5EF4-FFF2-40B4-BE49-F238E27FC236}">
                <a16:creationId xmlns:a16="http://schemas.microsoft.com/office/drawing/2014/main" id="{E311EBCB-DDE9-31DB-AA87-50E9DD0FAFBF}"/>
              </a:ext>
            </a:extLst>
          </p:cNvPr>
          <p:cNvSpPr/>
          <p:nvPr/>
        </p:nvSpPr>
        <p:spPr>
          <a:xfrm>
            <a:off x="1512991" y="3842813"/>
            <a:ext cx="1524942" cy="2490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24" dirty="0" err="1"/>
              <a:t>读写事务执行</a:t>
            </a:r>
            <a:endParaRPr lang="en-US" sz="1524" dirty="0"/>
          </a:p>
        </p:txBody>
      </p:sp>
      <p:sp>
        <p:nvSpPr>
          <p:cNvPr id="168" name="Rectangle 167">
            <a:extLst>
              <a:ext uri="{FF2B5EF4-FFF2-40B4-BE49-F238E27FC236}">
                <a16:creationId xmlns:a16="http://schemas.microsoft.com/office/drawing/2014/main" id="{2DE0D3C1-F6B6-B30C-FBA4-7936BFEAAF44}"/>
              </a:ext>
            </a:extLst>
          </p:cNvPr>
          <p:cNvSpPr/>
          <p:nvPr/>
        </p:nvSpPr>
        <p:spPr>
          <a:xfrm>
            <a:off x="4841244" y="3832358"/>
            <a:ext cx="1435233" cy="2682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24" dirty="0" err="1"/>
              <a:t>读写事务提交</a:t>
            </a:r>
            <a:endParaRPr lang="en-US" sz="2286" dirty="0"/>
          </a:p>
        </p:txBody>
      </p:sp>
      <p:cxnSp>
        <p:nvCxnSpPr>
          <p:cNvPr id="169" name="Straight Connector 168">
            <a:extLst>
              <a:ext uri="{FF2B5EF4-FFF2-40B4-BE49-F238E27FC236}">
                <a16:creationId xmlns:a16="http://schemas.microsoft.com/office/drawing/2014/main" id="{832D0D4B-2436-F0ED-BC7C-A83F1B8CB030}"/>
              </a:ext>
            </a:extLst>
          </p:cNvPr>
          <p:cNvCxnSpPr>
            <a:cxnSpLocks/>
          </p:cNvCxnSpPr>
          <p:nvPr/>
        </p:nvCxnSpPr>
        <p:spPr>
          <a:xfrm>
            <a:off x="3677811" y="3719625"/>
            <a:ext cx="0" cy="1602860"/>
          </a:xfrm>
          <a:prstGeom prst="line">
            <a:avLst/>
          </a:prstGeom>
          <a:ln w="12700"/>
        </p:spPr>
        <p:style>
          <a:lnRef idx="1">
            <a:schemeClr val="accent6"/>
          </a:lnRef>
          <a:fillRef idx="0">
            <a:schemeClr val="accent6"/>
          </a:fillRef>
          <a:effectRef idx="0">
            <a:schemeClr val="accent6"/>
          </a:effectRef>
          <a:fontRef idx="minor">
            <a:schemeClr val="tx1"/>
          </a:fontRef>
        </p:style>
      </p:cxnSp>
      <p:pic>
        <p:nvPicPr>
          <p:cNvPr id="173" name="Picture 172">
            <a:extLst>
              <a:ext uri="{FF2B5EF4-FFF2-40B4-BE49-F238E27FC236}">
                <a16:creationId xmlns:a16="http://schemas.microsoft.com/office/drawing/2014/main" id="{F8B301A8-B20A-0230-B8E2-04EACD6A92C9}"/>
              </a:ext>
            </a:extLst>
          </p:cNvPr>
          <p:cNvPicPr>
            <a:picLocks noChangeAspect="1"/>
          </p:cNvPicPr>
          <p:nvPr/>
        </p:nvPicPr>
        <p:blipFill>
          <a:blip r:embed="rId6"/>
          <a:stretch>
            <a:fillRect/>
          </a:stretch>
        </p:blipFill>
        <p:spPr>
          <a:xfrm>
            <a:off x="4269151" y="2140368"/>
            <a:ext cx="216340" cy="264992"/>
          </a:xfrm>
          <a:prstGeom prst="rect">
            <a:avLst/>
          </a:prstGeom>
        </p:spPr>
      </p:pic>
      <p:pic>
        <p:nvPicPr>
          <p:cNvPr id="174" name="Picture 173">
            <a:extLst>
              <a:ext uri="{FF2B5EF4-FFF2-40B4-BE49-F238E27FC236}">
                <a16:creationId xmlns:a16="http://schemas.microsoft.com/office/drawing/2014/main" id="{FFCD74E9-1D74-1CC6-3240-57575ECE1D3D}"/>
              </a:ext>
            </a:extLst>
          </p:cNvPr>
          <p:cNvPicPr>
            <a:picLocks noChangeAspect="1"/>
          </p:cNvPicPr>
          <p:nvPr/>
        </p:nvPicPr>
        <p:blipFill>
          <a:blip r:embed="rId6"/>
          <a:stretch>
            <a:fillRect/>
          </a:stretch>
        </p:blipFill>
        <p:spPr>
          <a:xfrm>
            <a:off x="4413786" y="2688349"/>
            <a:ext cx="216340" cy="264992"/>
          </a:xfrm>
          <a:prstGeom prst="rect">
            <a:avLst/>
          </a:prstGeom>
        </p:spPr>
      </p:pic>
      <p:pic>
        <p:nvPicPr>
          <p:cNvPr id="176" name="Picture 175">
            <a:extLst>
              <a:ext uri="{FF2B5EF4-FFF2-40B4-BE49-F238E27FC236}">
                <a16:creationId xmlns:a16="http://schemas.microsoft.com/office/drawing/2014/main" id="{968FD6A8-F6A5-ED36-0439-53866A1AC6C9}"/>
              </a:ext>
            </a:extLst>
          </p:cNvPr>
          <p:cNvPicPr>
            <a:picLocks noChangeAspect="1"/>
          </p:cNvPicPr>
          <p:nvPr/>
        </p:nvPicPr>
        <p:blipFill>
          <a:blip r:embed="rId7"/>
          <a:stretch>
            <a:fillRect/>
          </a:stretch>
        </p:blipFill>
        <p:spPr>
          <a:xfrm>
            <a:off x="6382360" y="2150941"/>
            <a:ext cx="274286" cy="274286"/>
          </a:xfrm>
          <a:prstGeom prst="rect">
            <a:avLst/>
          </a:prstGeom>
        </p:spPr>
      </p:pic>
      <p:pic>
        <p:nvPicPr>
          <p:cNvPr id="177" name="Picture 176">
            <a:extLst>
              <a:ext uri="{FF2B5EF4-FFF2-40B4-BE49-F238E27FC236}">
                <a16:creationId xmlns:a16="http://schemas.microsoft.com/office/drawing/2014/main" id="{46599CB7-4AFC-1931-380A-36FC83A1BB8D}"/>
              </a:ext>
            </a:extLst>
          </p:cNvPr>
          <p:cNvPicPr>
            <a:picLocks noChangeAspect="1"/>
          </p:cNvPicPr>
          <p:nvPr/>
        </p:nvPicPr>
        <p:blipFill>
          <a:blip r:embed="rId7"/>
          <a:stretch>
            <a:fillRect/>
          </a:stretch>
        </p:blipFill>
        <p:spPr>
          <a:xfrm>
            <a:off x="6575884" y="2674475"/>
            <a:ext cx="274286" cy="274286"/>
          </a:xfrm>
          <a:prstGeom prst="rect">
            <a:avLst/>
          </a:prstGeom>
        </p:spPr>
      </p:pic>
      <p:sp>
        <p:nvSpPr>
          <p:cNvPr id="179" name="Rectangle 178">
            <a:extLst>
              <a:ext uri="{FF2B5EF4-FFF2-40B4-BE49-F238E27FC236}">
                <a16:creationId xmlns:a16="http://schemas.microsoft.com/office/drawing/2014/main" id="{5C670D9A-FC5D-FA80-163C-A0D67C083CC9}"/>
              </a:ext>
            </a:extLst>
          </p:cNvPr>
          <p:cNvSpPr/>
          <p:nvPr/>
        </p:nvSpPr>
        <p:spPr>
          <a:xfrm>
            <a:off x="4758894" y="1549316"/>
            <a:ext cx="1805648" cy="486830"/>
          </a:xfrm>
          <a:prstGeom prst="rect">
            <a:avLst/>
          </a:prstGeom>
          <a:solidFill>
            <a:srgbClr val="7030A0"/>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333" b="1" dirty="0" err="1">
                <a:solidFill>
                  <a:schemeClr val="bg1"/>
                </a:solidFill>
              </a:rPr>
              <a:t>Spanner</a:t>
            </a:r>
            <a:r>
              <a:rPr lang="en-US" sz="1270" b="1" dirty="0" err="1">
                <a:solidFill>
                  <a:schemeClr val="bg1"/>
                </a:solidFill>
              </a:rPr>
              <a:t>利用高精度时间戳分配提交时间戳</a:t>
            </a:r>
            <a:endParaRPr lang="en-US" sz="1270" b="1" dirty="0">
              <a:solidFill>
                <a:schemeClr val="bg1"/>
              </a:solidFill>
            </a:endParaRPr>
          </a:p>
        </p:txBody>
      </p:sp>
      <p:cxnSp>
        <p:nvCxnSpPr>
          <p:cNvPr id="183" name="Straight Arrow Connector 182">
            <a:extLst>
              <a:ext uri="{FF2B5EF4-FFF2-40B4-BE49-F238E27FC236}">
                <a16:creationId xmlns:a16="http://schemas.microsoft.com/office/drawing/2014/main" id="{D43B2EB4-4562-184E-5B25-A994F0B7D367}"/>
              </a:ext>
            </a:extLst>
          </p:cNvPr>
          <p:cNvCxnSpPr>
            <a:cxnSpLocks/>
          </p:cNvCxnSpPr>
          <p:nvPr/>
        </p:nvCxnSpPr>
        <p:spPr>
          <a:xfrm>
            <a:off x="1960805" y="4314373"/>
            <a:ext cx="619289" cy="362204"/>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8F3416D-0ADF-BD05-452D-8E931DC880C6}"/>
              </a:ext>
            </a:extLst>
          </p:cNvPr>
          <p:cNvCxnSpPr>
            <a:cxnSpLocks/>
          </p:cNvCxnSpPr>
          <p:nvPr/>
        </p:nvCxnSpPr>
        <p:spPr>
          <a:xfrm>
            <a:off x="1948583" y="4324751"/>
            <a:ext cx="665961" cy="817057"/>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56A375E1-68F7-721A-9A11-49E24DDB4F25}"/>
              </a:ext>
            </a:extLst>
          </p:cNvPr>
          <p:cNvCxnSpPr>
            <a:cxnSpLocks/>
          </p:cNvCxnSpPr>
          <p:nvPr/>
        </p:nvCxnSpPr>
        <p:spPr>
          <a:xfrm flipV="1">
            <a:off x="2688167" y="4333692"/>
            <a:ext cx="518533" cy="33009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51FC4940-4C07-E7B0-F58F-062E7FB8FE29}"/>
              </a:ext>
            </a:extLst>
          </p:cNvPr>
          <p:cNvCxnSpPr>
            <a:cxnSpLocks/>
          </p:cNvCxnSpPr>
          <p:nvPr/>
        </p:nvCxnSpPr>
        <p:spPr>
          <a:xfrm flipV="1">
            <a:off x="2730073" y="4318886"/>
            <a:ext cx="977263" cy="835441"/>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80" name="Rectangle 179">
            <a:extLst>
              <a:ext uri="{FF2B5EF4-FFF2-40B4-BE49-F238E27FC236}">
                <a16:creationId xmlns:a16="http://schemas.microsoft.com/office/drawing/2014/main" id="{25D36821-5636-BFEA-3764-7EA0CC7B0285}"/>
              </a:ext>
            </a:extLst>
          </p:cNvPr>
          <p:cNvSpPr/>
          <p:nvPr/>
        </p:nvSpPr>
        <p:spPr>
          <a:xfrm>
            <a:off x="1215125" y="4128100"/>
            <a:ext cx="1615731" cy="451676"/>
          </a:xfrm>
          <a:prstGeom prst="rect">
            <a:avLst/>
          </a:prstGeom>
          <a:solidFill>
            <a:srgbClr val="7030A0"/>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333" b="1" dirty="0">
                <a:solidFill>
                  <a:schemeClr val="bg1"/>
                </a:solidFill>
              </a:rPr>
              <a:t>K2利用高精度时钟分配起始时间戳</a:t>
            </a:r>
          </a:p>
        </p:txBody>
      </p:sp>
      <p:cxnSp>
        <p:nvCxnSpPr>
          <p:cNvPr id="187" name="Straight Arrow Connector 186">
            <a:extLst>
              <a:ext uri="{FF2B5EF4-FFF2-40B4-BE49-F238E27FC236}">
                <a16:creationId xmlns:a16="http://schemas.microsoft.com/office/drawing/2014/main" id="{810589DD-A317-0E2F-FACE-13F4005F620C}"/>
              </a:ext>
            </a:extLst>
          </p:cNvPr>
          <p:cNvCxnSpPr>
            <a:cxnSpLocks/>
          </p:cNvCxnSpPr>
          <p:nvPr/>
        </p:nvCxnSpPr>
        <p:spPr>
          <a:xfrm>
            <a:off x="3845061" y="4343941"/>
            <a:ext cx="569535" cy="3456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B1444B26-6D71-517A-7180-27C4379FDC24}"/>
              </a:ext>
            </a:extLst>
          </p:cNvPr>
          <p:cNvCxnSpPr>
            <a:cxnSpLocks/>
          </p:cNvCxnSpPr>
          <p:nvPr/>
        </p:nvCxnSpPr>
        <p:spPr>
          <a:xfrm>
            <a:off x="3782267" y="4346859"/>
            <a:ext cx="774245" cy="833849"/>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EEB1CA17-2360-02FD-5CE5-1723A5E5B7A8}"/>
              </a:ext>
            </a:extLst>
          </p:cNvPr>
          <p:cNvCxnSpPr>
            <a:cxnSpLocks/>
          </p:cNvCxnSpPr>
          <p:nvPr/>
        </p:nvCxnSpPr>
        <p:spPr>
          <a:xfrm flipV="1">
            <a:off x="4499950" y="4327192"/>
            <a:ext cx="518533" cy="33009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38502F7C-FC48-BF2E-BD80-1303EF44BCDC}"/>
              </a:ext>
            </a:extLst>
          </p:cNvPr>
          <p:cNvCxnSpPr>
            <a:cxnSpLocks/>
          </p:cNvCxnSpPr>
          <p:nvPr/>
        </p:nvCxnSpPr>
        <p:spPr>
          <a:xfrm flipV="1">
            <a:off x="4555105" y="4334052"/>
            <a:ext cx="1068637" cy="890234"/>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5F9740FC-9177-16FF-2E32-73B024E2AD35}"/>
              </a:ext>
            </a:extLst>
          </p:cNvPr>
          <p:cNvCxnSpPr>
            <a:cxnSpLocks/>
          </p:cNvCxnSpPr>
          <p:nvPr/>
        </p:nvCxnSpPr>
        <p:spPr>
          <a:xfrm>
            <a:off x="5860113" y="4337941"/>
            <a:ext cx="569535" cy="345600"/>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08C14A8E-1F9B-0D94-A783-26D3076BAD14}"/>
              </a:ext>
            </a:extLst>
          </p:cNvPr>
          <p:cNvCxnSpPr>
            <a:cxnSpLocks/>
          </p:cNvCxnSpPr>
          <p:nvPr/>
        </p:nvCxnSpPr>
        <p:spPr>
          <a:xfrm>
            <a:off x="5769783" y="4346752"/>
            <a:ext cx="862288" cy="810830"/>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0F22A29E-79A6-6804-33FF-54965D5E5309}"/>
              </a:ext>
            </a:extLst>
          </p:cNvPr>
          <p:cNvCxnSpPr>
            <a:cxnSpLocks/>
          </p:cNvCxnSpPr>
          <p:nvPr/>
        </p:nvCxnSpPr>
        <p:spPr>
          <a:xfrm flipV="1">
            <a:off x="6466314" y="4345038"/>
            <a:ext cx="518533" cy="33009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8E1B7B29-536D-7CA4-973F-15520AA1D2B6}"/>
              </a:ext>
            </a:extLst>
          </p:cNvPr>
          <p:cNvCxnSpPr>
            <a:cxnSpLocks/>
          </p:cNvCxnSpPr>
          <p:nvPr/>
        </p:nvCxnSpPr>
        <p:spPr>
          <a:xfrm flipV="1">
            <a:off x="6795941" y="4362373"/>
            <a:ext cx="1003330" cy="817981"/>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699427A9-BD5F-7BB6-6B50-8B64C127FB9B}"/>
              </a:ext>
            </a:extLst>
          </p:cNvPr>
          <p:cNvCxnSpPr>
            <a:cxnSpLocks/>
          </p:cNvCxnSpPr>
          <p:nvPr/>
        </p:nvCxnSpPr>
        <p:spPr>
          <a:xfrm flipV="1">
            <a:off x="4346370" y="5197998"/>
            <a:ext cx="486147" cy="41523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1DB31B83-785D-9290-655E-AF4F0A949168}"/>
              </a:ext>
            </a:extLst>
          </p:cNvPr>
          <p:cNvCxnSpPr>
            <a:cxnSpLocks/>
          </p:cNvCxnSpPr>
          <p:nvPr/>
        </p:nvCxnSpPr>
        <p:spPr>
          <a:xfrm>
            <a:off x="4891866" y="5203522"/>
            <a:ext cx="362163" cy="4100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F959AC6D-AB6E-5754-877B-91CB1E417B76}"/>
              </a:ext>
            </a:extLst>
          </p:cNvPr>
          <p:cNvSpPr txBox="1"/>
          <p:nvPr/>
        </p:nvSpPr>
        <p:spPr>
          <a:xfrm>
            <a:off x="2827453" y="4051768"/>
            <a:ext cx="593432" cy="287771"/>
          </a:xfrm>
          <a:prstGeom prst="rect">
            <a:avLst/>
          </a:prstGeom>
          <a:noFill/>
        </p:spPr>
        <p:txBody>
          <a:bodyPr wrap="none" rtlCol="0">
            <a:spAutoFit/>
          </a:bodyPr>
          <a:lstStyle/>
          <a:p>
            <a:r>
              <a:rPr lang="en-US" sz="1270" dirty="0"/>
              <a:t>TS</a:t>
            </a:r>
            <a:r>
              <a:rPr lang="en-US" altLang="zh-CN" sz="1270" dirty="0"/>
              <a:t>@1</a:t>
            </a:r>
            <a:endParaRPr lang="en-US" sz="1270" dirty="0"/>
          </a:p>
        </p:txBody>
      </p:sp>
      <p:sp>
        <p:nvSpPr>
          <p:cNvPr id="212" name="TextBox 211">
            <a:extLst>
              <a:ext uri="{FF2B5EF4-FFF2-40B4-BE49-F238E27FC236}">
                <a16:creationId xmlns:a16="http://schemas.microsoft.com/office/drawing/2014/main" id="{C886874D-91DE-64E3-B713-D61035205175}"/>
              </a:ext>
            </a:extLst>
          </p:cNvPr>
          <p:cNvSpPr txBox="1"/>
          <p:nvPr/>
        </p:nvSpPr>
        <p:spPr>
          <a:xfrm>
            <a:off x="3803381" y="5315236"/>
            <a:ext cx="593432" cy="287771"/>
          </a:xfrm>
          <a:prstGeom prst="rect">
            <a:avLst/>
          </a:prstGeom>
          <a:noFill/>
        </p:spPr>
        <p:txBody>
          <a:bodyPr wrap="none" rtlCol="0">
            <a:spAutoFit/>
          </a:bodyPr>
          <a:lstStyle/>
          <a:p>
            <a:r>
              <a:rPr lang="en-US" sz="1270" dirty="0"/>
              <a:t>TS</a:t>
            </a:r>
            <a:r>
              <a:rPr lang="en-US" altLang="zh-CN" sz="1270" dirty="0"/>
              <a:t>@2</a:t>
            </a:r>
            <a:endParaRPr lang="en-US" sz="1270" dirty="0"/>
          </a:p>
        </p:txBody>
      </p:sp>
      <p:sp>
        <p:nvSpPr>
          <p:cNvPr id="213" name="Rectangle 212">
            <a:extLst>
              <a:ext uri="{FF2B5EF4-FFF2-40B4-BE49-F238E27FC236}">
                <a16:creationId xmlns:a16="http://schemas.microsoft.com/office/drawing/2014/main" id="{CBE74A89-7662-5779-FF6E-FFD71C04C883}"/>
              </a:ext>
            </a:extLst>
          </p:cNvPr>
          <p:cNvSpPr/>
          <p:nvPr/>
        </p:nvSpPr>
        <p:spPr>
          <a:xfrm>
            <a:off x="5393909" y="5230964"/>
            <a:ext cx="1640588" cy="471013"/>
          </a:xfrm>
          <a:prstGeom prst="rect">
            <a:avLst/>
          </a:prstGeom>
          <a:solidFill>
            <a:srgbClr val="C00000"/>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397" b="1" dirty="0" err="1">
                <a:latin typeface="SimHei" panose="02010609060101010101" pitchFamily="49" charset="-122"/>
                <a:ea typeface="SimHei" panose="02010609060101010101" pitchFamily="49" charset="-122"/>
              </a:rPr>
              <a:t>基于多版本并发控制</a:t>
            </a:r>
            <a:r>
              <a:rPr lang="zh-CN" altLang="en-US" sz="1397" b="1" dirty="0">
                <a:latin typeface="SimHei" panose="02010609060101010101" pitchFamily="49" charset="-122"/>
                <a:ea typeface="SimHei" panose="02010609060101010101" pitchFamily="49" charset="-122"/>
              </a:rPr>
              <a:t>，</a:t>
            </a:r>
            <a:r>
              <a:rPr lang="en-US" sz="1397" b="1" dirty="0" err="1">
                <a:latin typeface="SimHei" panose="02010609060101010101" pitchFamily="49" charset="-122"/>
                <a:ea typeface="SimHei" panose="02010609060101010101" pitchFamily="49" charset="-122"/>
              </a:rPr>
              <a:t>非阻塞</a:t>
            </a:r>
            <a:endParaRPr lang="en-US" sz="1397" b="1" dirty="0">
              <a:latin typeface="SimHei" panose="02010609060101010101" pitchFamily="49" charset="-122"/>
              <a:ea typeface="SimHei" panose="02010609060101010101" pitchFamily="49" charset="-122"/>
            </a:endParaRPr>
          </a:p>
        </p:txBody>
      </p:sp>
      <p:cxnSp>
        <p:nvCxnSpPr>
          <p:cNvPr id="214" name="Straight Connector 213">
            <a:extLst>
              <a:ext uri="{FF2B5EF4-FFF2-40B4-BE49-F238E27FC236}">
                <a16:creationId xmlns:a16="http://schemas.microsoft.com/office/drawing/2014/main" id="{0806DBD2-E1DE-CA81-E6B9-15B85675E13D}"/>
              </a:ext>
            </a:extLst>
          </p:cNvPr>
          <p:cNvCxnSpPr>
            <a:cxnSpLocks/>
          </p:cNvCxnSpPr>
          <p:nvPr/>
        </p:nvCxnSpPr>
        <p:spPr>
          <a:xfrm flipV="1">
            <a:off x="4578169" y="5184642"/>
            <a:ext cx="2112335" cy="0"/>
          </a:xfrm>
          <a:prstGeom prst="line">
            <a:avLst/>
          </a:prstGeom>
          <a:ln w="38100">
            <a:solidFill>
              <a:srgbClr val="C00000"/>
            </a:solidFill>
            <a:headEnd type="oval" w="med" len="med"/>
            <a:tailEnd type="oval" w="med" len="med"/>
          </a:ln>
        </p:spPr>
        <p:style>
          <a:lnRef idx="1">
            <a:schemeClr val="accent6"/>
          </a:lnRef>
          <a:fillRef idx="0">
            <a:schemeClr val="accent6"/>
          </a:fillRef>
          <a:effectRef idx="0">
            <a:schemeClr val="accent6"/>
          </a:effectRef>
          <a:fontRef idx="minor">
            <a:schemeClr val="tx1"/>
          </a:fontRef>
        </p:style>
      </p:cxnSp>
      <p:pic>
        <p:nvPicPr>
          <p:cNvPr id="215" name="Picture 2" descr="系统介绍">
            <a:extLst>
              <a:ext uri="{FF2B5EF4-FFF2-40B4-BE49-F238E27FC236}">
                <a16:creationId xmlns:a16="http://schemas.microsoft.com/office/drawing/2014/main" id="{1C25A9C0-9ADF-7B28-040C-02486196A7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30224" y="1043009"/>
            <a:ext cx="1256408" cy="706729"/>
          </a:xfrm>
          <a:prstGeom prst="rect">
            <a:avLst/>
          </a:prstGeom>
          <a:noFill/>
          <a:extLst>
            <a:ext uri="{909E8E84-426E-40DD-AFC4-6F175D3DCCD1}">
              <a14:hiddenFill xmlns:a14="http://schemas.microsoft.com/office/drawing/2010/main">
                <a:solidFill>
                  <a:srgbClr val="FFFFFF"/>
                </a:solidFill>
              </a14:hiddenFill>
            </a:ext>
          </a:extLst>
        </p:spPr>
      </p:pic>
      <p:pic>
        <p:nvPicPr>
          <p:cNvPr id="217" name="Picture 2" descr="系统介绍">
            <a:extLst>
              <a:ext uri="{FF2B5EF4-FFF2-40B4-BE49-F238E27FC236}">
                <a16:creationId xmlns:a16="http://schemas.microsoft.com/office/drawing/2014/main" id="{41BB6357-FEEE-5B0A-70FB-8D94651628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8289" y="4902444"/>
            <a:ext cx="1256408" cy="706729"/>
          </a:xfrm>
          <a:prstGeom prst="rect">
            <a:avLst/>
          </a:prstGeom>
          <a:noFill/>
          <a:extLst>
            <a:ext uri="{909E8E84-426E-40DD-AFC4-6F175D3DCCD1}">
              <a14:hiddenFill xmlns:a14="http://schemas.microsoft.com/office/drawing/2010/main">
                <a:solidFill>
                  <a:srgbClr val="FFFFFF"/>
                </a:solidFill>
              </a14:hiddenFill>
            </a:ext>
          </a:extLst>
        </p:spPr>
      </p:pic>
      <p:sp>
        <p:nvSpPr>
          <p:cNvPr id="35" name="Google Shape;193;p33">
            <a:extLst>
              <a:ext uri="{FF2B5EF4-FFF2-40B4-BE49-F238E27FC236}">
                <a16:creationId xmlns:a16="http://schemas.microsoft.com/office/drawing/2014/main" id="{E2911947-D0AA-76B0-CD90-2AB0309720C2}"/>
              </a:ext>
            </a:extLst>
          </p:cNvPr>
          <p:cNvSpPr txBox="1"/>
          <p:nvPr/>
        </p:nvSpPr>
        <p:spPr>
          <a:xfrm>
            <a:off x="8259594" y="5188436"/>
            <a:ext cx="3932405" cy="891166"/>
          </a:xfrm>
          <a:prstGeom prst="rect">
            <a:avLst/>
          </a:prstGeom>
          <a:noFill/>
          <a:ln>
            <a:noFill/>
          </a:ln>
        </p:spPr>
        <p:txBody>
          <a:bodyPr spcFirstLastPara="1" wrap="square" lIns="121900" tIns="121900" rIns="121900" bIns="121900" anchor="t" anchorCtr="0">
            <a:spAutoFit/>
          </a:bodyPr>
          <a:lstStyle/>
          <a:p>
            <a:pPr>
              <a:buSzPts val="1400"/>
            </a:pPr>
            <a:r>
              <a:rPr lang="en-US" altLang="zh-CN" sz="1397" b="1" dirty="0">
                <a:latin typeface="Arial" panose="020B0604020202020204" pitchFamily="34" charset="0"/>
                <a:ea typeface="Calibri"/>
                <a:cs typeface="Arial" panose="020B0604020202020204" pitchFamily="34" charset="0"/>
                <a:sym typeface="Calibri"/>
              </a:rPr>
              <a:t>[</a:t>
            </a:r>
            <a:r>
              <a:rPr lang="zh-CN" altLang="en-US" sz="1397" b="1" dirty="0">
                <a:latin typeface="Arial" panose="020B0604020202020204" pitchFamily="34" charset="0"/>
                <a:ea typeface="Calibri"/>
                <a:cs typeface="Arial" panose="020B0604020202020204" pitchFamily="34" charset="0"/>
                <a:sym typeface="Calibri"/>
              </a:rPr>
              <a:t>一阶段</a:t>
            </a:r>
            <a:r>
              <a:rPr lang="en-US" altLang="zh-CN" sz="1397" b="1" dirty="0">
                <a:latin typeface="Arial" panose="020B0604020202020204" pitchFamily="34" charset="0"/>
                <a:ea typeface="Calibri"/>
                <a:cs typeface="Arial" panose="020B0604020202020204" pitchFamily="34" charset="0"/>
                <a:sym typeface="Calibri"/>
              </a:rPr>
              <a:t>] </a:t>
            </a:r>
            <a:r>
              <a:rPr lang="zh-CN" altLang="en-US" sz="1397" b="1" dirty="0">
                <a:latin typeface="Arial" panose="020B0604020202020204" pitchFamily="34" charset="0"/>
                <a:ea typeface="Calibri"/>
                <a:cs typeface="Arial" panose="020B0604020202020204" pitchFamily="34" charset="0"/>
                <a:sym typeface="Calibri"/>
              </a:rPr>
              <a:t>未来一年，实现多数据中心，多地域大规模商业化部署（贵阳，乌兰，新加坡），预期服务器规模超万台 （</a:t>
            </a:r>
            <a:r>
              <a:rPr lang="en-US" altLang="zh-CN" sz="1397" b="1" dirty="0">
                <a:latin typeface="Arial" panose="020B0604020202020204" pitchFamily="34" charset="0"/>
                <a:ea typeface="Calibri"/>
                <a:cs typeface="Arial" panose="020B0604020202020204" pitchFamily="34" charset="0"/>
                <a:sym typeface="Calibri"/>
              </a:rPr>
              <a:t>12w</a:t>
            </a:r>
            <a:r>
              <a:rPr lang="zh-CN" altLang="en-US" sz="1397" b="1" dirty="0">
                <a:latin typeface="Arial" panose="020B0604020202020204" pitchFamily="34" charset="0"/>
                <a:ea typeface="Calibri"/>
                <a:cs typeface="Arial" panose="020B0604020202020204" pitchFamily="34" charset="0"/>
                <a:sym typeface="Calibri"/>
              </a:rPr>
              <a:t> 虚拟核心）。</a:t>
            </a:r>
            <a:r>
              <a:rPr lang="en-US" altLang="zh-CN" sz="1397" b="1" dirty="0">
                <a:latin typeface="Arial" panose="020B0604020202020204" pitchFamily="34" charset="0"/>
                <a:ea typeface="Calibri"/>
                <a:cs typeface="Arial" panose="020B0604020202020204" pitchFamily="34" charset="0"/>
                <a:sym typeface="Calibri"/>
              </a:rPr>
              <a:t> </a:t>
            </a:r>
            <a:endParaRPr lang="zh-CN" altLang="en-US" sz="1397" b="1" dirty="0">
              <a:latin typeface="Arial" panose="020B0604020202020204" pitchFamily="34" charset="0"/>
              <a:ea typeface="Calibri"/>
              <a:cs typeface="Arial" panose="020B0604020202020204" pitchFamily="34" charset="0"/>
              <a:sym typeface="Calibri"/>
            </a:endParaRPr>
          </a:p>
        </p:txBody>
      </p:sp>
      <p:sp>
        <p:nvSpPr>
          <p:cNvPr id="38" name="Google Shape;193;p33">
            <a:extLst>
              <a:ext uri="{FF2B5EF4-FFF2-40B4-BE49-F238E27FC236}">
                <a16:creationId xmlns:a16="http://schemas.microsoft.com/office/drawing/2014/main" id="{E8712C94-188E-1DB9-1DEF-D26F760B22C2}"/>
              </a:ext>
            </a:extLst>
          </p:cNvPr>
          <p:cNvSpPr txBox="1"/>
          <p:nvPr/>
        </p:nvSpPr>
        <p:spPr>
          <a:xfrm>
            <a:off x="8267121" y="6111504"/>
            <a:ext cx="3863039" cy="676170"/>
          </a:xfrm>
          <a:prstGeom prst="rect">
            <a:avLst/>
          </a:prstGeom>
          <a:noFill/>
          <a:ln>
            <a:noFill/>
          </a:ln>
        </p:spPr>
        <p:txBody>
          <a:bodyPr spcFirstLastPara="1" wrap="square" lIns="121900" tIns="121900" rIns="121900" bIns="121900" anchor="t" anchorCtr="0">
            <a:spAutoFit/>
          </a:bodyPr>
          <a:lstStyle/>
          <a:p>
            <a:pPr>
              <a:buSzPts val="1400"/>
            </a:pPr>
            <a:r>
              <a:rPr lang="en-US" altLang="zh-CN" sz="1397" b="1" dirty="0">
                <a:latin typeface="Arial" panose="020B0604020202020204" pitchFamily="34" charset="0"/>
                <a:ea typeface="Calibri"/>
                <a:cs typeface="Arial" panose="020B0604020202020204" pitchFamily="34" charset="0"/>
                <a:sym typeface="Calibri"/>
              </a:rPr>
              <a:t>[</a:t>
            </a:r>
            <a:r>
              <a:rPr lang="zh-CN" altLang="en-US" sz="1397" b="1" dirty="0">
                <a:latin typeface="Arial" panose="020B0604020202020204" pitchFamily="34" charset="0"/>
                <a:ea typeface="Calibri"/>
                <a:cs typeface="Arial" panose="020B0604020202020204" pitchFamily="34" charset="0"/>
                <a:sym typeface="Calibri"/>
              </a:rPr>
              <a:t>二阶段</a:t>
            </a:r>
            <a:r>
              <a:rPr lang="en-US" altLang="zh-CN" sz="1397" b="1" dirty="0">
                <a:latin typeface="Arial" panose="020B0604020202020204" pitchFamily="34" charset="0"/>
                <a:ea typeface="Calibri"/>
                <a:cs typeface="Arial" panose="020B0604020202020204" pitchFamily="34" charset="0"/>
                <a:sym typeface="Calibri"/>
              </a:rPr>
              <a:t>]</a:t>
            </a:r>
            <a:r>
              <a:rPr lang="zh-CN" altLang="en-US" sz="1397" b="1" dirty="0">
                <a:latin typeface="Arial" panose="020B0604020202020204" pitchFamily="34" charset="0"/>
                <a:ea typeface="Calibri"/>
                <a:cs typeface="Arial" panose="020B0604020202020204" pitchFamily="34" charset="0"/>
                <a:sym typeface="Calibri"/>
              </a:rPr>
              <a:t> 未来</a:t>
            </a:r>
            <a:r>
              <a:rPr lang="en-US" altLang="zh-CN" sz="1397" b="1" dirty="0">
                <a:latin typeface="Arial" panose="020B0604020202020204" pitchFamily="34" charset="0"/>
                <a:ea typeface="Calibri"/>
                <a:cs typeface="Arial" panose="020B0604020202020204" pitchFamily="34" charset="0"/>
                <a:sym typeface="Calibri"/>
              </a:rPr>
              <a:t>2-3</a:t>
            </a:r>
            <a:r>
              <a:rPr lang="zh-CN" altLang="en-US" sz="1397" b="1" dirty="0">
                <a:latin typeface="Arial" panose="020B0604020202020204" pitchFamily="34" charset="0"/>
                <a:ea typeface="Calibri"/>
                <a:cs typeface="Arial" panose="020B0604020202020204" pitchFamily="34" charset="0"/>
                <a:sym typeface="Calibri"/>
              </a:rPr>
              <a:t>年，以</a:t>
            </a:r>
            <a:r>
              <a:rPr lang="en-US" altLang="zh-CN" sz="1397" b="1" dirty="0">
                <a:latin typeface="Arial" panose="020B0604020202020204" pitchFamily="34" charset="0"/>
                <a:ea typeface="Calibri"/>
                <a:cs typeface="Arial" panose="020B0604020202020204" pitchFamily="34" charset="0"/>
                <a:sym typeface="Calibri"/>
              </a:rPr>
              <a:t>K2</a:t>
            </a:r>
            <a:r>
              <a:rPr lang="zh-CN" altLang="en-US" sz="1397" b="1" dirty="0">
                <a:latin typeface="Arial" panose="020B0604020202020204" pitchFamily="34" charset="0"/>
                <a:ea typeface="Calibri"/>
                <a:cs typeface="Arial" panose="020B0604020202020204" pitchFamily="34" charset="0"/>
                <a:sym typeface="Calibri"/>
              </a:rPr>
              <a:t>为核心，完善</a:t>
            </a:r>
            <a:r>
              <a:rPr lang="en-US" altLang="zh-CN" sz="1397" b="1" dirty="0">
                <a:latin typeface="Arial" panose="020B0604020202020204" pitchFamily="34" charset="0"/>
                <a:ea typeface="Calibri"/>
                <a:cs typeface="Arial" panose="020B0604020202020204" pitchFamily="34" charset="0"/>
                <a:sym typeface="Calibri"/>
              </a:rPr>
              <a:t>SQL</a:t>
            </a:r>
            <a:r>
              <a:rPr lang="zh-CN" altLang="en-US" sz="1397" b="1" dirty="0">
                <a:latin typeface="Arial" panose="020B0604020202020204" pitchFamily="34" charset="0"/>
                <a:ea typeface="Calibri"/>
                <a:cs typeface="Arial" panose="020B0604020202020204" pitchFamily="34" charset="0"/>
                <a:sym typeface="Calibri"/>
              </a:rPr>
              <a:t>功能，逐步替换华为云根服务数据库 </a:t>
            </a:r>
            <a:r>
              <a:rPr lang="en-US" altLang="zh-CN" sz="1397" b="1" dirty="0">
                <a:latin typeface="Arial" panose="020B0604020202020204" pitchFamily="34" charset="0"/>
                <a:ea typeface="Calibri"/>
                <a:cs typeface="Arial" panose="020B0604020202020204" pitchFamily="34" charset="0"/>
                <a:sym typeface="Calibri"/>
              </a:rPr>
              <a:t>MySQL</a:t>
            </a:r>
            <a:endParaRPr lang="zh-CN" altLang="en-US" sz="1397" b="1" dirty="0">
              <a:latin typeface="Arial" panose="020B0604020202020204" pitchFamily="34" charset="0"/>
              <a:ea typeface="Calibri"/>
              <a:cs typeface="Arial" panose="020B0604020202020204" pitchFamily="34" charset="0"/>
              <a:sym typeface="Calibri"/>
            </a:endParaRPr>
          </a:p>
        </p:txBody>
      </p:sp>
      <p:sp>
        <p:nvSpPr>
          <p:cNvPr id="40" name="Google Shape;193;p33">
            <a:extLst>
              <a:ext uri="{FF2B5EF4-FFF2-40B4-BE49-F238E27FC236}">
                <a16:creationId xmlns:a16="http://schemas.microsoft.com/office/drawing/2014/main" id="{85E62D7C-9B8E-F82F-6784-289827ECC574}"/>
              </a:ext>
            </a:extLst>
          </p:cNvPr>
          <p:cNvSpPr txBox="1"/>
          <p:nvPr/>
        </p:nvSpPr>
        <p:spPr>
          <a:xfrm>
            <a:off x="8090666" y="4897657"/>
            <a:ext cx="1855000" cy="461176"/>
          </a:xfrm>
          <a:prstGeom prst="rect">
            <a:avLst/>
          </a:prstGeom>
          <a:noFill/>
          <a:ln>
            <a:noFill/>
          </a:ln>
        </p:spPr>
        <p:txBody>
          <a:bodyPr spcFirstLastPara="1" wrap="square" lIns="121900" tIns="121900" rIns="121900" bIns="121900" anchor="t" anchorCtr="0">
            <a:spAutoFit/>
          </a:bodyPr>
          <a:lstStyle/>
          <a:p>
            <a:pPr>
              <a:buSzPts val="1400"/>
            </a:pPr>
            <a:r>
              <a:rPr lang="zh-CN" altLang="en-US" sz="1397" b="1" dirty="0">
                <a:solidFill>
                  <a:srgbClr val="C00000"/>
                </a:solidFill>
                <a:latin typeface="Arial" panose="020B0604020202020204" pitchFamily="34" charset="0"/>
                <a:ea typeface="Calibri"/>
                <a:cs typeface="Arial" panose="020B0604020202020204" pitchFamily="34" charset="0"/>
                <a:sym typeface="Calibri"/>
              </a:rPr>
              <a:t>潜在商业化影响力</a:t>
            </a:r>
            <a:r>
              <a:rPr lang="en-US" altLang="zh-CN" sz="1397" b="1" dirty="0">
                <a:solidFill>
                  <a:srgbClr val="C00000"/>
                </a:solidFill>
                <a:latin typeface="Arial" panose="020B0604020202020204" pitchFamily="34" charset="0"/>
                <a:ea typeface="Calibri"/>
                <a:cs typeface="Arial" panose="020B0604020202020204" pitchFamily="34" charset="0"/>
                <a:sym typeface="Calibri"/>
              </a:rPr>
              <a:t> </a:t>
            </a:r>
            <a:endParaRPr lang="zh-CN" altLang="en-US" sz="1397" b="1" dirty="0">
              <a:solidFill>
                <a:srgbClr val="C00000"/>
              </a:solidFill>
              <a:latin typeface="Arial" panose="020B0604020202020204" pitchFamily="34" charset="0"/>
              <a:ea typeface="Calibri"/>
              <a:cs typeface="Arial" panose="020B0604020202020204" pitchFamily="34" charset="0"/>
              <a:sym typeface="Calibri"/>
            </a:endParaRPr>
          </a:p>
        </p:txBody>
      </p:sp>
      <p:sp>
        <p:nvSpPr>
          <p:cNvPr id="50" name="TextBox 49">
            <a:extLst>
              <a:ext uri="{FF2B5EF4-FFF2-40B4-BE49-F238E27FC236}">
                <a16:creationId xmlns:a16="http://schemas.microsoft.com/office/drawing/2014/main" id="{263EC0CA-68FC-424B-F208-250CC68F32A1}"/>
              </a:ext>
            </a:extLst>
          </p:cNvPr>
          <p:cNvSpPr txBox="1"/>
          <p:nvPr/>
        </p:nvSpPr>
        <p:spPr>
          <a:xfrm>
            <a:off x="645303" y="6265164"/>
            <a:ext cx="7451114" cy="483209"/>
          </a:xfrm>
          <a:prstGeom prst="rect">
            <a:avLst/>
          </a:prstGeom>
          <a:noFill/>
        </p:spPr>
        <p:txBody>
          <a:bodyPr wrap="square" rtlCol="0">
            <a:spAutoFit/>
          </a:bodyPr>
          <a:lstStyle/>
          <a:p>
            <a:r>
              <a:rPr lang="zh-CN" altLang="en-HK" sz="1270" dirty="0"/>
              <a:t>从</a:t>
            </a:r>
            <a:r>
              <a:rPr lang="zh-CN" altLang="en-US" sz="1270" dirty="0"/>
              <a:t>传统角度来理解，</a:t>
            </a:r>
            <a:r>
              <a:rPr lang="en-US" altLang="zh-CN" sz="1270" dirty="0"/>
              <a:t>K2</a:t>
            </a:r>
            <a:r>
              <a:rPr lang="zh-CN" altLang="en-US" sz="1270" dirty="0"/>
              <a:t>依然遵循两阶段提交原则，不依赖于特定的工作负载。</a:t>
            </a:r>
            <a:r>
              <a:rPr lang="en-US" altLang="zh-CN" sz="1270" dirty="0"/>
              <a:t>K2</a:t>
            </a:r>
            <a:r>
              <a:rPr lang="zh-CN" altLang="en-US" sz="1270" dirty="0"/>
              <a:t>全面融入高精度时钟的能力，来创建不同的写版本，实现无数据锁的并发控制，并将二阶段提交异步化。</a:t>
            </a:r>
            <a:endParaRPr lang="en-US" sz="1270" dirty="0"/>
          </a:p>
        </p:txBody>
      </p:sp>
      <p:sp>
        <p:nvSpPr>
          <p:cNvPr id="51" name="Oval 50">
            <a:extLst>
              <a:ext uri="{FF2B5EF4-FFF2-40B4-BE49-F238E27FC236}">
                <a16:creationId xmlns:a16="http://schemas.microsoft.com/office/drawing/2014/main" id="{3460D90C-7FE2-369E-C277-F23177E2D1E2}"/>
              </a:ext>
            </a:extLst>
          </p:cNvPr>
          <p:cNvSpPr>
            <a:spLocks noChangeAspect="1"/>
          </p:cNvSpPr>
          <p:nvPr/>
        </p:nvSpPr>
        <p:spPr>
          <a:xfrm>
            <a:off x="3941133" y="1533667"/>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2" name="Oval 51">
            <a:extLst>
              <a:ext uri="{FF2B5EF4-FFF2-40B4-BE49-F238E27FC236}">
                <a16:creationId xmlns:a16="http://schemas.microsoft.com/office/drawing/2014/main" id="{2CD66B1A-53A9-1ABF-EEBF-A60A047EE040}"/>
              </a:ext>
            </a:extLst>
          </p:cNvPr>
          <p:cNvSpPr>
            <a:spLocks noChangeAspect="1"/>
          </p:cNvSpPr>
          <p:nvPr/>
        </p:nvSpPr>
        <p:spPr>
          <a:xfrm>
            <a:off x="5442059" y="2010664"/>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3" name="Oval 52">
            <a:extLst>
              <a:ext uri="{FF2B5EF4-FFF2-40B4-BE49-F238E27FC236}">
                <a16:creationId xmlns:a16="http://schemas.microsoft.com/office/drawing/2014/main" id="{1969D285-A3B3-06BB-0803-EE14B79692B5}"/>
              </a:ext>
            </a:extLst>
          </p:cNvPr>
          <p:cNvSpPr>
            <a:spLocks noChangeAspect="1"/>
          </p:cNvSpPr>
          <p:nvPr/>
        </p:nvSpPr>
        <p:spPr>
          <a:xfrm>
            <a:off x="6966109" y="1663041"/>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4" name="Oval 53">
            <a:extLst>
              <a:ext uri="{FF2B5EF4-FFF2-40B4-BE49-F238E27FC236}">
                <a16:creationId xmlns:a16="http://schemas.microsoft.com/office/drawing/2014/main" id="{3C9E1F9A-4872-6B17-B4AD-1D8B261D659B}"/>
              </a:ext>
            </a:extLst>
          </p:cNvPr>
          <p:cNvSpPr>
            <a:spLocks noChangeAspect="1"/>
          </p:cNvSpPr>
          <p:nvPr/>
        </p:nvSpPr>
        <p:spPr>
          <a:xfrm>
            <a:off x="3335621" y="4224937"/>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5" name="Oval 54">
            <a:extLst>
              <a:ext uri="{FF2B5EF4-FFF2-40B4-BE49-F238E27FC236}">
                <a16:creationId xmlns:a16="http://schemas.microsoft.com/office/drawing/2014/main" id="{A05D7874-7AE0-75D4-32C8-B350D28326EA}"/>
              </a:ext>
            </a:extLst>
          </p:cNvPr>
          <p:cNvSpPr>
            <a:spLocks noChangeAspect="1"/>
          </p:cNvSpPr>
          <p:nvPr/>
        </p:nvSpPr>
        <p:spPr>
          <a:xfrm>
            <a:off x="4364984" y="4176367"/>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6" name="Oval 55">
            <a:extLst>
              <a:ext uri="{FF2B5EF4-FFF2-40B4-BE49-F238E27FC236}">
                <a16:creationId xmlns:a16="http://schemas.microsoft.com/office/drawing/2014/main" id="{E3F79840-1D01-1D65-BB78-4551AF245B9C}"/>
              </a:ext>
            </a:extLst>
          </p:cNvPr>
          <p:cNvSpPr>
            <a:spLocks noChangeAspect="1"/>
          </p:cNvSpPr>
          <p:nvPr/>
        </p:nvSpPr>
        <p:spPr>
          <a:xfrm>
            <a:off x="6207268" y="4348635"/>
            <a:ext cx="317756" cy="31775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86" dirty="0"/>
          </a:p>
        </p:txBody>
      </p:sp>
      <p:sp>
        <p:nvSpPr>
          <p:cNvPr id="57" name="TextBox 56">
            <a:extLst>
              <a:ext uri="{FF2B5EF4-FFF2-40B4-BE49-F238E27FC236}">
                <a16:creationId xmlns:a16="http://schemas.microsoft.com/office/drawing/2014/main" id="{89C53EA9-990E-1D49-9677-38FA1D645A8B}"/>
              </a:ext>
            </a:extLst>
          </p:cNvPr>
          <p:cNvSpPr txBox="1"/>
          <p:nvPr/>
        </p:nvSpPr>
        <p:spPr>
          <a:xfrm>
            <a:off x="3920792" y="1501485"/>
            <a:ext cx="348172" cy="444096"/>
          </a:xfrm>
          <a:prstGeom prst="rect">
            <a:avLst/>
          </a:prstGeom>
          <a:noFill/>
        </p:spPr>
        <p:txBody>
          <a:bodyPr wrap="none" rtlCol="0">
            <a:spAutoFit/>
          </a:bodyPr>
          <a:lstStyle/>
          <a:p>
            <a:r>
              <a:rPr lang="en-US" altLang="zh-CN" sz="2286" b="1" dirty="0">
                <a:solidFill>
                  <a:schemeClr val="bg1"/>
                </a:solidFill>
              </a:rPr>
              <a:t>1</a:t>
            </a:r>
            <a:endParaRPr lang="en-US" sz="2286" b="1" dirty="0">
              <a:solidFill>
                <a:schemeClr val="bg1"/>
              </a:solidFill>
            </a:endParaRPr>
          </a:p>
        </p:txBody>
      </p:sp>
      <p:sp>
        <p:nvSpPr>
          <p:cNvPr id="58" name="TextBox 57">
            <a:extLst>
              <a:ext uri="{FF2B5EF4-FFF2-40B4-BE49-F238E27FC236}">
                <a16:creationId xmlns:a16="http://schemas.microsoft.com/office/drawing/2014/main" id="{0ACB2C18-0F2E-3682-6C85-14A899A6AE35}"/>
              </a:ext>
            </a:extLst>
          </p:cNvPr>
          <p:cNvSpPr txBox="1"/>
          <p:nvPr/>
        </p:nvSpPr>
        <p:spPr>
          <a:xfrm>
            <a:off x="5424368" y="1990948"/>
            <a:ext cx="348172" cy="444096"/>
          </a:xfrm>
          <a:prstGeom prst="rect">
            <a:avLst/>
          </a:prstGeom>
          <a:noFill/>
        </p:spPr>
        <p:txBody>
          <a:bodyPr wrap="none" rtlCol="0">
            <a:spAutoFit/>
          </a:bodyPr>
          <a:lstStyle/>
          <a:p>
            <a:r>
              <a:rPr lang="en-US" altLang="zh-CN" sz="2286" b="1" dirty="0">
                <a:solidFill>
                  <a:schemeClr val="bg1"/>
                </a:solidFill>
              </a:rPr>
              <a:t>2</a:t>
            </a:r>
            <a:endParaRPr lang="en-US" sz="2286" b="1" dirty="0">
              <a:solidFill>
                <a:schemeClr val="bg1"/>
              </a:solidFill>
            </a:endParaRPr>
          </a:p>
        </p:txBody>
      </p:sp>
      <p:sp>
        <p:nvSpPr>
          <p:cNvPr id="59" name="TextBox 58">
            <a:extLst>
              <a:ext uri="{FF2B5EF4-FFF2-40B4-BE49-F238E27FC236}">
                <a16:creationId xmlns:a16="http://schemas.microsoft.com/office/drawing/2014/main" id="{2FE05E25-D9BB-821D-B300-7C392F3DF306}"/>
              </a:ext>
            </a:extLst>
          </p:cNvPr>
          <p:cNvSpPr txBox="1"/>
          <p:nvPr/>
        </p:nvSpPr>
        <p:spPr>
          <a:xfrm>
            <a:off x="6948001" y="1621353"/>
            <a:ext cx="348172" cy="444096"/>
          </a:xfrm>
          <a:prstGeom prst="rect">
            <a:avLst/>
          </a:prstGeom>
          <a:noFill/>
        </p:spPr>
        <p:txBody>
          <a:bodyPr wrap="none" rtlCol="0">
            <a:spAutoFit/>
          </a:bodyPr>
          <a:lstStyle/>
          <a:p>
            <a:r>
              <a:rPr lang="en-US" altLang="zh-CN" sz="2286" b="1" dirty="0">
                <a:solidFill>
                  <a:schemeClr val="bg1"/>
                </a:solidFill>
              </a:rPr>
              <a:t>3</a:t>
            </a:r>
            <a:endParaRPr lang="en-US" sz="2286" b="1" dirty="0">
              <a:solidFill>
                <a:schemeClr val="bg1"/>
              </a:solidFill>
            </a:endParaRPr>
          </a:p>
        </p:txBody>
      </p:sp>
      <p:sp>
        <p:nvSpPr>
          <p:cNvPr id="60" name="TextBox 59">
            <a:extLst>
              <a:ext uri="{FF2B5EF4-FFF2-40B4-BE49-F238E27FC236}">
                <a16:creationId xmlns:a16="http://schemas.microsoft.com/office/drawing/2014/main" id="{0970A25A-D25F-EA77-D003-D58047F3BE0E}"/>
              </a:ext>
            </a:extLst>
          </p:cNvPr>
          <p:cNvSpPr txBox="1"/>
          <p:nvPr/>
        </p:nvSpPr>
        <p:spPr>
          <a:xfrm>
            <a:off x="3338210" y="4193101"/>
            <a:ext cx="348172" cy="444096"/>
          </a:xfrm>
          <a:prstGeom prst="rect">
            <a:avLst/>
          </a:prstGeom>
          <a:noFill/>
        </p:spPr>
        <p:txBody>
          <a:bodyPr wrap="none" rtlCol="0">
            <a:spAutoFit/>
          </a:bodyPr>
          <a:lstStyle/>
          <a:p>
            <a:r>
              <a:rPr lang="en-US" altLang="zh-CN" sz="2286" b="1" dirty="0">
                <a:solidFill>
                  <a:schemeClr val="bg1"/>
                </a:solidFill>
              </a:rPr>
              <a:t>1</a:t>
            </a:r>
            <a:endParaRPr lang="en-US" sz="2286" b="1" dirty="0">
              <a:solidFill>
                <a:schemeClr val="bg1"/>
              </a:solidFill>
            </a:endParaRPr>
          </a:p>
        </p:txBody>
      </p:sp>
      <p:sp>
        <p:nvSpPr>
          <p:cNvPr id="61" name="TextBox 60">
            <a:extLst>
              <a:ext uri="{FF2B5EF4-FFF2-40B4-BE49-F238E27FC236}">
                <a16:creationId xmlns:a16="http://schemas.microsoft.com/office/drawing/2014/main" id="{AD856B2F-58E5-D89A-2637-95B85C4B3989}"/>
              </a:ext>
            </a:extLst>
          </p:cNvPr>
          <p:cNvSpPr txBox="1"/>
          <p:nvPr/>
        </p:nvSpPr>
        <p:spPr>
          <a:xfrm>
            <a:off x="4366476" y="4125907"/>
            <a:ext cx="348172" cy="444096"/>
          </a:xfrm>
          <a:prstGeom prst="rect">
            <a:avLst/>
          </a:prstGeom>
          <a:noFill/>
        </p:spPr>
        <p:txBody>
          <a:bodyPr wrap="none" rtlCol="0">
            <a:spAutoFit/>
          </a:bodyPr>
          <a:lstStyle/>
          <a:p>
            <a:r>
              <a:rPr lang="en-US" altLang="zh-CN" sz="2286" b="1" dirty="0">
                <a:solidFill>
                  <a:schemeClr val="bg1"/>
                </a:solidFill>
              </a:rPr>
              <a:t>2</a:t>
            </a:r>
            <a:endParaRPr lang="en-US" sz="2286" b="1" dirty="0">
              <a:solidFill>
                <a:schemeClr val="bg1"/>
              </a:solidFill>
            </a:endParaRPr>
          </a:p>
        </p:txBody>
      </p:sp>
      <p:sp>
        <p:nvSpPr>
          <p:cNvPr id="62" name="TextBox 61">
            <a:extLst>
              <a:ext uri="{FF2B5EF4-FFF2-40B4-BE49-F238E27FC236}">
                <a16:creationId xmlns:a16="http://schemas.microsoft.com/office/drawing/2014/main" id="{6B8F4A96-E184-70FB-A3A8-9B5601D0F5E2}"/>
              </a:ext>
            </a:extLst>
          </p:cNvPr>
          <p:cNvSpPr txBox="1"/>
          <p:nvPr/>
        </p:nvSpPr>
        <p:spPr>
          <a:xfrm>
            <a:off x="6202010" y="4295230"/>
            <a:ext cx="348172" cy="444096"/>
          </a:xfrm>
          <a:prstGeom prst="rect">
            <a:avLst/>
          </a:prstGeom>
          <a:noFill/>
        </p:spPr>
        <p:txBody>
          <a:bodyPr wrap="none" rtlCol="0">
            <a:spAutoFit/>
          </a:bodyPr>
          <a:lstStyle/>
          <a:p>
            <a:r>
              <a:rPr lang="en-US" altLang="zh-CN" sz="2286" b="1" dirty="0">
                <a:solidFill>
                  <a:schemeClr val="bg1"/>
                </a:solidFill>
              </a:rPr>
              <a:t>3</a:t>
            </a:r>
            <a:endParaRPr lang="en-US" sz="2286" b="1" dirty="0">
              <a:solidFill>
                <a:schemeClr val="bg1"/>
              </a:solidFill>
            </a:endParaRPr>
          </a:p>
        </p:txBody>
      </p:sp>
      <p:pic>
        <p:nvPicPr>
          <p:cNvPr id="216" name="Picture 2" descr="系统介绍">
            <a:extLst>
              <a:ext uri="{FF2B5EF4-FFF2-40B4-BE49-F238E27FC236}">
                <a16:creationId xmlns:a16="http://schemas.microsoft.com/office/drawing/2014/main" id="{1B1D870C-D362-6ED8-33FF-92A6FF8333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3239" y="3669382"/>
            <a:ext cx="1032989" cy="58105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69556821"/>
      </p:ext>
    </p:extLst>
  </p:cSld>
  <p:clrMapOvr>
    <a:masterClrMapping/>
  </p:clrMapOvr>
  <mc:AlternateContent xmlns:mc="http://schemas.openxmlformats.org/markup-compatibility/2006" xmlns:p14="http://schemas.microsoft.com/office/powerpoint/2010/main">
    <mc:Choice Requires="p14">
      <p:transition spd="slow" p14:dur="2000" advTm="51665"/>
    </mc:Choice>
    <mc:Fallback xmlns="">
      <p:transition spd="slow" advTm="5166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C85657E-7093-AE9C-AC6C-6BA4E333CA2D}"/>
              </a:ext>
            </a:extLst>
          </p:cNvPr>
          <p:cNvSpPr txBox="1"/>
          <p:nvPr/>
        </p:nvSpPr>
        <p:spPr>
          <a:xfrm>
            <a:off x="281015" y="88578"/>
            <a:ext cx="11573858" cy="707886"/>
          </a:xfrm>
          <a:prstGeom prst="rect">
            <a:avLst/>
          </a:prstGeom>
          <a:noFill/>
        </p:spPr>
        <p:txBody>
          <a:bodyPr wrap="square" rtlCol="0">
            <a:spAutoFit/>
          </a:bodyPr>
          <a:lstStyle/>
          <a:p>
            <a:pPr>
              <a:defRPr/>
            </a:pPr>
            <a:r>
              <a:rPr kumimoji="1" lang="zh-CN" altLang="en-US" sz="4000" b="1" dirty="0">
                <a:solidFill>
                  <a:srgbClr val="025F84"/>
                </a:solidFill>
                <a:ea typeface="PingFang SC Medium" panose="020B0400000000000000" pitchFamily="34" charset="-122"/>
              </a:rPr>
              <a:t>总结与展望：新型大模型通用软件训练系统（</a:t>
            </a:r>
            <a:r>
              <a:rPr kumimoji="1" lang="en-US" altLang="zh-CN" sz="4000" b="1" dirty="0">
                <a:solidFill>
                  <a:srgbClr val="025F84"/>
                </a:solidFill>
                <a:ea typeface="PingFang SC Medium" panose="020B0400000000000000" pitchFamily="34" charset="-122"/>
              </a:rPr>
              <a:t>kit?</a:t>
            </a:r>
            <a:r>
              <a:rPr kumimoji="1" lang="zh-CN" altLang="en-US" sz="4000" b="1" dirty="0">
                <a:solidFill>
                  <a:srgbClr val="025F84"/>
                </a:solidFill>
                <a:ea typeface="PingFang SC Medium" panose="020B0400000000000000" pitchFamily="34" charset="-122"/>
              </a:rPr>
              <a:t>）</a:t>
            </a:r>
            <a:endParaRPr kumimoji="1" lang="en-US" altLang="zh-CN" sz="4000" b="1" dirty="0">
              <a:solidFill>
                <a:srgbClr val="025F84"/>
              </a:solidFill>
              <a:ea typeface="PingFang SC Medium" panose="020B0400000000000000" pitchFamily="34" charset="-122"/>
            </a:endParaRPr>
          </a:p>
        </p:txBody>
      </p:sp>
      <p:sp>
        <p:nvSpPr>
          <p:cNvPr id="3" name="内容占位符 2">
            <a:extLst>
              <a:ext uri="{FF2B5EF4-FFF2-40B4-BE49-F238E27FC236}">
                <a16:creationId xmlns:a16="http://schemas.microsoft.com/office/drawing/2014/main" id="{D6720EAA-9D94-6851-892D-BDB8BE1E306E}"/>
              </a:ext>
            </a:extLst>
          </p:cNvPr>
          <p:cNvSpPr>
            <a:spLocks noGrp="1"/>
          </p:cNvSpPr>
          <p:nvPr/>
        </p:nvSpPr>
        <p:spPr bwMode="auto">
          <a:xfrm>
            <a:off x="211465" y="1059214"/>
            <a:ext cx="11572133" cy="5218113"/>
          </a:xfrm>
          <a:prstGeom prst="rect">
            <a:avLst/>
          </a:prstGeom>
          <a:noFill/>
          <a:ln w="9525">
            <a:noFill/>
            <a:miter lim="800000"/>
            <a:headEnd/>
            <a:tailEnd/>
          </a:ln>
        </p:spPr>
        <p:txBody>
          <a:bodyPr vert="horz" wrap="square" lIns="78270" tIns="39135" rIns="78270" bIns="39135" numCol="1" anchor="t" anchorCtr="0" compatLnSpc="1">
            <a:prstTxWarp prst="textNoShape">
              <a:avLst/>
            </a:prstTxWarp>
          </a:bodyPr>
          <a:lstStyle>
            <a:lvl1pPr marL="252413" indent="-252413" algn="l" defTabSz="671513" rtl="0" eaLnBrk="1" fontAlgn="base" hangingPunct="1">
              <a:lnSpc>
                <a:spcPct val="140000"/>
              </a:lnSpc>
              <a:spcBef>
                <a:spcPct val="0"/>
              </a:spcBef>
              <a:spcAft>
                <a:spcPct val="0"/>
              </a:spcAft>
              <a:buFont typeface="Wingdings" pitchFamily="2" charset="2"/>
              <a:buChar char="n"/>
              <a:defRPr sz="2000" b="1">
                <a:solidFill>
                  <a:schemeClr val="tx1"/>
                </a:solidFill>
                <a:latin typeface="+mn-lt"/>
                <a:ea typeface="+mn-ea"/>
                <a:cs typeface="+mn-cs"/>
              </a:defRPr>
            </a:lvl1pPr>
            <a:lvl2pPr marL="546100" indent="-209550" algn="l" defTabSz="671513" rtl="0" eaLnBrk="1" fontAlgn="base" hangingPunct="1">
              <a:lnSpc>
                <a:spcPct val="140000"/>
              </a:lnSpc>
              <a:spcBef>
                <a:spcPct val="0"/>
              </a:spcBef>
              <a:spcAft>
                <a:spcPct val="0"/>
              </a:spcAft>
              <a:buChar char="–"/>
              <a:defRPr sz="1800">
                <a:solidFill>
                  <a:schemeClr val="tx1"/>
                </a:solidFill>
                <a:latin typeface="+mn-lt"/>
                <a:ea typeface="+mn-ea"/>
              </a:defRPr>
            </a:lvl2pPr>
            <a:lvl3pPr marL="839788"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3pPr>
            <a:lvl4pPr marL="1174750" indent="-168275" algn="l" defTabSz="671513" rtl="0" eaLnBrk="1" fontAlgn="base" hangingPunct="1">
              <a:lnSpc>
                <a:spcPct val="140000"/>
              </a:lnSpc>
              <a:spcBef>
                <a:spcPct val="0"/>
              </a:spcBef>
              <a:spcAft>
                <a:spcPct val="0"/>
              </a:spcAft>
              <a:buChar char="–"/>
              <a:defRPr sz="1800">
                <a:solidFill>
                  <a:schemeClr val="tx1"/>
                </a:solidFill>
                <a:latin typeface="+mn-lt"/>
                <a:ea typeface="+mn-ea"/>
              </a:defRPr>
            </a:lvl4pPr>
            <a:lvl5pPr marL="1509713" indent="-166688" algn="l" defTabSz="671513" rtl="0" eaLnBrk="1" fontAlgn="base" hangingPunct="1">
              <a:lnSpc>
                <a:spcPct val="140000"/>
              </a:lnSpc>
              <a:spcBef>
                <a:spcPct val="0"/>
              </a:spcBef>
              <a:spcAft>
                <a:spcPct val="0"/>
              </a:spcAft>
              <a:buChar char="»"/>
              <a:defRPr sz="1800">
                <a:solidFill>
                  <a:schemeClr val="tx1"/>
                </a:solidFill>
                <a:latin typeface="+mn-lt"/>
                <a:ea typeface="+mn-ea"/>
              </a:defRPr>
            </a:lvl5pPr>
            <a:lvl6pPr marL="19669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6pPr>
            <a:lvl7pPr marL="24241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7pPr>
            <a:lvl8pPr marL="28813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8pPr>
            <a:lvl9pPr marL="3338513" indent="-166688" algn="l" defTabSz="671513" rtl="0" eaLnBrk="1" fontAlgn="base" hangingPunct="1">
              <a:lnSpc>
                <a:spcPct val="140000"/>
              </a:lnSpc>
              <a:spcBef>
                <a:spcPct val="0"/>
              </a:spcBef>
              <a:spcAft>
                <a:spcPct val="0"/>
              </a:spcAft>
              <a:buChar char="»"/>
              <a:defRPr sz="1900">
                <a:solidFill>
                  <a:schemeClr val="tx1"/>
                </a:solidFill>
                <a:latin typeface="+mn-lt"/>
                <a:ea typeface="+mn-ea"/>
              </a:defRPr>
            </a:lvl9pPr>
          </a:lstStyle>
          <a:p>
            <a:r>
              <a:rPr kumimoji="1" lang="zh-CN" altLang="en-US" sz="1600" b="0" dirty="0">
                <a:solidFill>
                  <a:srgbClr val="015F84"/>
                </a:solidFill>
                <a:latin typeface="+mj-ea"/>
                <a:ea typeface="PingFang SC Medium" panose="020B0400000000000000"/>
              </a:rPr>
              <a:t>已有科研工作，已开源，产业化：</a:t>
            </a:r>
            <a:r>
              <a:rPr kumimoji="1" lang="en-US" altLang="zh-CN" sz="1600" b="0" dirty="0">
                <a:solidFill>
                  <a:srgbClr val="015F84"/>
                </a:solidFill>
                <a:latin typeface="+mj-ea"/>
                <a:ea typeface="PingFang SC Medium" panose="020B0400000000000000"/>
              </a:rPr>
              <a:t>AI</a:t>
            </a:r>
            <a:r>
              <a:rPr kumimoji="1" lang="zh-CN" altLang="en-US" sz="1600" b="0" dirty="0">
                <a:solidFill>
                  <a:srgbClr val="015F84"/>
                </a:solidFill>
                <a:latin typeface="+mj-ea"/>
                <a:ea typeface="PingFang SC Medium" panose="020B0400000000000000"/>
              </a:rPr>
              <a:t>大模型多维并行训练系统，论文第一作者均为我的港大博士生（</a:t>
            </a:r>
            <a:r>
              <a:rPr kumimoji="1" lang="en-US" altLang="zh-CN" sz="1600" b="0" dirty="0">
                <a:solidFill>
                  <a:srgbClr val="015F84"/>
                </a:solidFill>
                <a:latin typeface="+mj-ea"/>
                <a:ea typeface="PingFang SC Medium" panose="020B0400000000000000"/>
              </a:rPr>
              <a:t>[</a:t>
            </a:r>
            <a:r>
              <a:rPr kumimoji="1" lang="en-US" altLang="zh-CN" sz="1600" b="0" dirty="0" err="1">
                <a:solidFill>
                  <a:srgbClr val="015F84"/>
                </a:solidFill>
                <a:latin typeface="+mj-ea"/>
                <a:ea typeface="PingFang SC Medium" panose="020B0400000000000000"/>
              </a:rPr>
              <a:t>vPipe</a:t>
            </a:r>
            <a:r>
              <a:rPr kumimoji="1" lang="en-US" altLang="zh-CN" sz="1600" b="0" dirty="0">
                <a:solidFill>
                  <a:srgbClr val="015F84"/>
                </a:solidFill>
                <a:latin typeface="+mj-ea"/>
                <a:ea typeface="PingFang SC Medium" panose="020B0400000000000000"/>
              </a:rPr>
              <a:t> TPDS 2021] [</a:t>
            </a:r>
            <a:r>
              <a:rPr kumimoji="1" lang="en-US" altLang="zh-CN" sz="1600" b="0" dirty="0" err="1">
                <a:solidFill>
                  <a:srgbClr val="015F84"/>
                </a:solidFill>
                <a:latin typeface="+mj-ea"/>
                <a:ea typeface="PingFang SC Medium" panose="020B0400000000000000"/>
              </a:rPr>
              <a:t>NASPipe</a:t>
            </a:r>
            <a:r>
              <a:rPr kumimoji="1" lang="en-US" altLang="zh-CN" sz="1600" b="0" dirty="0">
                <a:solidFill>
                  <a:srgbClr val="015F84"/>
                </a:solidFill>
                <a:latin typeface="+mj-ea"/>
                <a:ea typeface="PingFang SC Medium" panose="020B0400000000000000"/>
              </a:rPr>
              <a:t> ASPLOS 2022] [Fold3D TPDS 2023] [</a:t>
            </a:r>
            <a:r>
              <a:rPr kumimoji="1" lang="en-US" altLang="zh-CN" sz="1600" b="0" dirty="0" err="1">
                <a:solidFill>
                  <a:srgbClr val="015F84"/>
                </a:solidFill>
                <a:latin typeface="+mj-ea"/>
                <a:ea typeface="PingFang SC Medium" panose="020B0400000000000000"/>
              </a:rPr>
              <a:t>FoldMOE</a:t>
            </a:r>
            <a:r>
              <a:rPr kumimoji="1" lang="en-US" altLang="zh-CN" sz="1600" b="0" dirty="0">
                <a:solidFill>
                  <a:srgbClr val="015F84"/>
                </a:solidFill>
                <a:latin typeface="+mj-ea"/>
                <a:ea typeface="PingFang SC Medium" panose="020B0400000000000000"/>
              </a:rPr>
              <a:t> ACL 2025] [</a:t>
            </a:r>
            <a:r>
              <a:rPr kumimoji="1" lang="en-US" altLang="zh-CN" sz="1600" b="0" dirty="0" err="1">
                <a:solidFill>
                  <a:srgbClr val="015F84"/>
                </a:solidFill>
                <a:latin typeface="+mj-ea"/>
                <a:ea typeface="PingFang SC Medium" panose="020B0400000000000000"/>
              </a:rPr>
              <a:t>PipeMesh</a:t>
            </a:r>
            <a:r>
              <a:rPr kumimoji="1" lang="en-US" altLang="zh-CN" sz="1600" b="0" dirty="0">
                <a:solidFill>
                  <a:srgbClr val="015F84"/>
                </a:solidFill>
                <a:latin typeface="+mj-ea"/>
                <a:ea typeface="PingFang SC Medium" panose="020B0400000000000000"/>
              </a:rPr>
              <a:t> TPDS 2026, minor revision] [Rog Micro 2022]</a:t>
            </a:r>
            <a:r>
              <a:rPr kumimoji="1" lang="zh-CN" altLang="en-US" sz="1600" b="0" dirty="0">
                <a:solidFill>
                  <a:srgbClr val="015F84"/>
                </a:solidFill>
                <a:latin typeface="+mj-ea"/>
                <a:ea typeface="PingFang SC Medium" panose="020B0400000000000000"/>
              </a:rPr>
              <a:t>等）</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影响力：两条腿走路（</a:t>
            </a:r>
            <a:r>
              <a:rPr kumimoji="1" lang="en-US" altLang="zh-CN" sz="1600" b="0" dirty="0" err="1">
                <a:solidFill>
                  <a:srgbClr val="015F84"/>
                </a:solidFill>
                <a:latin typeface="+mj-ea"/>
                <a:ea typeface="PingFang SC Medium" panose="020B0400000000000000"/>
              </a:rPr>
              <a:t>vPipe</a:t>
            </a:r>
            <a:r>
              <a:rPr kumimoji="1" lang="en-US" altLang="zh-CN" sz="1600" b="0" dirty="0">
                <a:solidFill>
                  <a:srgbClr val="015F84"/>
                </a:solidFill>
                <a:latin typeface="+mj-ea"/>
                <a:ea typeface="PingFang SC Medium" panose="020B0400000000000000"/>
              </a:rPr>
              <a:t> Fold3D</a:t>
            </a:r>
            <a:r>
              <a:rPr kumimoji="1" lang="zh-CN" altLang="en-US" sz="1600" b="0" dirty="0">
                <a:solidFill>
                  <a:srgbClr val="015F84"/>
                </a:solidFill>
                <a:latin typeface="+mj-ea"/>
                <a:ea typeface="PingFang SC Medium" panose="020B0400000000000000"/>
              </a:rPr>
              <a:t>既在</a:t>
            </a:r>
            <a:r>
              <a:rPr kumimoji="1" lang="en-US" altLang="zh-CN" sz="1600" b="0" dirty="0" err="1">
                <a:solidFill>
                  <a:srgbClr val="015F84"/>
                </a:solidFill>
                <a:latin typeface="+mj-ea"/>
                <a:ea typeface="PingFang SC Medium" panose="020B0400000000000000"/>
              </a:rPr>
              <a:t>AscendSpeed</a:t>
            </a:r>
            <a:r>
              <a:rPr kumimoji="1" lang="en-US" altLang="zh-CN" sz="1600" b="0" dirty="0">
                <a:solidFill>
                  <a:srgbClr val="015F84"/>
                </a:solidFill>
                <a:latin typeface="+mj-ea"/>
                <a:ea typeface="PingFang SC Medium" panose="020B0400000000000000"/>
              </a:rPr>
              <a:t>/</a:t>
            </a:r>
            <a:r>
              <a:rPr kumimoji="1" lang="en-US" altLang="zh-CN" sz="1600" b="0" dirty="0" err="1">
                <a:solidFill>
                  <a:srgbClr val="015F84"/>
                </a:solidFill>
                <a:latin typeface="+mj-ea"/>
                <a:ea typeface="PingFang SC Medium" panose="020B0400000000000000"/>
              </a:rPr>
              <a:t>MindSpeed</a:t>
            </a:r>
            <a:r>
              <a:rPr kumimoji="1" lang="zh-CN" altLang="en-US" sz="1600" b="0" dirty="0">
                <a:solidFill>
                  <a:srgbClr val="015F84"/>
                </a:solidFill>
                <a:latin typeface="+mj-ea"/>
                <a:ea typeface="PingFang SC Medium" panose="020B0400000000000000"/>
              </a:rPr>
              <a:t>产业化支持美国</a:t>
            </a:r>
            <a:r>
              <a:rPr kumimoji="1" lang="en-US" altLang="zh-CN" sz="1600" b="0" dirty="0">
                <a:solidFill>
                  <a:srgbClr val="015F84"/>
                </a:solidFill>
                <a:latin typeface="+mj-ea"/>
                <a:ea typeface="PingFang SC Medium" panose="020B0400000000000000"/>
              </a:rPr>
              <a:t>GPU</a:t>
            </a:r>
            <a:r>
              <a:rPr kumimoji="1" lang="zh-CN" altLang="en-US" sz="1600" b="0" dirty="0">
                <a:solidFill>
                  <a:srgbClr val="015F84"/>
                </a:solidFill>
                <a:latin typeface="+mj-ea"/>
                <a:ea typeface="PingFang SC Medium" panose="020B0400000000000000"/>
              </a:rPr>
              <a:t>，也在</a:t>
            </a:r>
            <a:r>
              <a:rPr kumimoji="1" lang="en-US" altLang="zh-CN" sz="1600" b="0" dirty="0" err="1">
                <a:solidFill>
                  <a:srgbClr val="015F84"/>
                </a:solidFill>
                <a:latin typeface="+mj-ea"/>
                <a:ea typeface="PingFang SC Medium" panose="020B0400000000000000"/>
              </a:rPr>
              <a:t>MindSpore</a:t>
            </a:r>
            <a:r>
              <a:rPr kumimoji="1" lang="zh-CN" altLang="en-US" sz="1600" b="0" dirty="0">
                <a:solidFill>
                  <a:srgbClr val="015F84"/>
                </a:solidFill>
                <a:latin typeface="+mj-ea"/>
                <a:ea typeface="PingFang SC Medium" panose="020B0400000000000000"/>
              </a:rPr>
              <a:t>产业化支持升腾</a:t>
            </a:r>
            <a:r>
              <a:rPr kumimoji="1" lang="en-US" altLang="zh-CN" sz="1600" b="0" dirty="0">
                <a:solidFill>
                  <a:srgbClr val="015F84"/>
                </a:solidFill>
                <a:latin typeface="+mj-ea"/>
                <a:ea typeface="PingFang SC Medium" panose="020B0400000000000000"/>
              </a:rPr>
              <a:t>NPU</a:t>
            </a:r>
            <a:r>
              <a:rPr kumimoji="1" lang="zh-CN" altLang="en-US" sz="1600" b="0" dirty="0">
                <a:solidFill>
                  <a:srgbClr val="015F84"/>
                </a:solidFill>
                <a:latin typeface="+mj-ea"/>
                <a:ea typeface="PingFang SC Medium" panose="020B0400000000000000"/>
              </a:rPr>
              <a:t>）</a:t>
            </a:r>
            <a:endParaRPr kumimoji="1" lang="en-US" altLang="zh-CN" sz="1600" b="0" dirty="0">
              <a:solidFill>
                <a:srgbClr val="015F84"/>
              </a:solidFill>
              <a:latin typeface="+mj-ea"/>
              <a:ea typeface="PingFang SC Medium" panose="020B0400000000000000"/>
            </a:endParaRPr>
          </a:p>
          <a:p>
            <a:r>
              <a:rPr kumimoji="1" lang="en-US" altLang="zh-CN" sz="1600" b="0" dirty="0">
                <a:solidFill>
                  <a:srgbClr val="015F84"/>
                </a:solidFill>
                <a:latin typeface="+mj-ea"/>
                <a:ea typeface="PingFang SC Medium" panose="020B0400000000000000"/>
              </a:rPr>
              <a:t>Fold3D</a:t>
            </a:r>
            <a:r>
              <a:rPr kumimoji="1" lang="zh-CN" altLang="en-US" sz="1600" b="0" dirty="0">
                <a:solidFill>
                  <a:srgbClr val="015F84"/>
                </a:solidFill>
                <a:latin typeface="+mj-ea"/>
                <a:ea typeface="PingFang SC Medium" panose="020B0400000000000000"/>
              </a:rPr>
              <a:t>案例：</a:t>
            </a:r>
            <a:r>
              <a:rPr kumimoji="1" lang="en-US" altLang="zh-CN" sz="1600" b="0" dirty="0">
                <a:solidFill>
                  <a:srgbClr val="015F84"/>
                </a:solidFill>
                <a:latin typeface="+mj-ea"/>
                <a:ea typeface="PingFang SC Medium" panose="020B0400000000000000"/>
              </a:rPr>
              <a:t>2024</a:t>
            </a:r>
            <a:r>
              <a:rPr kumimoji="1" lang="zh-CN" altLang="en-US" sz="1600" b="0" dirty="0">
                <a:solidFill>
                  <a:srgbClr val="015F84"/>
                </a:solidFill>
                <a:latin typeface="+mj-ea"/>
                <a:ea typeface="PingFang SC Medium" panose="020B0400000000000000"/>
              </a:rPr>
              <a:t>年深圳运行</a:t>
            </a:r>
            <a:r>
              <a:rPr kumimoji="1" lang="en-US" altLang="zh-CN" sz="1600" b="0" dirty="0">
                <a:solidFill>
                  <a:srgbClr val="015F84"/>
                </a:solidFill>
                <a:latin typeface="+mj-ea"/>
                <a:ea typeface="PingFang SC Medium" panose="020B0400000000000000"/>
              </a:rPr>
              <a:t>3072</a:t>
            </a:r>
            <a:r>
              <a:rPr kumimoji="1" lang="zh-CN" altLang="en-US" sz="1600" b="0" dirty="0">
                <a:solidFill>
                  <a:srgbClr val="015F84"/>
                </a:solidFill>
                <a:latin typeface="+mj-ea"/>
                <a:ea typeface="PingFang SC Medium" panose="020B0400000000000000"/>
              </a:rPr>
              <a:t>张升腾</a:t>
            </a:r>
            <a:r>
              <a:rPr kumimoji="1" lang="en-US" altLang="zh-CN" sz="1600" b="0" dirty="0">
                <a:solidFill>
                  <a:srgbClr val="015F84"/>
                </a:solidFill>
                <a:latin typeface="+mj-ea"/>
                <a:ea typeface="PingFang SC Medium" panose="020B0400000000000000"/>
              </a:rPr>
              <a:t>910</a:t>
            </a:r>
            <a:r>
              <a:rPr kumimoji="1" lang="zh-CN" altLang="en-US" sz="1600" b="0" dirty="0">
                <a:solidFill>
                  <a:srgbClr val="015F84"/>
                </a:solidFill>
                <a:latin typeface="+mj-ea"/>
                <a:ea typeface="PingFang SC Medium" panose="020B0400000000000000"/>
              </a:rPr>
              <a:t>卡，训练盘古大模型，</a:t>
            </a:r>
            <a:r>
              <a:rPr kumimoji="1" lang="en-US" altLang="zh-CN" sz="1600" b="0" dirty="0">
                <a:solidFill>
                  <a:srgbClr val="015F84"/>
                </a:solidFill>
                <a:latin typeface="+mj-ea"/>
                <a:ea typeface="PingFang SC Medium" panose="020B0400000000000000"/>
              </a:rPr>
              <a:t>Fold Pipeline Transformer</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https://github.com/mindspore-ai/mindspore/blob/master/mindspore/ccsrc/frontend/parallel/pipeline_transformer/fold_pipeline_transformer.cc</a:t>
            </a:r>
          </a:p>
          <a:p>
            <a:r>
              <a:rPr kumimoji="1" lang="zh-CN" altLang="en-US" sz="1600" b="0" dirty="0">
                <a:solidFill>
                  <a:srgbClr val="015F84"/>
                </a:solidFill>
                <a:latin typeface="+mj-ea"/>
                <a:ea typeface="PingFang SC Medium" panose="020B0400000000000000"/>
              </a:rPr>
              <a:t>我作为项目主持人，</a:t>
            </a:r>
            <a:r>
              <a:rPr kumimoji="1" lang="zh-CN" altLang="en-US" sz="1600" b="0" dirty="0">
                <a:solidFill>
                  <a:srgbClr val="015F84"/>
                </a:solidFill>
                <a:latin typeface="Arial" panose="020B0604020202020204" pitchFamily="34" charset="0"/>
                <a:ea typeface="PingFang SC Medium" panose="020B0400000000000000"/>
                <a:cs typeface="Arial" panose="020B0604020202020204" pitchFamily="34" charset="0"/>
              </a:rPr>
              <a:t>非常</a:t>
            </a:r>
            <a:r>
              <a:rPr kumimoji="1" lang="zh-CN" altLang="en-US" sz="1600" b="0" dirty="0">
                <a:solidFill>
                  <a:srgbClr val="015F84"/>
                </a:solidFill>
                <a:latin typeface="+mj-ea"/>
                <a:ea typeface="PingFang SC Medium" panose="020B0400000000000000"/>
              </a:rPr>
              <a:t>感谢科技部（国家科技重大专项 支撑项目，</a:t>
            </a:r>
            <a:r>
              <a:rPr kumimoji="1" lang="en-US" altLang="zh-CN" sz="1600" b="0" dirty="0">
                <a:solidFill>
                  <a:srgbClr val="015F84"/>
                </a:solidFill>
                <a:latin typeface="+mj-ea"/>
                <a:ea typeface="PingFang SC Medium" panose="020B0400000000000000"/>
              </a:rPr>
              <a:t>CNY </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1.1</a:t>
            </a:r>
            <a:r>
              <a:rPr kumimoji="1" lang="zh-CN" altLang="en-US" sz="1600" b="0" dirty="0">
                <a:solidFill>
                  <a:srgbClr val="015F84"/>
                </a:solidFill>
                <a:latin typeface="+mj-ea"/>
                <a:ea typeface="PingFang SC Medium" panose="020B0400000000000000"/>
              </a:rPr>
              <a:t>亿，</a:t>
            </a:r>
            <a:r>
              <a:rPr kumimoji="1" lang="en-US" altLang="zh-CN" sz="1600" b="0" dirty="0">
                <a:solidFill>
                  <a:srgbClr val="015F84"/>
                </a:solidFill>
                <a:latin typeface="+mj-ea"/>
                <a:ea typeface="PingFang SC Medium" panose="020B0400000000000000"/>
              </a:rPr>
              <a:t>2022ZD0160200</a:t>
            </a:r>
            <a:r>
              <a:rPr kumimoji="1" lang="zh-CN" altLang="en-US" sz="1600" b="0" dirty="0">
                <a:solidFill>
                  <a:srgbClr val="015F84"/>
                </a:solidFill>
                <a:latin typeface="+mj-ea"/>
                <a:ea typeface="PingFang SC Medium" panose="020B0400000000000000"/>
              </a:rPr>
              <a:t>），以及香港政府 科研资助局 科研影响力基金（</a:t>
            </a:r>
            <a:r>
              <a:rPr kumimoji="1" lang="en-US" altLang="zh-CN" sz="1600" b="0" dirty="0">
                <a:solidFill>
                  <a:srgbClr val="015F84"/>
                </a:solidFill>
                <a:latin typeface="+mj-ea"/>
                <a:ea typeface="PingFang SC Medium" panose="020B0400000000000000"/>
              </a:rPr>
              <a:t>HK Research Grant Council,</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Research</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Impact</a:t>
            </a:r>
            <a:r>
              <a:rPr kumimoji="1" lang="zh-CN" altLang="en-US" sz="1600" b="0" dirty="0">
                <a:solidFill>
                  <a:srgbClr val="015F84"/>
                </a:solidFill>
                <a:latin typeface="+mj-ea"/>
                <a:ea typeface="PingFang SC Medium" panose="020B0400000000000000"/>
              </a:rPr>
              <a:t> </a:t>
            </a:r>
            <a:r>
              <a:rPr kumimoji="1" lang="en-US" altLang="zh-CN" sz="1600" b="0" dirty="0">
                <a:solidFill>
                  <a:srgbClr val="015F84"/>
                </a:solidFill>
                <a:latin typeface="+mj-ea"/>
                <a:ea typeface="PingFang SC Medium" panose="020B0400000000000000"/>
              </a:rPr>
              <a:t>Fund, HKD $540</a:t>
            </a:r>
            <a:r>
              <a:rPr kumimoji="1" lang="zh-CN" altLang="en-US" sz="1600" b="0" dirty="0">
                <a:solidFill>
                  <a:srgbClr val="015F84"/>
                </a:solidFill>
                <a:latin typeface="+mj-ea"/>
                <a:ea typeface="PingFang SC Medium" panose="020B0400000000000000"/>
              </a:rPr>
              <a:t>万）的慷慨资助</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我这些项目两条腿走路，软硬件自主（</a:t>
            </a:r>
            <a:r>
              <a:rPr kumimoji="1" lang="en-US" altLang="zh-CN" sz="1600" b="0" dirty="0">
                <a:solidFill>
                  <a:srgbClr val="015F84"/>
                </a:solidFill>
                <a:latin typeface="+mj-ea"/>
                <a:ea typeface="PingFang SC Medium" panose="020B0400000000000000"/>
              </a:rPr>
              <a:t>Fold3D</a:t>
            </a:r>
            <a:r>
              <a:rPr kumimoji="1" lang="zh-CN" altLang="en-US" sz="1600" b="0" dirty="0">
                <a:solidFill>
                  <a:srgbClr val="015F84"/>
                </a:solidFill>
                <a:latin typeface="+mj-ea"/>
                <a:ea typeface="PingFang SC Medium" panose="020B0400000000000000"/>
              </a:rPr>
              <a:t>并行训练概念</a:t>
            </a:r>
            <a:r>
              <a:rPr kumimoji="1" lang="en-US" altLang="zh-CN" sz="1600" b="0" dirty="0">
                <a:solidFill>
                  <a:srgbClr val="015F84"/>
                </a:solidFill>
                <a:latin typeface="+mj-ea"/>
                <a:ea typeface="PingFang SC Medium" panose="020B0400000000000000"/>
              </a:rPr>
              <a:t>AFAB</a:t>
            </a:r>
            <a:r>
              <a:rPr kumimoji="1" lang="zh-CN" altLang="en-US" sz="1600" b="0" dirty="0">
                <a:solidFill>
                  <a:srgbClr val="015F84"/>
                </a:solidFill>
                <a:latin typeface="+mj-ea"/>
                <a:ea typeface="PingFang SC Medium" panose="020B0400000000000000"/>
              </a:rPr>
              <a:t>，领先美国四个相关训练系统</a:t>
            </a:r>
            <a:r>
              <a:rPr kumimoji="1" lang="en-US" altLang="zh-CN" sz="1600" b="0" dirty="0">
                <a:solidFill>
                  <a:srgbClr val="015F84"/>
                </a:solidFill>
                <a:latin typeface="+mj-ea"/>
                <a:ea typeface="PingFang SC Medium" panose="020B0400000000000000"/>
              </a:rPr>
              <a:t>1F1B</a:t>
            </a:r>
            <a:r>
              <a:rPr kumimoji="1" lang="zh-CN" altLang="en-US" sz="1600" b="0" dirty="0">
                <a:solidFill>
                  <a:srgbClr val="015F84"/>
                </a:solidFill>
                <a:latin typeface="+mj-ea"/>
                <a:ea typeface="PingFang SC Medium" panose="020B0400000000000000"/>
              </a:rPr>
              <a:t>概念），可应对美国制裁</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效益：</a:t>
            </a:r>
            <a:r>
              <a:rPr kumimoji="1" lang="en-US" altLang="zh-CN" sz="1600" b="0" dirty="0">
                <a:solidFill>
                  <a:srgbClr val="015F84"/>
                </a:solidFill>
                <a:latin typeface="+mj-ea"/>
                <a:ea typeface="PingFang SC Medium" panose="020B0400000000000000"/>
              </a:rPr>
              <a:t>Fold3D</a:t>
            </a:r>
            <a:r>
              <a:rPr kumimoji="1" lang="zh-CN" altLang="en-US" sz="1600" b="0" dirty="0">
                <a:solidFill>
                  <a:srgbClr val="015F84"/>
                </a:solidFill>
                <a:latin typeface="+mj-ea"/>
                <a:ea typeface="PingFang SC Medium" panose="020B0400000000000000"/>
              </a:rPr>
              <a:t>等商业案例显著提升大模型训练的性能，节省大模型训练时间、能耗、碳排放（</a:t>
            </a:r>
            <a:r>
              <a:rPr kumimoji="1" lang="en-US" altLang="zh-CN" sz="1600" b="0" dirty="0">
                <a:solidFill>
                  <a:srgbClr val="015F84"/>
                </a:solidFill>
                <a:latin typeface="+mj-ea"/>
                <a:ea typeface="PingFang SC Medium" panose="020B0400000000000000"/>
              </a:rPr>
              <a:t>GPU</a:t>
            </a:r>
            <a:r>
              <a:rPr kumimoji="1" lang="zh-CN" altLang="en-US" sz="1600" b="0" dirty="0">
                <a:solidFill>
                  <a:srgbClr val="015F84"/>
                </a:solidFill>
                <a:latin typeface="+mj-ea"/>
                <a:ea typeface="PingFang SC Medium" panose="020B0400000000000000"/>
              </a:rPr>
              <a:t>电费，集群冷却的能耗）</a:t>
            </a:r>
            <a:endParaRPr kumimoji="1" lang="en-US" altLang="zh-CN" sz="15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在国内外，新的大模型设计，仍</a:t>
            </a:r>
            <a:r>
              <a:rPr kumimoji="1" lang="zh-CN" altLang="en-US" sz="1600" dirty="0">
                <a:solidFill>
                  <a:srgbClr val="015F84"/>
                </a:solidFill>
                <a:latin typeface="+mj-ea"/>
                <a:ea typeface="PingFang SC Medium" panose="020B0400000000000000"/>
              </a:rPr>
              <a:t>不断涌现，百家争鸣</a:t>
            </a:r>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Qwen3, DeepSeekV3/3.5, Pangu-2, Llama 4, Mistral, Gemini 2</a:t>
            </a:r>
            <a:r>
              <a:rPr kumimoji="1" lang="zh-CN" altLang="en-US" sz="1600" b="0" dirty="0">
                <a:solidFill>
                  <a:srgbClr val="015F84"/>
                </a:solidFill>
                <a:latin typeface="+mj-ea"/>
                <a:ea typeface="PingFang SC Medium" panose="020B0400000000000000"/>
              </a:rPr>
              <a:t>等</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未来科研机遇：根据大模型“越来越宽长，越来越动态化，稀疏化”的共性特征，可尝试研究构建，未来的大模型训练系统</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1</a:t>
            </a:r>
            <a:r>
              <a:rPr kumimoji="1" lang="zh-CN" altLang="en-US" sz="1600" b="0" dirty="0">
                <a:solidFill>
                  <a:srgbClr val="015F84"/>
                </a:solidFill>
                <a:latin typeface="+mj-ea"/>
                <a:ea typeface="PingFang SC Medium" panose="020B0400000000000000"/>
              </a:rPr>
              <a:t>）多种并行训练的</a:t>
            </a:r>
            <a:r>
              <a:rPr kumimoji="1" lang="en-US" altLang="zh-CN" sz="1600" b="0" dirty="0">
                <a:solidFill>
                  <a:srgbClr val="015F84"/>
                </a:solidFill>
                <a:latin typeface="+mj-ea"/>
                <a:ea typeface="PingFang SC Medium" panose="020B0400000000000000"/>
              </a:rPr>
              <a:t>kit</a:t>
            </a:r>
            <a:r>
              <a:rPr kumimoji="1" lang="zh-CN" altLang="en-US" sz="1600" b="0" dirty="0">
                <a:solidFill>
                  <a:srgbClr val="015F84"/>
                </a:solidFill>
                <a:latin typeface="+mj-ea"/>
                <a:ea typeface="PingFang SC Medium" panose="020B0400000000000000"/>
              </a:rPr>
              <a:t>：一个大模型的同时具备“宽长特性，稀疏特性，以及神经网络结构动态变化”的高性能高质量训练</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2</a:t>
            </a:r>
            <a:r>
              <a:rPr kumimoji="1" lang="zh-CN" altLang="en-US" sz="1600" b="0" dirty="0">
                <a:solidFill>
                  <a:srgbClr val="015F84"/>
                </a:solidFill>
                <a:latin typeface="+mj-ea"/>
                <a:ea typeface="PingFang SC Medium" panose="020B0400000000000000"/>
              </a:rPr>
              <a:t>）研究归纳提出新的并行训练维度，以应对新一代大模型（例如</a:t>
            </a:r>
            <a:r>
              <a:rPr kumimoji="1" lang="en-US" altLang="zh-CN" sz="1600" b="0" dirty="0">
                <a:solidFill>
                  <a:srgbClr val="015F84"/>
                </a:solidFill>
                <a:latin typeface="+mj-ea"/>
                <a:ea typeface="PingFang SC Medium" panose="020B0400000000000000"/>
              </a:rPr>
              <a:t>DeepSeek</a:t>
            </a:r>
            <a:r>
              <a:rPr kumimoji="1" lang="zh-CN" altLang="en-US" sz="1600" b="0" dirty="0">
                <a:solidFill>
                  <a:srgbClr val="015F84"/>
                </a:solidFill>
                <a:latin typeface="+mj-ea"/>
                <a:ea typeface="PingFang SC Medium" panose="020B0400000000000000"/>
              </a:rPr>
              <a:t>）的，越来越稀疏和训练过程神经结构动态变化</a:t>
            </a:r>
          </a:p>
          <a:p>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3</a:t>
            </a:r>
            <a:r>
              <a:rPr kumimoji="1" lang="zh-CN" altLang="en-US" sz="1600" b="0" dirty="0">
                <a:solidFill>
                  <a:srgbClr val="015F84"/>
                </a:solidFill>
                <a:latin typeface="+mj-ea"/>
                <a:ea typeface="PingFang SC Medium" panose="020B0400000000000000"/>
              </a:rPr>
              <a:t>）探索训练推理“越来越趋于一体化”：模型开发全流程优化，提升端到端的大模型设计、预训练、后训练、推理等效率</a:t>
            </a:r>
          </a:p>
          <a:p>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4</a:t>
            </a:r>
            <a:r>
              <a:rPr kumimoji="1" lang="zh-CN" altLang="en-US" sz="1600" b="0" dirty="0">
                <a:solidFill>
                  <a:srgbClr val="015F84"/>
                </a:solidFill>
                <a:latin typeface="+mj-ea"/>
                <a:ea typeface="PingFang SC Medium" panose="020B0400000000000000"/>
              </a:rPr>
              <a:t>）云或超算计算集群，大模型训推资源的虚拟化与弹性化管理：计算资源池化，按需调度、弹性扩展</a:t>
            </a:r>
            <a:endParaRPr kumimoji="1" lang="en-US" altLang="zh-CN" sz="1600" b="0" dirty="0">
              <a:solidFill>
                <a:srgbClr val="015F84"/>
              </a:solidFill>
              <a:latin typeface="+mj-ea"/>
              <a:ea typeface="PingFang SC Medium" panose="020B0400000000000000"/>
            </a:endParaRPr>
          </a:p>
          <a:p>
            <a:r>
              <a:rPr kumimoji="1" lang="zh-CN" altLang="en-US" sz="1600" b="0" dirty="0">
                <a:solidFill>
                  <a:srgbClr val="015F84"/>
                </a:solidFill>
                <a:latin typeface="+mj-ea"/>
                <a:ea typeface="PingFang SC Medium" panose="020B0400000000000000"/>
              </a:rPr>
              <a:t>（</a:t>
            </a:r>
            <a:r>
              <a:rPr kumimoji="1" lang="en-US" altLang="zh-CN" sz="1600" b="0" dirty="0">
                <a:solidFill>
                  <a:srgbClr val="015F84"/>
                </a:solidFill>
                <a:latin typeface="+mj-ea"/>
                <a:ea typeface="PingFang SC Medium" panose="020B0400000000000000"/>
              </a:rPr>
              <a:t>5</a:t>
            </a:r>
            <a:r>
              <a:rPr kumimoji="1" lang="zh-CN" altLang="en-US" sz="1600" b="0" dirty="0">
                <a:solidFill>
                  <a:srgbClr val="015F84"/>
                </a:solidFill>
                <a:latin typeface="+mj-ea"/>
                <a:ea typeface="PingFang SC Medium" panose="020B0400000000000000"/>
              </a:rPr>
              <a:t>）研究新一代的，支持大模型训练推理的，节约计算、低成本计算、绿色计算等的理论、方法，及其软硬件系统实现</a:t>
            </a:r>
            <a:endParaRPr kumimoji="1" lang="en-US" altLang="zh-CN" sz="1600" b="0" dirty="0">
              <a:solidFill>
                <a:srgbClr val="015F84"/>
              </a:solidFill>
              <a:latin typeface="+mj-ea"/>
              <a:ea typeface="PingFang SC Medium" panose="020B0400000000000000"/>
            </a:endParaRPr>
          </a:p>
        </p:txBody>
      </p:sp>
    </p:spTree>
    <p:extLst>
      <p:ext uri="{BB962C8B-B14F-4D97-AF65-F5344CB8AC3E}">
        <p14:creationId xmlns:p14="http://schemas.microsoft.com/office/powerpoint/2010/main" val="2294335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870CDB-58CB-4615-8DCB-D9018B21E280}"/>
              </a:ext>
            </a:extLst>
          </p:cNvPr>
          <p:cNvSpPr txBox="1"/>
          <p:nvPr/>
        </p:nvSpPr>
        <p:spPr>
          <a:xfrm>
            <a:off x="2087419" y="3242988"/>
            <a:ext cx="8058726" cy="707886"/>
          </a:xfrm>
          <a:prstGeom prst="rect">
            <a:avLst/>
          </a:prstGeom>
          <a:noFill/>
        </p:spPr>
        <p:txBody>
          <a:bodyPr wrap="square" rtlCol="0">
            <a:spAutoFit/>
          </a:bodyPr>
          <a:lstStyle/>
          <a:p>
            <a:pPr>
              <a:defRPr/>
            </a:pPr>
            <a:r>
              <a:rPr kumimoji="1" lang="zh-CN" altLang="en-US" sz="4000" b="1" dirty="0">
                <a:solidFill>
                  <a:srgbClr val="025F84"/>
                </a:solidFill>
                <a:ea typeface="PingFang SC Medium" panose="020B0400000000000000" pitchFamily="34" charset="-122"/>
              </a:rPr>
              <a:t>谢谢大家！欢迎提问、指导和建议！</a:t>
            </a:r>
            <a:endParaRPr kumimoji="1" lang="en-US" altLang="zh-CN" sz="4000" b="1" dirty="0">
              <a:solidFill>
                <a:srgbClr val="025F84"/>
              </a:solidFill>
              <a:ea typeface="PingFang SC Medium" panose="020B0400000000000000" pitchFamily="34" charset="-122"/>
            </a:endParaRPr>
          </a:p>
        </p:txBody>
      </p:sp>
    </p:spTree>
    <p:extLst>
      <p:ext uri="{BB962C8B-B14F-4D97-AF65-F5344CB8AC3E}">
        <p14:creationId xmlns:p14="http://schemas.microsoft.com/office/powerpoint/2010/main" val="27167061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IMING" val="|13.2|27.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TotalTime>
  <Words>5157</Words>
  <Application>Microsoft Office PowerPoint</Application>
  <PresentationFormat>宽屏</PresentationFormat>
  <Paragraphs>470</Paragraphs>
  <Slides>23</Slides>
  <Notes>23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23</vt:i4>
      </vt:variant>
    </vt:vector>
  </HeadingPairs>
  <TitlesOfParts>
    <vt:vector size="40" baseType="lpstr">
      <vt:lpstr>Courier New,monospace</vt:lpstr>
      <vt:lpstr>PingFang</vt:lpstr>
      <vt:lpstr>PingFang SC</vt:lpstr>
      <vt:lpstr>PingFang SC Medium</vt:lpstr>
      <vt:lpstr>微软雅黑</vt:lpstr>
      <vt:lpstr>等线</vt:lpstr>
      <vt:lpstr>等线 Light</vt:lpstr>
      <vt:lpstr>SimHei</vt:lpstr>
      <vt:lpstr>Arial</vt:lpstr>
      <vt:lpstr>Calibri</vt:lpstr>
      <vt:lpstr>Century Gothic</vt:lpstr>
      <vt:lpstr>Comic Sans MS</vt:lpstr>
      <vt:lpstr>Courier New</vt:lpstr>
      <vt:lpstr>Open Sans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Fold3D: Rethinking and Parallelizing Computational and Communicational Tasks in the Training of Large DNN Models (IEEE TPDS 23)</vt:lpstr>
      <vt:lpstr>PowerPoint 演示文稿</vt:lpstr>
      <vt:lpstr>根本原因：PP计算任务和DP.sync通信任务阻塞</vt:lpstr>
      <vt:lpstr>国际3D并行1F1B（上半部）；我们是AFAB（下半部）</vt:lpstr>
      <vt:lpstr>Fold（去序列化）调度（假设给定PP等于3）</vt:lpstr>
      <vt:lpstr>Megatron（上图）和Fold3D（下图）的调度对比</vt:lpstr>
      <vt:lpstr>部分数据（详尽数据请看[Fold3D TPDS 2023]）</vt:lpstr>
      <vt:lpstr>训练的sharding [PipeMesh, TPDS minor revision]</vt:lpstr>
      <vt:lpstr>NASPipe: High-Performance and Reproducible Pipeline Parallel Supernet Training via Causal Synchronous Parallelism (ACM NASPipe 22)</vt:lpstr>
      <vt:lpstr>PowerPoint 演示文稿</vt:lpstr>
      <vt:lpstr>PowerPoint 演示文稿</vt:lpstr>
      <vt:lpstr>FoldMoE [ACL’25]</vt:lpstr>
      <vt:lpstr>PowerPoint 演示文稿</vt:lpstr>
      <vt:lpstr>PowerPoint 演示文稿</vt:lpstr>
      <vt:lpstr>[K2 VLDB ’25]：基于全球卫星原子时钟的强一致性 全球分布式事务系统（华为云“根服务” ）</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鹿艺</dc:creator>
  <cp:lastModifiedBy>Heming Cui</cp:lastModifiedBy>
  <cp:revision>210</cp:revision>
  <dcterms:created xsi:type="dcterms:W3CDTF">2022-07-28T02:36:33Z</dcterms:created>
  <dcterms:modified xsi:type="dcterms:W3CDTF">2025-05-28T20:20:04Z</dcterms:modified>
</cp:coreProperties>
</file>